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97460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to 0:15  (about 15 seconds)
Good morning. This is CogniSim, a simulator trainer that reads cognitive load
and keeps it private. I am Atik Mahabub, from INRS in Montreal and CAE.
In five minutes I want to show you one idea, and the three things you can do
with it at our booth.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to 0:45  (about 30 seconds)
Here is the problem. When a pilot makes a mistake in a simulator, a normal
training system learns exactly one thing: the answer was wrong.
[click] But two very different things cause that. A pilot whose working memory
is full needs less information, moved to a sense that is still free. A pilot
who never learned the procedure needs more teaching.
[click] The two fixes are opposites. Give the wrong one during an engine
failure at takeoff speed, and the pilot practises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to 1:05  (about 20 seconds)
CogniSim looks at the pilot instead of the score. Flight data and body signals
come in on the left. The engine keeps track of what the pilot knows, and picks
one change: difficulty, content, or pace.
[click] What happens next feeds back and updates the model of that pilot. The
whole loop runs while the aircraft is still flying.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to 1:20  (about 15 seconds)
At the booth there are three things you can do, two to four minutes each.
[click] Fly an engine failure. [click] Watch the system think, on a second
screen. [click] And try to break its privacy protection.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to 1:45  (about 25 seconds)
First, what the sensors see. The eyes and the pupil, sixty times a second. The
brain, two hundred and fifty times a second. The heart, once a second. The
flight data itself, one hundred and twenty times a second.
[click] A small network turns all of that into three numbers: effort the task
demands, effort wasted on the display, and effort left over for learning. From
the event to a decision takes under seven hundred milliseconds. That is what
lets us help during the maneuver instead of talking about it afterwards.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to 2:10  (about 25 seconds)
Second, how it decides. One model keeps track of what the pilot has mastered.
The policy reads that, and the load, then pulls one of three levers: make the
task harder or easier, change what is taught, or change the pace.
[click] And when the wasted effort climbs too high, it does something most
systems never do. It takes information away. Warnings that do not matter right
now are dimmed, and the guidance the pilot does need moves to sound and touch,
where there is still room.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to 2:30  (about 20 seconds)
Third, how it speaks. Most tutors stop the task to give advice, which breaks
the immersion that makes simulation worth doing.
[click] Ours does not stop anything. The help comes from a virtual first
officer, staying in character. I have the radios; you fly the aircraft. The
flight keeps going, so the crew work stays realistic.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to 2:45  (about 15 seconds)
Every maneuver leaves six measurements in a competency record, and every change
the system made is stored next to the reading that caused it.
[click] Because software does the scoring, two instructors no longer grade the
same flight differently.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 to 3:00  (about 15 seconds)
So, activity one. You fly a Boeing 737 off a wet runway. An engine quits half a
second past the speed where stopping is no longer an option, in a gusting
crosswind.
[click] The sensors run the whole time.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 to 3:35  (about 35 seconds)  ·  THE KEY SLIDE, three clicks
At 18.2 seconds you are past that speed and everything is normal.
[click] At 18.7 the engine quits. Within 620 milliseconds the pupil widens from
4.2 to 6.8 millimetres, the front of the brain gets busier, and the heart ratio
triples. Your eyes are locked on the engine gauges and never check the airspeed.
[click] So the system dims the clutter and the first officer takes the radios.
[click] By 21.2 seconds you are scanning again. Recovery took 3.1 seconds. And
here is the part I like: most people only notice that any of this happened when
they watch the replay.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to 3:55  (about 20 seconds)
Activity two. A second screen shows the inside of the loop while you fly: the
three numbers, the mastery so far, what the system did, and why it did it.
[click] That is the part we most want an audience to argue with. A claim you
can watch is a claim you can disagree with.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 to 4:15  (about 20 seconds)
Activity three. Nothing from the body leaves the training computer. Only a
summary of what the local model learned is sent out, trimmed to a fixed size
and blurred with noise.
[click] The device blurs it at a budget of two, the server blurs it again at
one. Three in total.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 to 4:40  (about 25 seconds)
And then you attack it. You run an attack that rebuilds the pilot's signals
from that summary.
[click] With the protection off it recovers them almost exactly. A cosine
similarity of one point zero: that is the trainee's own eye and heart traces,
back out of a number that was supposed to be anonymous.
[click] With the protection on, it gets noise, and the shared model gives up
about two points of accuracy. The trade stops being a sentence in a paper. You
watch it happen.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to 5:00  (about 20 seconds)
We need a desk, power and a monitor. Anyone who would rather not wear sensors
can run the same system from recordings we bring.
[click] Come and fly it, look inside its reasoning, and try to break it.
Thank you.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3" name="Shape 0"/>
          <p:cNvSpPr/>
          <p:nvPr/>
        </p:nvSpPr>
        <p:spPr>
          <a:xfrm>
            <a:off x="5394960" y="1143000"/>
            <a:ext cx="1371600" cy="1371600"/>
          </a:xfrm>
          <a:prstGeom prst="ellipse">
            <a:avLst/>
          </a:prstGeom>
          <a:solidFill>
            <a:srgbClr val="10243C"/>
          </a:solidFill>
          <a:ln w="25400">
            <a:solidFill>
              <a:srgbClr val="4ED8E6"/>
            </a:solidFill>
            <a:prstDash val="solid"/>
          </a:ln>
        </p:spPr>
        <p:txBody>
          <a:bodyPr/>
          <a:lstStyle/>
          <a:p>
            <a:endParaRPr lang="en-CA"/>
          </a:p>
        </p:txBody>
      </p:sp>
      <p:sp>
        <p:nvSpPr>
          <p:cNvPr id="4" name="Text 1"/>
          <p:cNvSpPr txBox="1"/>
          <p:nvPr/>
        </p:nvSpPr>
        <p:spPr>
          <a:xfrm>
            <a:off x="5394960" y="1143000"/>
            <a:ext cx="1371600" cy="1371600"/>
          </a:xfrm>
          <a:prstGeom prst="rect">
            <a:avLst/>
          </a:prstGeom>
          <a:noFill/>
          <a:ln/>
        </p:spPr>
        <p:txBody>
          <a:bodyPr wrap="square" lIns="0" tIns="0" rIns="0" bIns="0" rtlCol="0" anchor="ctr"/>
          <a:lstStyle/>
          <a:p>
            <a:pPr marL="0" indent="0" algn="ctr">
              <a:buNone/>
            </a:pPr>
            <a:r>
              <a:rPr lang="en-US" sz="4000" b="1" dirty="0">
                <a:solidFill>
                  <a:srgbClr val="4ED8E6"/>
                </a:solidFill>
                <a:latin typeface="Calibri" pitchFamily="34" charset="0"/>
                <a:ea typeface="Calibri" pitchFamily="34" charset="-122"/>
                <a:cs typeface="Calibri" pitchFamily="34" charset="-120"/>
              </a:rPr>
              <a:t>CS</a:t>
            </a:r>
            <a:endParaRPr lang="en-US" sz="4000" dirty="0"/>
          </a:p>
        </p:txBody>
      </p:sp>
      <p:sp>
        <p:nvSpPr>
          <p:cNvPr id="5" name="Text 2"/>
          <p:cNvSpPr txBox="1"/>
          <p:nvPr/>
        </p:nvSpPr>
        <p:spPr>
          <a:xfrm>
            <a:off x="566928" y="2743200"/>
            <a:ext cx="11057839" cy="914400"/>
          </a:xfrm>
          <a:prstGeom prst="rect">
            <a:avLst/>
          </a:prstGeom>
          <a:noFill/>
          <a:ln/>
        </p:spPr>
        <p:txBody>
          <a:bodyPr wrap="square" lIns="0" tIns="0" rIns="0" bIns="0" rtlCol="0" anchor="ctr"/>
          <a:lstStyle/>
          <a:p>
            <a:pPr marL="0" indent="0" algn="ctr">
              <a:buNone/>
            </a:pPr>
            <a:r>
              <a:rPr lang="en-US" sz="6000" b="1" dirty="0">
                <a:solidFill>
                  <a:srgbClr val="EAF2F8"/>
                </a:solidFill>
                <a:latin typeface="Calibri" pitchFamily="34" charset="0"/>
                <a:ea typeface="Calibri" pitchFamily="34" charset="-122"/>
                <a:cs typeface="Calibri" pitchFamily="34" charset="-120"/>
              </a:rPr>
              <a:t>CogniSim</a:t>
            </a:r>
            <a:endParaRPr lang="en-US" sz="6000" dirty="0"/>
          </a:p>
        </p:txBody>
      </p:sp>
      <p:sp>
        <p:nvSpPr>
          <p:cNvPr id="6" name="a1_01"/>
          <p:cNvSpPr txBox="1"/>
          <p:nvPr/>
        </p:nvSpPr>
        <p:spPr>
          <a:xfrm>
            <a:off x="566928" y="3429000"/>
            <a:ext cx="11057839" cy="1143000"/>
          </a:xfrm>
          <a:prstGeom prst="rect">
            <a:avLst/>
          </a:prstGeom>
          <a:noFill/>
          <a:ln/>
        </p:spPr>
        <p:txBody>
          <a:bodyPr wrap="square" lIns="0" tIns="0" rIns="0" bIns="0" rtlCol="0" anchor="ctr"/>
          <a:lstStyle/>
          <a:p>
            <a:pPr algn="ctr"/>
            <a:r>
              <a:rPr lang="en-US" sz="2200" dirty="0">
                <a:solidFill>
                  <a:srgbClr val="7FB3FF"/>
                </a:solidFill>
                <a:latin typeface="Calibri" pitchFamily="34" charset="0"/>
                <a:ea typeface="Calibri" pitchFamily="34" charset="-122"/>
                <a:cs typeface="Calibri" pitchFamily="34" charset="-120"/>
              </a:rPr>
              <a:t>A Cognitive-Load-Aware, Privacy-Preserving Adaptive</a:t>
            </a:r>
          </a:p>
          <a:p>
            <a:pPr algn="ctr"/>
            <a:r>
              <a:rPr lang="en-US" sz="2200" dirty="0">
                <a:solidFill>
                  <a:srgbClr val="7FB3FF"/>
                </a:solidFill>
                <a:latin typeface="Calibri" pitchFamily="34" charset="0"/>
                <a:ea typeface="Calibri" pitchFamily="34" charset="-122"/>
                <a:cs typeface="Calibri" pitchFamily="34" charset="-120"/>
              </a:rPr>
              <a:t>Training Ecosystem for High-Stakes Simulation</a:t>
            </a:r>
            <a:endParaRPr lang="en-US" sz="2200" dirty="0"/>
          </a:p>
        </p:txBody>
      </p:sp>
      <p:sp>
        <p:nvSpPr>
          <p:cNvPr id="7" name="a1_02"/>
          <p:cNvSpPr txBox="1"/>
          <p:nvPr/>
        </p:nvSpPr>
        <p:spPr>
          <a:xfrm>
            <a:off x="566928" y="4526280"/>
            <a:ext cx="11057839" cy="320040"/>
          </a:xfrm>
          <a:prstGeom prst="rect">
            <a:avLst/>
          </a:prstGeom>
          <a:noFill/>
          <a:ln/>
        </p:spPr>
        <p:txBody>
          <a:bodyPr wrap="square" lIns="0" tIns="0" rIns="0" bIns="0" rtlCol="0" anchor="ctr"/>
          <a:lstStyle/>
          <a:p>
            <a:pPr algn="ctr"/>
            <a:r>
              <a:rPr lang="en-US" sz="1700" dirty="0">
                <a:solidFill>
                  <a:srgbClr val="EAF2F8"/>
                </a:solidFill>
                <a:latin typeface="Calibri" pitchFamily="34" charset="0"/>
                <a:ea typeface="Calibri" pitchFamily="34" charset="-122"/>
                <a:cs typeface="Calibri" pitchFamily="34" charset="-120"/>
              </a:rPr>
              <a:t>Atik Mahabub  ·  Patricia Gilbert · Regan Legassie · Shervin Vakili</a:t>
            </a:r>
            <a:endParaRPr lang="en-US" sz="1700" dirty="0"/>
          </a:p>
        </p:txBody>
      </p:sp>
      <p:sp>
        <p:nvSpPr>
          <p:cNvPr id="8" name="a1_03"/>
          <p:cNvSpPr txBox="1"/>
          <p:nvPr/>
        </p:nvSpPr>
        <p:spPr>
          <a:xfrm>
            <a:off x="566928" y="4864608"/>
            <a:ext cx="11057839" cy="320040"/>
          </a:xfrm>
          <a:prstGeom prst="rect">
            <a:avLst/>
          </a:prstGeom>
          <a:noFill/>
          <a:ln/>
        </p:spPr>
        <p:txBody>
          <a:bodyPr wrap="square" lIns="0" tIns="0" rIns="0" bIns="0" rtlCol="0" anchor="ctr"/>
          <a:lstStyle/>
          <a:p>
            <a:pPr marL="0" indent="0" algn="ctr">
              <a:buNone/>
            </a:pPr>
            <a:r>
              <a:rPr lang="en-US" sz="1400" dirty="0">
                <a:solidFill>
                  <a:srgbClr val="9BB0C4"/>
                </a:solidFill>
                <a:latin typeface="Calibri" pitchFamily="34" charset="0"/>
                <a:ea typeface="Calibri" pitchFamily="34" charset="-122"/>
                <a:cs typeface="Calibri" pitchFamily="34" charset="-120"/>
              </a:rPr>
              <a:t>INRS-EMT, Montréal  ·  CAE Inc.  ·  AAAI 2027 Demonstrations Program</a:t>
            </a:r>
            <a:endParaRPr lang="en-US" sz="1400" dirty="0"/>
          </a:p>
        </p:txBody>
      </p:sp>
    </p:spTree>
  </p:cSld>
  <p:clrMapOvr>
    <a:masterClrMapping/>
  </p:clrMapOvr>
  <p:transition spd="slow" advClick="0" advTm="1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nodeType="withEffect">
                                  <p:stCondLst>
                                    <p:cond delay="15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Two failures that look identical</a:t>
            </a:r>
            <a:endParaRPr lang="en-US" sz="3600" dirty="0"/>
          </a:p>
        </p:txBody>
      </p:sp>
      <p:sp>
        <p:nvSpPr>
          <p:cNvPr id="5" name="Text 2"/>
          <p:cNvSpPr txBox="1"/>
          <p:nvPr/>
        </p:nvSpPr>
        <p:spPr>
          <a:xfrm>
            <a:off x="566928" y="1389888"/>
            <a:ext cx="11057839" cy="365760"/>
          </a:xfrm>
          <a:prstGeom prst="rect">
            <a:avLst/>
          </a:prstGeom>
          <a:noFill/>
          <a:ln/>
        </p:spPr>
        <p:txBody>
          <a:bodyPr wrap="square" lIns="0" tIns="0" rIns="0" bIns="0" rtlCol="0" anchor="ctr"/>
          <a:lstStyle/>
          <a:p>
            <a:pPr marL="0" indent="0">
              <a:buNone/>
            </a:pPr>
            <a:r>
              <a:rPr lang="en-US" sz="1800" dirty="0">
                <a:solidFill>
                  <a:srgbClr val="9BB0C4"/>
                </a:solidFill>
                <a:latin typeface="Calibri" pitchFamily="34" charset="0"/>
                <a:ea typeface="Calibri" pitchFamily="34" charset="-122"/>
                <a:cs typeface="Calibri" pitchFamily="34" charset="-120"/>
              </a:rPr>
              <a:t>A normal training system sees one signal: the answer was wrong.</a:t>
            </a:r>
            <a:endParaRPr lang="en-US" sz="1800" dirty="0"/>
          </a:p>
        </p:txBody>
      </p:sp>
      <p:sp>
        <p:nvSpPr>
          <p:cNvPr id="6" name="a1_01b"/>
          <p:cNvSpPr/>
          <p:nvPr/>
        </p:nvSpPr>
        <p:spPr>
          <a:xfrm>
            <a:off x="566928" y="1965960"/>
            <a:ext cx="5486400" cy="1828800"/>
          </a:xfrm>
          <a:prstGeom prst="roundRect">
            <a:avLst>
              <a:gd name="adj" fmla="val 4000"/>
            </a:avLst>
          </a:prstGeom>
          <a:solidFill>
            <a:srgbClr val="152A45"/>
          </a:solidFill>
          <a:ln w="12700">
            <a:solidFill>
              <a:srgbClr val="27425F"/>
            </a:solidFill>
            <a:prstDash val="solid"/>
          </a:ln>
        </p:spPr>
        <p:txBody>
          <a:bodyPr/>
          <a:lstStyle/>
          <a:p>
            <a:endParaRPr lang="en-CA"/>
          </a:p>
        </p:txBody>
      </p:sp>
      <p:sp>
        <p:nvSpPr>
          <p:cNvPr id="7" name="a1_01c"/>
          <p:cNvSpPr/>
          <p:nvPr/>
        </p:nvSpPr>
        <p:spPr>
          <a:xfrm>
            <a:off x="804672" y="2185416"/>
            <a:ext cx="402336" cy="402336"/>
          </a:xfrm>
          <a:prstGeom prst="ellipse">
            <a:avLst/>
          </a:prstGeom>
          <a:solidFill>
            <a:srgbClr val="4ED8E6"/>
          </a:solidFill>
          <a:ln/>
        </p:spPr>
        <p:txBody>
          <a:bodyPr/>
          <a:lstStyle/>
          <a:p>
            <a:endParaRPr lang="en-CA"/>
          </a:p>
        </p:txBody>
      </p:sp>
      <p:sp>
        <p:nvSpPr>
          <p:cNvPr id="8" name="a1_01d"/>
          <p:cNvSpPr txBox="1"/>
          <p:nvPr/>
        </p:nvSpPr>
        <p:spPr>
          <a:xfrm>
            <a:off x="804672" y="218541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1</a:t>
            </a:r>
            <a:endParaRPr lang="en-US" sz="1700" dirty="0"/>
          </a:p>
        </p:txBody>
      </p:sp>
      <p:sp>
        <p:nvSpPr>
          <p:cNvPr id="9" name="a1_01e"/>
          <p:cNvSpPr txBox="1"/>
          <p:nvPr/>
        </p:nvSpPr>
        <p:spPr>
          <a:xfrm>
            <a:off x="1353312" y="2148840"/>
            <a:ext cx="4425696"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Working memory is full</a:t>
            </a:r>
            <a:endParaRPr lang="en-US" sz="1900" dirty="0"/>
          </a:p>
        </p:txBody>
      </p:sp>
      <p:sp>
        <p:nvSpPr>
          <p:cNvPr id="10" name="a1_01f"/>
          <p:cNvSpPr txBox="1"/>
          <p:nvPr/>
        </p:nvSpPr>
        <p:spPr>
          <a:xfrm>
            <a:off x="841248" y="2752344"/>
            <a:ext cx="4937760" cy="9144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Needs LESS information, moved to a sense that is still free.</a:t>
            </a:r>
            <a:endParaRPr lang="en-US" sz="1500" dirty="0"/>
          </a:p>
        </p:txBody>
      </p:sp>
      <p:sp>
        <p:nvSpPr>
          <p:cNvPr id="11" name="a1_02b"/>
          <p:cNvSpPr/>
          <p:nvPr/>
        </p:nvSpPr>
        <p:spPr>
          <a:xfrm>
            <a:off x="6510528" y="1965960"/>
            <a:ext cx="5486400" cy="1828800"/>
          </a:xfrm>
          <a:prstGeom prst="roundRect">
            <a:avLst>
              <a:gd name="adj" fmla="val 4000"/>
            </a:avLst>
          </a:prstGeom>
          <a:solidFill>
            <a:srgbClr val="152A45"/>
          </a:solidFill>
          <a:ln w="12700">
            <a:solidFill>
              <a:srgbClr val="27425F"/>
            </a:solidFill>
            <a:prstDash val="solid"/>
          </a:ln>
        </p:spPr>
        <p:txBody>
          <a:bodyPr/>
          <a:lstStyle/>
          <a:p>
            <a:endParaRPr lang="en-CA"/>
          </a:p>
        </p:txBody>
      </p:sp>
      <p:sp>
        <p:nvSpPr>
          <p:cNvPr id="12" name="a1_02c"/>
          <p:cNvSpPr/>
          <p:nvPr/>
        </p:nvSpPr>
        <p:spPr>
          <a:xfrm>
            <a:off x="6748272" y="2185416"/>
            <a:ext cx="402336" cy="402336"/>
          </a:xfrm>
          <a:prstGeom prst="ellipse">
            <a:avLst/>
          </a:prstGeom>
          <a:solidFill>
            <a:srgbClr val="7FB3FF"/>
          </a:solidFill>
          <a:ln/>
        </p:spPr>
        <p:txBody>
          <a:bodyPr/>
          <a:lstStyle/>
          <a:p>
            <a:endParaRPr lang="en-CA"/>
          </a:p>
        </p:txBody>
      </p:sp>
      <p:sp>
        <p:nvSpPr>
          <p:cNvPr id="13" name="a1_02d"/>
          <p:cNvSpPr txBox="1"/>
          <p:nvPr/>
        </p:nvSpPr>
        <p:spPr>
          <a:xfrm>
            <a:off x="6748272" y="218541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2</a:t>
            </a:r>
            <a:endParaRPr lang="en-US" sz="1700" dirty="0"/>
          </a:p>
        </p:txBody>
      </p:sp>
      <p:sp>
        <p:nvSpPr>
          <p:cNvPr id="14" name="a1_02e"/>
          <p:cNvSpPr txBox="1"/>
          <p:nvPr/>
        </p:nvSpPr>
        <p:spPr>
          <a:xfrm>
            <a:off x="7296912" y="2148840"/>
            <a:ext cx="4425696"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The procedure was never learned</a:t>
            </a:r>
            <a:endParaRPr lang="en-US" sz="1900" dirty="0"/>
          </a:p>
        </p:txBody>
      </p:sp>
      <p:sp>
        <p:nvSpPr>
          <p:cNvPr id="15" name="a1_02f"/>
          <p:cNvSpPr txBox="1"/>
          <p:nvPr/>
        </p:nvSpPr>
        <p:spPr>
          <a:xfrm>
            <a:off x="6784848" y="2752344"/>
            <a:ext cx="4937760" cy="9144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Needs MORE teaching, with support and a review of the basics.</a:t>
            </a:r>
            <a:endParaRPr lang="en-US" sz="1500" dirty="0"/>
          </a:p>
        </p:txBody>
      </p:sp>
      <p:sp>
        <p:nvSpPr>
          <p:cNvPr id="16" name="a2_01b"/>
          <p:cNvSpPr/>
          <p:nvPr/>
        </p:nvSpPr>
        <p:spPr>
          <a:xfrm>
            <a:off x="566928" y="4069080"/>
            <a:ext cx="11057839" cy="1371600"/>
          </a:xfrm>
          <a:prstGeom prst="roundRect">
            <a:avLst>
              <a:gd name="adj" fmla="val 5333"/>
            </a:avLst>
          </a:prstGeom>
          <a:solidFill>
            <a:srgbClr val="152A45"/>
          </a:solidFill>
          <a:ln w="12700">
            <a:solidFill>
              <a:srgbClr val="27425F"/>
            </a:solidFill>
            <a:prstDash val="solid"/>
          </a:ln>
        </p:spPr>
        <p:txBody>
          <a:bodyPr/>
          <a:lstStyle/>
          <a:p>
            <a:endParaRPr lang="en-CA"/>
          </a:p>
        </p:txBody>
      </p:sp>
      <p:sp>
        <p:nvSpPr>
          <p:cNvPr id="17" name="a2_01e"/>
          <p:cNvSpPr txBox="1"/>
          <p:nvPr/>
        </p:nvSpPr>
        <p:spPr>
          <a:xfrm>
            <a:off x="841248" y="4251960"/>
            <a:ext cx="10509199" cy="457200"/>
          </a:xfrm>
          <a:prstGeom prst="rect">
            <a:avLst/>
          </a:prstGeom>
          <a:noFill/>
          <a:ln/>
        </p:spPr>
        <p:txBody>
          <a:bodyPr wrap="square" lIns="0" tIns="0" rIns="0" bIns="0" rtlCol="0" anchor="ctr"/>
          <a:lstStyle/>
          <a:p>
            <a:pPr marL="0" indent="0">
              <a:buNone/>
            </a:pPr>
            <a:r>
              <a:rPr lang="en-US" sz="1900" b="1" dirty="0">
                <a:solidFill>
                  <a:srgbClr val="FF8A5B"/>
                </a:solidFill>
                <a:latin typeface="Calibri" pitchFamily="34" charset="0"/>
                <a:ea typeface="Calibri" pitchFamily="34" charset="-122"/>
                <a:cs typeface="Calibri" pitchFamily="34" charset="-120"/>
              </a:rPr>
              <a:t>The two fixes are opposites</a:t>
            </a:r>
            <a:endParaRPr lang="en-US" sz="1900" dirty="0"/>
          </a:p>
        </p:txBody>
      </p:sp>
      <p:sp>
        <p:nvSpPr>
          <p:cNvPr id="18" name="a2_01f"/>
          <p:cNvSpPr txBox="1"/>
          <p:nvPr/>
        </p:nvSpPr>
        <p:spPr>
          <a:xfrm>
            <a:off x="841248" y="4855464"/>
            <a:ext cx="10509199" cy="4572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Give the wrong one and the pilot practises the wrong response, during an engine failure, at takeoff speed.</a:t>
            </a:r>
            <a:endParaRPr lang="en-US" sz="1500" dirty="0"/>
          </a:p>
        </p:txBody>
      </p:sp>
    </p:spTree>
  </p:cSld>
  <p:clrMapOvr>
    <a:masterClrMapping/>
  </p:clrMapOvr>
  <p:transition spd="slow" advClick="0" advTm="30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4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nodeType="withEffect">
                                  <p:stCondLst>
                                    <p:cond delay="15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nodeType="withEffect">
                                  <p:stCondLst>
                                    <p:cond delay="15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6" presetID="10" presetClass="entr" presetSubtype="0" fill="hold" nodeType="withEffect">
                                  <p:stCondLst>
                                    <p:cond delay="15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10" presetClass="entr" presetSubtype="0" fill="hold" nodeType="withEffect">
                                  <p:stCondLst>
                                    <p:cond delay="15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par>
                                <p:cTn id="32" presetID="10" presetClass="entr" presetSubtype="0" fill="hold" nodeType="withEffect">
                                  <p:stCondLst>
                                    <p:cond delay="1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childTnLst>
                          </p:cTn>
                        </p:par>
                      </p:childTnLst>
                    </p:cTn>
                  </p:par>
                  <p:par>
                    <p:cTn id="35" fill="hold">
                      <p:stCondLst>
                        <p:cond delay="14150"/>
                      </p:stCondLst>
                      <p:childTnLst>
                        <p:par>
                          <p:cTn id="36" fill="hold">
                            <p:stCondLst>
                              <p:cond delay="0"/>
                            </p:stCondLst>
                            <p:childTnLst>
                              <p:par>
                                <p:cTn id="37" presetID="10" presetClass="entr" presetSubtype="0" fill="hold" nodeType="after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par>
                                <p:cTn id="40" presetID="10" presetClass="entr" presetSubtype="0" fill="hold" nodeType="withEffect">
                                  <p:stCondLst>
                                    <p:cond delay="0"/>
                                  </p:stCondLst>
                                  <p:childTnLst>
                                    <p:set>
                                      <p:cBhvr>
                                        <p:cTn id="41" dur="1" fill="hold">
                                          <p:stCondLst>
                                            <p:cond delay="0"/>
                                          </p:stCondLst>
                                        </p:cTn>
                                        <p:tgtEl>
                                          <p:spTgt spid="17"/>
                                        </p:tgtEl>
                                        <p:attrNameLst>
                                          <p:attrName>style.visibility</p:attrName>
                                        </p:attrNameLst>
                                      </p:cBhvr>
                                      <p:to>
                                        <p:strVal val="visible"/>
                                      </p:to>
                                    </p:set>
                                    <p:animEffect transition="in" filter="fade">
                                      <p:cBhvr>
                                        <p:cTn id="42" dur="400"/>
                                        <p:tgtEl>
                                          <p:spTgt spid="17"/>
                                        </p:tgtEl>
                                      </p:cBhvr>
                                    </p:animEffec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THE SYSTEM</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Reading the pilot, not just the score</a:t>
            </a:r>
            <a:endParaRPr lang="en-US" sz="3600" dirty="0"/>
          </a:p>
        </p:txBody>
      </p:sp>
      <p:sp>
        <p:nvSpPr>
          <p:cNvPr id="5" name="a1_01b"/>
          <p:cNvSpPr/>
          <p:nvPr/>
        </p:nvSpPr>
        <p:spPr>
          <a:xfrm>
            <a:off x="984935" y="1508760"/>
            <a:ext cx="10221825" cy="4114800"/>
          </a:xfrm>
          <a:prstGeom prst="roundRect">
            <a:avLst>
              <a:gd name="adj" fmla="val 1111"/>
            </a:avLst>
          </a:prstGeom>
          <a:solidFill>
            <a:srgbClr val="FFFFFF"/>
          </a:solidFill>
          <a:ln w="12700">
            <a:solidFill>
              <a:srgbClr val="FFFFFF"/>
            </a:solidFill>
            <a:prstDash val="solid"/>
          </a:ln>
          <a:effectLst>
            <a:outerShdw blurRad="228600" dist="50800" dir="5400000" algn="bl" rotWithShape="0">
              <a:srgbClr val="000000">
                <a:alpha val="45000"/>
              </a:srgbClr>
            </a:outerShdw>
          </a:effectLst>
        </p:spPr>
        <p:txBody>
          <a:bodyPr/>
          <a:lstStyle/>
          <a:p>
            <a:endParaRPr lang="en-CA"/>
          </a:p>
        </p:txBody>
      </p:sp>
      <p:pic>
        <p:nvPicPr>
          <p:cNvPr id="6" name="a1_01i" descr="/home/claude/repo/cognisim/figures/fig2_engine.png"/>
          <p:cNvPicPr>
            <a:picLocks noChangeAspect="1"/>
          </p:cNvPicPr>
          <p:nvPr/>
        </p:nvPicPr>
        <p:blipFill>
          <a:blip r:embed="rId3"/>
          <a:stretch>
            <a:fillRect/>
          </a:stretch>
        </p:blipFill>
        <p:spPr>
          <a:xfrm>
            <a:off x="1076375" y="1600200"/>
            <a:ext cx="10038945" cy="3931920"/>
          </a:xfrm>
          <a:prstGeom prst="rect">
            <a:avLst/>
          </a:prstGeom>
        </p:spPr>
      </p:pic>
      <p:sp>
        <p:nvSpPr>
          <p:cNvPr id="7" name="a2_01"/>
          <p:cNvSpPr txBox="1"/>
          <p:nvPr/>
        </p:nvSpPr>
        <p:spPr>
          <a:xfrm>
            <a:off x="566928" y="6199632"/>
            <a:ext cx="11057839" cy="365760"/>
          </a:xfrm>
          <a:prstGeom prst="rect">
            <a:avLst/>
          </a:prstGeom>
          <a:noFill/>
          <a:ln/>
        </p:spPr>
        <p:txBody>
          <a:bodyPr wrap="square" lIns="0" tIns="0" rIns="0" bIns="0" rtlCol="0" anchor="ctr"/>
          <a:lstStyle/>
          <a:p>
            <a:pPr marL="0" indent="0">
              <a:buNone/>
            </a:pPr>
            <a:r>
              <a:rPr lang="en-US" sz="1400" i="1" dirty="0">
                <a:solidFill>
                  <a:srgbClr val="9BB0C4"/>
                </a:solidFill>
                <a:latin typeface="Calibri" pitchFamily="34" charset="0"/>
                <a:ea typeface="Calibri" pitchFamily="34" charset="-122"/>
                <a:cs typeface="Calibri" pitchFamily="34" charset="-120"/>
              </a:rPr>
              <a:t>Sense, decide, deliver, measure. The loop closes inside the maneuver, not after it.</a:t>
            </a:r>
            <a:endParaRPr lang="en-US" sz="1400" dirty="0"/>
          </a:p>
        </p:txBody>
      </p:sp>
    </p:spTree>
  </p:cSld>
  <p:clrMapOvr>
    <a:masterClrMapping/>
  </p:clrMapOvr>
  <p:transition spd="slow" advClick="0" advTm="20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9150"/>
                      </p:stCondLst>
                      <p:childTnLst>
                        <p:par>
                          <p:cTn id="12" fill="hold">
                            <p:stCondLst>
                              <p:cond delay="0"/>
                            </p:stCondLst>
                            <p:childTnLst>
                              <p:par>
                                <p:cTn id="13" presetID="10" presetClass="entr" presetSubtype="0" fill="hold"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AT THE BOOTH</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Three things a visitor can do</a:t>
            </a:r>
            <a:endParaRPr lang="en-US" sz="3600" dirty="0"/>
          </a:p>
        </p:txBody>
      </p:sp>
      <p:sp>
        <p:nvSpPr>
          <p:cNvPr id="5" name="a1_01b"/>
          <p:cNvSpPr/>
          <p:nvPr/>
        </p:nvSpPr>
        <p:spPr>
          <a:xfrm>
            <a:off x="566928" y="1783080"/>
            <a:ext cx="3566160" cy="3017520"/>
          </a:xfrm>
          <a:prstGeom prst="roundRect">
            <a:avLst>
              <a:gd name="adj" fmla="val 2424"/>
            </a:avLst>
          </a:prstGeom>
          <a:solidFill>
            <a:srgbClr val="152A45"/>
          </a:solidFill>
          <a:ln w="12700">
            <a:solidFill>
              <a:srgbClr val="27425F"/>
            </a:solidFill>
            <a:prstDash val="solid"/>
          </a:ln>
        </p:spPr>
        <p:txBody>
          <a:bodyPr/>
          <a:lstStyle/>
          <a:p>
            <a:endParaRPr lang="en-CA"/>
          </a:p>
        </p:txBody>
      </p:sp>
      <p:sp>
        <p:nvSpPr>
          <p:cNvPr id="6" name="a1_01c"/>
          <p:cNvSpPr/>
          <p:nvPr/>
        </p:nvSpPr>
        <p:spPr>
          <a:xfrm>
            <a:off x="804672" y="2002536"/>
            <a:ext cx="402336" cy="402336"/>
          </a:xfrm>
          <a:prstGeom prst="ellipse">
            <a:avLst/>
          </a:prstGeom>
          <a:solidFill>
            <a:srgbClr val="4ED8E6"/>
          </a:solidFill>
          <a:ln/>
        </p:spPr>
        <p:txBody>
          <a:bodyPr/>
          <a:lstStyle/>
          <a:p>
            <a:endParaRPr lang="en-CA"/>
          </a:p>
        </p:txBody>
      </p:sp>
      <p:sp>
        <p:nvSpPr>
          <p:cNvPr id="7" name="a1_01d"/>
          <p:cNvSpPr txBox="1"/>
          <p:nvPr/>
        </p:nvSpPr>
        <p:spPr>
          <a:xfrm>
            <a:off x="804672" y="200253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1</a:t>
            </a:r>
            <a:endParaRPr lang="en-US" sz="1700" dirty="0"/>
          </a:p>
        </p:txBody>
      </p:sp>
      <p:sp>
        <p:nvSpPr>
          <p:cNvPr id="8" name="a1_01e"/>
          <p:cNvSpPr txBox="1"/>
          <p:nvPr/>
        </p:nvSpPr>
        <p:spPr>
          <a:xfrm>
            <a:off x="1353312" y="1965960"/>
            <a:ext cx="2505456"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Fly it</a:t>
            </a:r>
            <a:endParaRPr lang="en-US" sz="1900" dirty="0"/>
          </a:p>
        </p:txBody>
      </p:sp>
      <p:sp>
        <p:nvSpPr>
          <p:cNvPr id="9" name="a1_01f"/>
          <p:cNvSpPr txBox="1"/>
          <p:nvPr/>
        </p:nvSpPr>
        <p:spPr>
          <a:xfrm>
            <a:off x="841248" y="2569464"/>
            <a:ext cx="3017520" cy="210312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A Boeing 737 engine failure at takeoff speed, with the system watching your eyes and your heart.</a:t>
            </a:r>
            <a:endParaRPr lang="en-US" sz="1500" dirty="0"/>
          </a:p>
        </p:txBody>
      </p:sp>
      <p:sp>
        <p:nvSpPr>
          <p:cNvPr id="10" name="a2_01b"/>
          <p:cNvSpPr/>
          <p:nvPr/>
        </p:nvSpPr>
        <p:spPr>
          <a:xfrm>
            <a:off x="4334256" y="1783080"/>
            <a:ext cx="3566160" cy="3017520"/>
          </a:xfrm>
          <a:prstGeom prst="roundRect">
            <a:avLst>
              <a:gd name="adj" fmla="val 2424"/>
            </a:avLst>
          </a:prstGeom>
          <a:solidFill>
            <a:srgbClr val="152A45"/>
          </a:solidFill>
          <a:ln w="12700">
            <a:solidFill>
              <a:srgbClr val="27425F"/>
            </a:solidFill>
            <a:prstDash val="solid"/>
          </a:ln>
        </p:spPr>
        <p:txBody>
          <a:bodyPr/>
          <a:lstStyle/>
          <a:p>
            <a:endParaRPr lang="en-CA"/>
          </a:p>
        </p:txBody>
      </p:sp>
      <p:sp>
        <p:nvSpPr>
          <p:cNvPr id="11" name="a2_01c"/>
          <p:cNvSpPr/>
          <p:nvPr/>
        </p:nvSpPr>
        <p:spPr>
          <a:xfrm>
            <a:off x="4572000" y="2002536"/>
            <a:ext cx="402336" cy="402336"/>
          </a:xfrm>
          <a:prstGeom prst="ellipse">
            <a:avLst/>
          </a:prstGeom>
          <a:solidFill>
            <a:srgbClr val="7FB3FF"/>
          </a:solidFill>
          <a:ln/>
        </p:spPr>
        <p:txBody>
          <a:bodyPr/>
          <a:lstStyle/>
          <a:p>
            <a:endParaRPr lang="en-CA"/>
          </a:p>
        </p:txBody>
      </p:sp>
      <p:sp>
        <p:nvSpPr>
          <p:cNvPr id="12" name="a2_01d"/>
          <p:cNvSpPr txBox="1"/>
          <p:nvPr/>
        </p:nvSpPr>
        <p:spPr>
          <a:xfrm>
            <a:off x="4572000" y="200253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2</a:t>
            </a:r>
            <a:endParaRPr lang="en-US" sz="1700" dirty="0"/>
          </a:p>
        </p:txBody>
      </p:sp>
      <p:sp>
        <p:nvSpPr>
          <p:cNvPr id="13" name="a2_01e"/>
          <p:cNvSpPr txBox="1"/>
          <p:nvPr/>
        </p:nvSpPr>
        <p:spPr>
          <a:xfrm>
            <a:off x="5120640" y="1965960"/>
            <a:ext cx="2505456"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Watch it think</a:t>
            </a:r>
            <a:endParaRPr lang="en-US" sz="1900" dirty="0"/>
          </a:p>
        </p:txBody>
      </p:sp>
      <p:sp>
        <p:nvSpPr>
          <p:cNvPr id="14" name="a2_01f"/>
          <p:cNvSpPr txBox="1"/>
          <p:nvPr/>
        </p:nvSpPr>
        <p:spPr>
          <a:xfrm>
            <a:off x="4608576" y="2569464"/>
            <a:ext cx="3017520" cy="210312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Live load, mastery, the action it chose, and the reading behind it.</a:t>
            </a:r>
            <a:endParaRPr lang="en-US" sz="1500" dirty="0"/>
          </a:p>
        </p:txBody>
      </p:sp>
      <p:sp>
        <p:nvSpPr>
          <p:cNvPr id="15" name="a3_01b"/>
          <p:cNvSpPr/>
          <p:nvPr/>
        </p:nvSpPr>
        <p:spPr>
          <a:xfrm>
            <a:off x="8101584" y="1783080"/>
            <a:ext cx="3566160" cy="3017520"/>
          </a:xfrm>
          <a:prstGeom prst="roundRect">
            <a:avLst>
              <a:gd name="adj" fmla="val 2424"/>
            </a:avLst>
          </a:prstGeom>
          <a:solidFill>
            <a:srgbClr val="152A45"/>
          </a:solidFill>
          <a:ln w="12700">
            <a:solidFill>
              <a:srgbClr val="27425F"/>
            </a:solidFill>
            <a:prstDash val="solid"/>
          </a:ln>
        </p:spPr>
        <p:txBody>
          <a:bodyPr/>
          <a:lstStyle/>
          <a:p>
            <a:endParaRPr lang="en-CA"/>
          </a:p>
        </p:txBody>
      </p:sp>
      <p:sp>
        <p:nvSpPr>
          <p:cNvPr id="16" name="a3_01c"/>
          <p:cNvSpPr/>
          <p:nvPr/>
        </p:nvSpPr>
        <p:spPr>
          <a:xfrm>
            <a:off x="8339328" y="2002536"/>
            <a:ext cx="402336" cy="402336"/>
          </a:xfrm>
          <a:prstGeom prst="ellipse">
            <a:avLst/>
          </a:prstGeom>
          <a:solidFill>
            <a:srgbClr val="FF8A5B"/>
          </a:solidFill>
          <a:ln/>
        </p:spPr>
        <p:txBody>
          <a:bodyPr/>
          <a:lstStyle/>
          <a:p>
            <a:endParaRPr lang="en-CA"/>
          </a:p>
        </p:txBody>
      </p:sp>
      <p:sp>
        <p:nvSpPr>
          <p:cNvPr id="17" name="a3_01d"/>
          <p:cNvSpPr txBox="1"/>
          <p:nvPr/>
        </p:nvSpPr>
        <p:spPr>
          <a:xfrm>
            <a:off x="8339328" y="200253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3</a:t>
            </a:r>
            <a:endParaRPr lang="en-US" sz="1700" dirty="0"/>
          </a:p>
        </p:txBody>
      </p:sp>
      <p:sp>
        <p:nvSpPr>
          <p:cNvPr id="18" name="a3_01e"/>
          <p:cNvSpPr txBox="1"/>
          <p:nvPr/>
        </p:nvSpPr>
        <p:spPr>
          <a:xfrm>
            <a:off x="8887968" y="1965960"/>
            <a:ext cx="2505456" cy="457200"/>
          </a:xfrm>
          <a:prstGeom prst="rect">
            <a:avLst/>
          </a:prstGeom>
          <a:noFill/>
          <a:ln/>
        </p:spPr>
        <p:txBody>
          <a:bodyPr wrap="square" lIns="0" tIns="0" rIns="0" bIns="0" rtlCol="0" anchor="ctr"/>
          <a:lstStyle/>
          <a:p>
            <a:pPr marL="0" indent="0">
              <a:buNone/>
            </a:pPr>
            <a:r>
              <a:rPr lang="en-US" sz="1900" b="1" dirty="0">
                <a:solidFill>
                  <a:srgbClr val="FF8A5B"/>
                </a:solidFill>
                <a:latin typeface="Calibri" pitchFamily="34" charset="0"/>
                <a:ea typeface="Calibri" pitchFamily="34" charset="-122"/>
                <a:cs typeface="Calibri" pitchFamily="34" charset="-120"/>
              </a:rPr>
              <a:t>Try to break it</a:t>
            </a:r>
            <a:endParaRPr lang="en-US" sz="1900" dirty="0"/>
          </a:p>
        </p:txBody>
      </p:sp>
      <p:sp>
        <p:nvSpPr>
          <p:cNvPr id="19" name="a3_01f"/>
          <p:cNvSpPr txBox="1"/>
          <p:nvPr/>
        </p:nvSpPr>
        <p:spPr>
          <a:xfrm>
            <a:off x="8375904" y="2569464"/>
            <a:ext cx="3017520" cy="210312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Attack the summary a device sends out, with the privacy protection off, then on.</a:t>
            </a:r>
            <a:endParaRPr lang="en-US" sz="1500" dirty="0"/>
          </a:p>
        </p:txBody>
      </p:sp>
      <p:sp>
        <p:nvSpPr>
          <p:cNvPr id="20" name="a3_02"/>
          <p:cNvSpPr txBox="1"/>
          <p:nvPr/>
        </p:nvSpPr>
        <p:spPr>
          <a:xfrm>
            <a:off x="566928" y="6199632"/>
            <a:ext cx="11057839" cy="365760"/>
          </a:xfrm>
          <a:prstGeom prst="rect">
            <a:avLst/>
          </a:prstGeom>
          <a:noFill/>
          <a:ln/>
        </p:spPr>
        <p:txBody>
          <a:bodyPr wrap="square" lIns="0" tIns="0" rIns="0" bIns="0" rtlCol="0" anchor="ctr"/>
          <a:lstStyle/>
          <a:p>
            <a:pPr marL="0" indent="0">
              <a:buNone/>
            </a:pPr>
            <a:r>
              <a:rPr lang="en-US" sz="1400" i="1" dirty="0">
                <a:solidFill>
                  <a:srgbClr val="9BB0C4"/>
                </a:solidFill>
                <a:latin typeface="Calibri" pitchFamily="34" charset="0"/>
                <a:ea typeface="Calibri" pitchFamily="34" charset="-122"/>
                <a:cs typeface="Calibri" pitchFamily="34" charset="-120"/>
              </a:rPr>
              <a:t>Two to four minutes each. No sensors needed if you would rather not wear them.</a:t>
            </a:r>
            <a:endParaRPr lang="en-US" sz="1400" dirty="0"/>
          </a:p>
        </p:txBody>
      </p:sp>
    </p:spTree>
  </p:cSld>
  <p:clrMapOvr>
    <a:masterClrMapping/>
  </p:clrMapOvr>
  <p:transition spd="slow" advClick="0" advTm="1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4150"/>
                      </p:stCondLst>
                      <p:childTnLst>
                        <p:par>
                          <p:cTn id="21" fill="hold">
                            <p:stCondLst>
                              <p:cond delay="0"/>
                            </p:stCondLst>
                            <p:childTnLst>
                              <p:par>
                                <p:cTn id="22" presetID="10" presetClass="entr" presetSubtype="0" fill="hold" nodeType="after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4150"/>
                      </p:stCondLst>
                      <p:childTnLst>
                        <p:par>
                          <p:cTn id="38" fill="hold">
                            <p:stCondLst>
                              <p:cond delay="0"/>
                            </p:stCondLst>
                            <p:childTnLst>
                              <p:par>
                                <p:cTn id="39" presetID="10" presetClass="entr" presetSubtype="0" fill="hold" nodeType="after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par>
                                <p:cTn id="54" presetID="10" presetClass="entr" presetSubtype="0" fill="hold" nodeType="withEffect">
                                  <p:stCondLst>
                                    <p:cond delay="1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PART 1 · WHAT THE SENSORS SEE</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Four streams, one reading</a:t>
            </a:r>
            <a:endParaRPr lang="en-US" sz="3600" dirty="0"/>
          </a:p>
        </p:txBody>
      </p:sp>
      <p:sp>
        <p:nvSpPr>
          <p:cNvPr id="5" name="a1_01b"/>
          <p:cNvSpPr/>
          <p:nvPr/>
        </p:nvSpPr>
        <p:spPr>
          <a:xfrm>
            <a:off x="566928" y="1755648"/>
            <a:ext cx="411480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6" name="a1_01t"/>
          <p:cNvSpPr txBox="1"/>
          <p:nvPr/>
        </p:nvSpPr>
        <p:spPr>
          <a:xfrm>
            <a:off x="566928" y="1755648"/>
            <a:ext cx="411480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Eyes and pupil · 60 a second</a:t>
            </a:r>
            <a:endParaRPr lang="en-US" sz="1400" dirty="0"/>
          </a:p>
        </p:txBody>
      </p:sp>
      <p:sp>
        <p:nvSpPr>
          <p:cNvPr id="7" name="a1_02b"/>
          <p:cNvSpPr/>
          <p:nvPr/>
        </p:nvSpPr>
        <p:spPr>
          <a:xfrm>
            <a:off x="566928" y="2432304"/>
            <a:ext cx="411480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8" name="a1_02t"/>
          <p:cNvSpPr txBox="1"/>
          <p:nvPr/>
        </p:nvSpPr>
        <p:spPr>
          <a:xfrm>
            <a:off x="566928" y="2432304"/>
            <a:ext cx="411480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Brain · 250 a second</a:t>
            </a:r>
            <a:endParaRPr lang="en-US" sz="1400" dirty="0"/>
          </a:p>
        </p:txBody>
      </p:sp>
      <p:sp>
        <p:nvSpPr>
          <p:cNvPr id="9" name="a1_03b"/>
          <p:cNvSpPr/>
          <p:nvPr/>
        </p:nvSpPr>
        <p:spPr>
          <a:xfrm>
            <a:off x="566928" y="3108960"/>
            <a:ext cx="411480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10" name="a1_03t"/>
          <p:cNvSpPr txBox="1"/>
          <p:nvPr/>
        </p:nvSpPr>
        <p:spPr>
          <a:xfrm>
            <a:off x="566928" y="3108960"/>
            <a:ext cx="411480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Heart · once a second</a:t>
            </a:r>
            <a:endParaRPr lang="en-US" sz="1400" dirty="0"/>
          </a:p>
        </p:txBody>
      </p:sp>
      <p:sp>
        <p:nvSpPr>
          <p:cNvPr id="11" name="a1_04b"/>
          <p:cNvSpPr/>
          <p:nvPr/>
        </p:nvSpPr>
        <p:spPr>
          <a:xfrm>
            <a:off x="566928" y="3785616"/>
            <a:ext cx="411480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12" name="a1_04t"/>
          <p:cNvSpPr txBox="1"/>
          <p:nvPr/>
        </p:nvSpPr>
        <p:spPr>
          <a:xfrm>
            <a:off x="566928" y="3785616"/>
            <a:ext cx="411480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Flight data · 120 a second</a:t>
            </a:r>
            <a:endParaRPr lang="en-US" sz="1400" dirty="0"/>
          </a:p>
        </p:txBody>
      </p:sp>
      <p:sp>
        <p:nvSpPr>
          <p:cNvPr id="13" name="a2_01b"/>
          <p:cNvSpPr/>
          <p:nvPr/>
        </p:nvSpPr>
        <p:spPr>
          <a:xfrm>
            <a:off x="566928" y="4736592"/>
            <a:ext cx="4114800" cy="402336"/>
          </a:xfrm>
          <a:prstGeom prst="roundRect">
            <a:avLst>
              <a:gd name="adj" fmla="val 50000"/>
            </a:avLst>
          </a:prstGeom>
          <a:solidFill>
            <a:srgbClr val="3A2018"/>
          </a:solidFill>
          <a:ln w="12700">
            <a:solidFill>
              <a:srgbClr val="8A4A32"/>
            </a:solidFill>
            <a:prstDash val="solid"/>
          </a:ln>
        </p:spPr>
        <p:txBody>
          <a:bodyPr/>
          <a:lstStyle/>
          <a:p>
            <a:endParaRPr lang="en-CA"/>
          </a:p>
        </p:txBody>
      </p:sp>
      <p:sp>
        <p:nvSpPr>
          <p:cNvPr id="14" name="a2_01t"/>
          <p:cNvSpPr txBox="1"/>
          <p:nvPr/>
        </p:nvSpPr>
        <p:spPr>
          <a:xfrm>
            <a:off x="566928" y="4736592"/>
            <a:ext cx="4114800" cy="402336"/>
          </a:xfrm>
          <a:prstGeom prst="rect">
            <a:avLst/>
          </a:prstGeom>
          <a:noFill/>
          <a:ln/>
        </p:spPr>
        <p:txBody>
          <a:bodyPr wrap="square" lIns="0" tIns="0" rIns="0" bIns="0" rtlCol="0" anchor="ctr"/>
          <a:lstStyle/>
          <a:p>
            <a:pPr marL="0" indent="0" algn="ctr">
              <a:buNone/>
            </a:pPr>
            <a:r>
              <a:rPr lang="en-US" sz="1400" dirty="0">
                <a:solidFill>
                  <a:srgbClr val="FFD2BC"/>
                </a:solidFill>
                <a:latin typeface="Calibri" pitchFamily="34" charset="0"/>
                <a:ea typeface="Calibri" pitchFamily="34" charset="-122"/>
                <a:cs typeface="Calibri" pitchFamily="34" charset="-120"/>
              </a:rPr>
              <a:t>Event to decision: under 700 ms</a:t>
            </a:r>
            <a:endParaRPr lang="en-US" sz="1400" dirty="0"/>
          </a:p>
        </p:txBody>
      </p:sp>
      <p:sp>
        <p:nvSpPr>
          <p:cNvPr id="15" name="a2_02b"/>
          <p:cNvSpPr/>
          <p:nvPr/>
        </p:nvSpPr>
        <p:spPr>
          <a:xfrm>
            <a:off x="5093208" y="1664208"/>
            <a:ext cx="6629400" cy="3502838"/>
          </a:xfrm>
          <a:prstGeom prst="roundRect">
            <a:avLst>
              <a:gd name="adj" fmla="val 1305"/>
            </a:avLst>
          </a:prstGeom>
          <a:solidFill>
            <a:srgbClr val="FFFFFF"/>
          </a:solidFill>
          <a:ln w="12700">
            <a:solidFill>
              <a:srgbClr val="FFFFFF"/>
            </a:solidFill>
            <a:prstDash val="solid"/>
          </a:ln>
          <a:effectLst>
            <a:outerShdw blurRad="228600" dist="50800" dir="5400000" algn="bl" rotWithShape="0">
              <a:srgbClr val="000000">
                <a:alpha val="45000"/>
              </a:srgbClr>
            </a:outerShdw>
          </a:effectLst>
        </p:spPr>
        <p:txBody>
          <a:bodyPr/>
          <a:lstStyle/>
          <a:p>
            <a:endParaRPr lang="en-CA"/>
          </a:p>
        </p:txBody>
      </p:sp>
      <p:pic>
        <p:nvPicPr>
          <p:cNvPr id="16" name="a2_02i" descr="/home/claude/repo/cognisim/figures/fig6_biometric.png"/>
          <p:cNvPicPr>
            <a:picLocks noChangeAspect="1"/>
          </p:cNvPicPr>
          <p:nvPr/>
        </p:nvPicPr>
        <p:blipFill>
          <a:blip r:embed="rId3"/>
          <a:stretch>
            <a:fillRect/>
          </a:stretch>
        </p:blipFill>
        <p:spPr>
          <a:xfrm>
            <a:off x="5184648" y="1755648"/>
            <a:ext cx="6446520" cy="3319958"/>
          </a:xfrm>
          <a:prstGeom prst="rect">
            <a:avLst/>
          </a:prstGeom>
        </p:spPr>
      </p:pic>
      <p:sp>
        <p:nvSpPr>
          <p:cNvPr id="17" name="a2_03"/>
          <p:cNvSpPr txBox="1"/>
          <p:nvPr/>
        </p:nvSpPr>
        <p:spPr>
          <a:xfrm>
            <a:off x="566928" y="6199632"/>
            <a:ext cx="11057839" cy="365760"/>
          </a:xfrm>
          <a:prstGeom prst="rect">
            <a:avLst/>
          </a:prstGeom>
          <a:noFill/>
          <a:ln/>
        </p:spPr>
        <p:txBody>
          <a:bodyPr wrap="square" lIns="0" tIns="0" rIns="0" bIns="0" rtlCol="0" anchor="ctr"/>
          <a:lstStyle/>
          <a:p>
            <a:pPr marL="0" indent="0">
              <a:buNone/>
            </a:pPr>
            <a:r>
              <a:rPr lang="en-US" sz="1400" i="1" dirty="0">
                <a:solidFill>
                  <a:srgbClr val="9BB0C4"/>
                </a:solidFill>
                <a:latin typeface="Calibri" pitchFamily="34" charset="0"/>
                <a:ea typeface="Calibri" pitchFamily="34" charset="-122"/>
                <a:cs typeface="Calibri" pitchFamily="34" charset="-120"/>
              </a:rPr>
              <a:t>Individual differences are large, so every trainee is measured against their own quiet baseline first.</a:t>
            </a:r>
            <a:endParaRPr lang="en-US" sz="1400" dirty="0"/>
          </a:p>
        </p:txBody>
      </p:sp>
    </p:spTree>
  </p:cSld>
  <p:clrMapOvr>
    <a:masterClrMapping/>
  </p:clrMapOvr>
  <p:transition spd="slow" advClick="0" advTm="2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1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nodeType="withEffect">
                                  <p:stCondLst>
                                    <p:cond delay="15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nodeType="withEffect">
                                  <p:stCondLst>
                                    <p:cond delay="3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nodeType="withEffect">
                                  <p:stCondLst>
                                    <p:cond delay="30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par>
                                <p:cTn id="23" presetID="10" presetClass="entr" presetSubtype="0" fill="hold" nodeType="withEffect">
                                  <p:stCondLst>
                                    <p:cond delay="45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00"/>
                                        <p:tgtEl>
                                          <p:spTgt spid="11"/>
                                        </p:tgtEl>
                                      </p:cBhvr>
                                    </p:animEffect>
                                  </p:childTnLst>
                                </p:cTn>
                              </p:par>
                              <p:par>
                                <p:cTn id="26" presetID="10" presetClass="entr" presetSubtype="0" fill="hold" nodeType="withEffect">
                                  <p:stCondLst>
                                    <p:cond delay="45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childTnLst>
                          </p:cTn>
                        </p:par>
                      </p:childTnLst>
                    </p:cTn>
                  </p:par>
                  <p:par>
                    <p:cTn id="29" fill="hold">
                      <p:stCondLst>
                        <p:cond delay="11650"/>
                      </p:stCondLst>
                      <p:childTnLst>
                        <p:par>
                          <p:cTn id="30" fill="hold">
                            <p:stCondLst>
                              <p:cond delay="0"/>
                            </p:stCondLst>
                            <p:childTnLst>
                              <p:par>
                                <p:cTn id="31" presetID="10" presetClass="entr" presetSubtype="0" fill="hold" nodeType="after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par>
                                <p:cTn id="37" presetID="10" presetClass="entr" presetSubtype="0" fill="hold" nodeType="withEffect">
                                  <p:stCondLst>
                                    <p:cond delay="15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par>
                                <p:cTn id="40" presetID="10" presetClass="entr" presetSubtype="0" fill="hold" nodeType="withEffect">
                                  <p:stCondLst>
                                    <p:cond delay="15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00"/>
                                        <p:tgtEl>
                                          <p:spTgt spid="16"/>
                                        </p:tgtEl>
                                      </p:cBhvr>
                                    </p:animEffect>
                                  </p:childTnLst>
                                </p:cTn>
                              </p:par>
                              <p:par>
                                <p:cTn id="43" presetID="10" presetClass="entr" presetSubtype="0" fill="hold" nodeType="withEffect">
                                  <p:stCondLst>
                                    <p:cond delay="30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PART 2 · HOW IT DECIDES</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When a sense is full, take something away</a:t>
            </a:r>
            <a:endParaRPr lang="en-US" sz="3600" dirty="0"/>
          </a:p>
        </p:txBody>
      </p:sp>
      <p:sp>
        <p:nvSpPr>
          <p:cNvPr id="5" name="a1_01b"/>
          <p:cNvSpPr/>
          <p:nvPr/>
        </p:nvSpPr>
        <p:spPr>
          <a:xfrm>
            <a:off x="1014992" y="1463040"/>
            <a:ext cx="10161710" cy="4069080"/>
          </a:xfrm>
          <a:prstGeom prst="roundRect">
            <a:avLst>
              <a:gd name="adj" fmla="val 1124"/>
            </a:avLst>
          </a:prstGeom>
          <a:solidFill>
            <a:srgbClr val="FFFFFF"/>
          </a:solidFill>
          <a:ln w="12700">
            <a:solidFill>
              <a:srgbClr val="FFFFFF"/>
            </a:solidFill>
            <a:prstDash val="solid"/>
          </a:ln>
          <a:effectLst>
            <a:outerShdw blurRad="228600" dist="50800" dir="5400000" algn="bl" rotWithShape="0">
              <a:srgbClr val="000000">
                <a:alpha val="45000"/>
              </a:srgbClr>
            </a:outerShdw>
          </a:effectLst>
        </p:spPr>
        <p:txBody>
          <a:bodyPr/>
          <a:lstStyle/>
          <a:p>
            <a:endParaRPr lang="en-CA"/>
          </a:p>
        </p:txBody>
      </p:sp>
      <p:pic>
        <p:nvPicPr>
          <p:cNvPr id="6" name="a1_01i" descr="/home/claude/repo/cognisim/figures/fig5_cogload.png"/>
          <p:cNvPicPr>
            <a:picLocks noChangeAspect="1"/>
          </p:cNvPicPr>
          <p:nvPr/>
        </p:nvPicPr>
        <p:blipFill>
          <a:blip r:embed="rId3"/>
          <a:stretch>
            <a:fillRect/>
          </a:stretch>
        </p:blipFill>
        <p:spPr>
          <a:xfrm>
            <a:off x="1106432" y="1554480"/>
            <a:ext cx="9978830" cy="3886200"/>
          </a:xfrm>
          <a:prstGeom prst="rect">
            <a:avLst/>
          </a:prstGeom>
        </p:spPr>
      </p:pic>
      <p:sp>
        <p:nvSpPr>
          <p:cNvPr id="7" name="a2_01"/>
          <p:cNvSpPr txBox="1"/>
          <p:nvPr/>
        </p:nvSpPr>
        <p:spPr>
          <a:xfrm>
            <a:off x="566928" y="6199632"/>
            <a:ext cx="11057839" cy="365760"/>
          </a:xfrm>
          <a:prstGeom prst="rect">
            <a:avLst/>
          </a:prstGeom>
          <a:noFill/>
          <a:ln/>
        </p:spPr>
        <p:txBody>
          <a:bodyPr wrap="square" lIns="0" tIns="0" rIns="0" bIns="0" rtlCol="0" anchor="ctr"/>
          <a:lstStyle/>
          <a:p>
            <a:pPr marL="0" indent="0">
              <a:buNone/>
            </a:pPr>
            <a:r>
              <a:rPr lang="en-US" sz="1400" i="1" dirty="0">
                <a:solidFill>
                  <a:srgbClr val="9BB0C4"/>
                </a:solidFill>
                <a:latin typeface="Calibri" pitchFamily="34" charset="0"/>
                <a:ea typeface="Calibri" pitchFamily="34" charset="-122"/>
                <a:cs typeface="Calibri" pitchFamily="34" charset="-120"/>
              </a:rPr>
              <a:t>Three levers: difficulty, content, pace. Plus a fourth move, taking the clutter away.</a:t>
            </a:r>
            <a:endParaRPr lang="en-US" sz="1400" dirty="0"/>
          </a:p>
        </p:txBody>
      </p:sp>
    </p:spTree>
  </p:cSld>
  <p:clrMapOvr>
    <a:masterClrMapping/>
  </p:clrMapOvr>
  <p:transition spd="slow" advClick="0" advTm="2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11650"/>
                      </p:stCondLst>
                      <p:childTnLst>
                        <p:par>
                          <p:cTn id="12" fill="hold">
                            <p:stCondLst>
                              <p:cond delay="0"/>
                            </p:stCondLst>
                            <p:childTnLst>
                              <p:par>
                                <p:cTn id="13" presetID="10" presetClass="entr" presetSubtype="0" fill="hold"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PART 3 · HOW IT SPEAKS</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Help that never stops the flight</a:t>
            </a:r>
            <a:endParaRPr lang="en-US" sz="3600" dirty="0"/>
          </a:p>
        </p:txBody>
      </p:sp>
      <p:sp>
        <p:nvSpPr>
          <p:cNvPr id="5" name="a1_01b"/>
          <p:cNvSpPr/>
          <p:nvPr/>
        </p:nvSpPr>
        <p:spPr>
          <a:xfrm>
            <a:off x="566928" y="1600200"/>
            <a:ext cx="5669280" cy="1783080"/>
          </a:xfrm>
          <a:prstGeom prst="roundRect">
            <a:avLst>
              <a:gd name="adj" fmla="val 4103"/>
            </a:avLst>
          </a:prstGeom>
          <a:solidFill>
            <a:srgbClr val="12314A"/>
          </a:solidFill>
          <a:ln w="12700">
            <a:solidFill>
              <a:srgbClr val="2F6577"/>
            </a:solidFill>
            <a:prstDash val="solid"/>
          </a:ln>
        </p:spPr>
        <p:txBody>
          <a:bodyPr/>
          <a:lstStyle/>
          <a:p>
            <a:endParaRPr lang="en-CA"/>
          </a:p>
        </p:txBody>
      </p:sp>
      <p:sp>
        <p:nvSpPr>
          <p:cNvPr id="6" name="a1_01"/>
          <p:cNvSpPr txBox="1"/>
          <p:nvPr/>
        </p:nvSpPr>
        <p:spPr>
          <a:xfrm>
            <a:off x="886968" y="1783080"/>
            <a:ext cx="5029200" cy="1097280"/>
          </a:xfrm>
          <a:prstGeom prst="rect">
            <a:avLst/>
          </a:prstGeom>
          <a:noFill/>
          <a:ln/>
        </p:spPr>
        <p:txBody>
          <a:bodyPr wrap="square" lIns="0" tIns="0" rIns="0" bIns="0" rtlCol="0" anchor="ctr"/>
          <a:lstStyle/>
          <a:p>
            <a:pPr marL="0" indent="0">
              <a:lnSpc>
                <a:spcPct val="120000"/>
              </a:lnSpc>
              <a:buNone/>
            </a:pPr>
            <a:r>
              <a:rPr lang="en-US" sz="2100" i="1" dirty="0">
                <a:solidFill>
                  <a:srgbClr val="EAF2F8"/>
                </a:solidFill>
                <a:latin typeface="Calibri" pitchFamily="34" charset="0"/>
                <a:ea typeface="Calibri" pitchFamily="34" charset="-122"/>
                <a:cs typeface="Calibri" pitchFamily="34" charset="-120"/>
              </a:rPr>
              <a:t>“I have the radios; you fly the aircraft.</a:t>
            </a:r>
            <a:endParaRPr lang="en-US" sz="2100" dirty="0"/>
          </a:p>
          <a:p>
            <a:pPr marL="0" indent="0">
              <a:lnSpc>
                <a:spcPct val="120000"/>
              </a:lnSpc>
              <a:buNone/>
            </a:pPr>
            <a:r>
              <a:rPr lang="en-US" sz="2100" i="1" dirty="0">
                <a:solidFill>
                  <a:srgbClr val="EAF2F8"/>
                </a:solidFill>
                <a:latin typeface="Calibri" pitchFamily="34" charset="0"/>
                <a:ea typeface="Calibri" pitchFamily="34" charset="-122"/>
                <a:cs typeface="Calibri" pitchFamily="34" charset="-120"/>
              </a:rPr>
              <a:t>Positive rate, gear up.”</a:t>
            </a:r>
            <a:endParaRPr lang="en-US" sz="2100" dirty="0"/>
          </a:p>
        </p:txBody>
      </p:sp>
      <p:sp>
        <p:nvSpPr>
          <p:cNvPr id="7" name="a1_02"/>
          <p:cNvSpPr txBox="1"/>
          <p:nvPr/>
        </p:nvSpPr>
        <p:spPr>
          <a:xfrm>
            <a:off x="886968" y="2907792"/>
            <a:ext cx="5029200" cy="292608"/>
          </a:xfrm>
          <a:prstGeom prst="rect">
            <a:avLst/>
          </a:prstGeom>
          <a:noFill/>
          <a:ln/>
        </p:spPr>
        <p:txBody>
          <a:bodyPr wrap="square" lIns="0" tIns="0" rIns="0" bIns="0" rtlCol="0" anchor="ctr"/>
          <a:lstStyle/>
          <a:p>
            <a:pPr marL="0" indent="0">
              <a:buNone/>
            </a:pPr>
            <a:r>
              <a:rPr lang="en-US" sz="1400" dirty="0">
                <a:solidFill>
                  <a:srgbClr val="9BB0C4"/>
                </a:solidFill>
                <a:latin typeface="Calibri" pitchFamily="34" charset="0"/>
                <a:ea typeface="Calibri" pitchFamily="34" charset="-122"/>
                <a:cs typeface="Calibri" pitchFamily="34" charset="-120"/>
              </a:rPr>
              <a:t>the virtual first officer, staying in character</a:t>
            </a:r>
            <a:endParaRPr lang="en-US" sz="1400" dirty="0"/>
          </a:p>
        </p:txBody>
      </p:sp>
      <p:sp>
        <p:nvSpPr>
          <p:cNvPr id="8" name="a2_01b"/>
          <p:cNvSpPr/>
          <p:nvPr/>
        </p:nvSpPr>
        <p:spPr>
          <a:xfrm>
            <a:off x="566928" y="3611880"/>
            <a:ext cx="5669280" cy="1737360"/>
          </a:xfrm>
          <a:prstGeom prst="roundRect">
            <a:avLst>
              <a:gd name="adj" fmla="val 4211"/>
            </a:avLst>
          </a:prstGeom>
          <a:solidFill>
            <a:srgbClr val="152A45"/>
          </a:solidFill>
          <a:ln w="12700">
            <a:solidFill>
              <a:srgbClr val="27425F"/>
            </a:solidFill>
            <a:prstDash val="solid"/>
          </a:ln>
        </p:spPr>
        <p:txBody>
          <a:bodyPr/>
          <a:lstStyle/>
          <a:p>
            <a:endParaRPr lang="en-CA"/>
          </a:p>
        </p:txBody>
      </p:sp>
      <p:sp>
        <p:nvSpPr>
          <p:cNvPr id="9" name="a2_01e"/>
          <p:cNvSpPr txBox="1"/>
          <p:nvPr/>
        </p:nvSpPr>
        <p:spPr>
          <a:xfrm>
            <a:off x="841248" y="3794760"/>
            <a:ext cx="5120640"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Nothing is paused</a:t>
            </a:r>
            <a:endParaRPr lang="en-US" sz="1900" dirty="0"/>
          </a:p>
        </p:txBody>
      </p:sp>
      <p:sp>
        <p:nvSpPr>
          <p:cNvPr id="10" name="a2_01f"/>
          <p:cNvSpPr txBox="1"/>
          <p:nvPr/>
        </p:nvSpPr>
        <p:spPr>
          <a:xfrm>
            <a:off x="841248" y="4398264"/>
            <a:ext cx="5120640" cy="82296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The coaching is part of the flight, so crew coordination is trained rather than interrupted.</a:t>
            </a:r>
            <a:endParaRPr lang="en-US" sz="1500" dirty="0"/>
          </a:p>
        </p:txBody>
      </p:sp>
      <p:sp>
        <p:nvSpPr>
          <p:cNvPr id="11" name="a2_02b"/>
          <p:cNvSpPr/>
          <p:nvPr/>
        </p:nvSpPr>
        <p:spPr>
          <a:xfrm>
            <a:off x="6510528" y="2304288"/>
            <a:ext cx="5166360" cy="2411603"/>
          </a:xfrm>
          <a:prstGeom prst="roundRect">
            <a:avLst>
              <a:gd name="adj" fmla="val 1896"/>
            </a:avLst>
          </a:prstGeom>
          <a:solidFill>
            <a:srgbClr val="FFFFFF"/>
          </a:solidFill>
          <a:ln w="12700">
            <a:solidFill>
              <a:srgbClr val="FFFFFF"/>
            </a:solidFill>
            <a:prstDash val="solid"/>
          </a:ln>
          <a:effectLst>
            <a:outerShdw blurRad="228600" dist="50800" dir="5400000" algn="bl" rotWithShape="0">
              <a:srgbClr val="000000">
                <a:alpha val="45000"/>
              </a:srgbClr>
            </a:outerShdw>
          </a:effectLst>
        </p:spPr>
        <p:txBody>
          <a:bodyPr/>
          <a:lstStyle/>
          <a:p>
            <a:endParaRPr lang="en-CA"/>
          </a:p>
        </p:txBody>
      </p:sp>
      <p:pic>
        <p:nvPicPr>
          <p:cNvPr id="12" name="a2_02i" descr="/home/claude/repo/cognisim/figures/fig3_simulation.png"/>
          <p:cNvPicPr>
            <a:picLocks noChangeAspect="1"/>
          </p:cNvPicPr>
          <p:nvPr/>
        </p:nvPicPr>
        <p:blipFill>
          <a:blip r:embed="rId3"/>
          <a:stretch>
            <a:fillRect/>
          </a:stretch>
        </p:blipFill>
        <p:spPr>
          <a:xfrm>
            <a:off x="6601968" y="2395728"/>
            <a:ext cx="4983480" cy="2228723"/>
          </a:xfrm>
          <a:prstGeom prst="rect">
            <a:avLst/>
          </a:prstGeom>
        </p:spPr>
      </p:pic>
    </p:spTree>
  </p:cSld>
  <p:clrMapOvr>
    <a:masterClrMapping/>
  </p:clrMapOvr>
  <p:transition spd="slow" advClick="0" advTm="20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1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childTnLst>
                          </p:cTn>
                        </p:par>
                      </p:childTnLst>
                    </p:cTn>
                  </p:par>
                  <p:par>
                    <p:cTn id="14" fill="hold">
                      <p:stCondLst>
                        <p:cond delay="9150"/>
                      </p:stCondLst>
                      <p:childTnLst>
                        <p:par>
                          <p:cTn id="15" fill="hold">
                            <p:stCondLst>
                              <p:cond delay="0"/>
                            </p:stCondLst>
                            <p:childTnLst>
                              <p:par>
                                <p:cTn id="16" presetID="10" presetClass="entr" presetSubtype="0" fill="hold"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nodeType="withEffect">
                                  <p:stCondLst>
                                    <p:cond delay="1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nodeType="withEffect">
                                  <p:stCondLst>
                                    <p:cond delay="15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PART 4 · WHAT IT RECORDS</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Six measurements, one competency record</a:t>
            </a:r>
            <a:endParaRPr lang="en-US" sz="3600" dirty="0"/>
          </a:p>
        </p:txBody>
      </p:sp>
      <p:sp>
        <p:nvSpPr>
          <p:cNvPr id="5" name="a1_01b"/>
          <p:cNvSpPr/>
          <p:nvPr/>
        </p:nvSpPr>
        <p:spPr>
          <a:xfrm>
            <a:off x="566928" y="1645920"/>
            <a:ext cx="356616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6" name="a1_01e"/>
          <p:cNvSpPr txBox="1"/>
          <p:nvPr/>
        </p:nvSpPr>
        <p:spPr>
          <a:xfrm>
            <a:off x="841248" y="1828800"/>
            <a:ext cx="3017520"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Time to act</a:t>
            </a:r>
            <a:endParaRPr lang="en-US" sz="1900" dirty="0"/>
          </a:p>
        </p:txBody>
      </p:sp>
      <p:sp>
        <p:nvSpPr>
          <p:cNvPr id="7" name="a1_01f"/>
          <p:cNvSpPr txBox="1"/>
          <p:nvPr/>
        </p:nvSpPr>
        <p:spPr>
          <a:xfrm>
            <a:off x="841248" y="2432304"/>
            <a:ext cx="301752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Between seeing something and doing something.</a:t>
            </a:r>
            <a:endParaRPr lang="en-US" sz="1500" dirty="0"/>
          </a:p>
        </p:txBody>
      </p:sp>
      <p:sp>
        <p:nvSpPr>
          <p:cNvPr id="8" name="a1_02b"/>
          <p:cNvSpPr/>
          <p:nvPr/>
        </p:nvSpPr>
        <p:spPr>
          <a:xfrm>
            <a:off x="4334256" y="1645920"/>
            <a:ext cx="356616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9" name="a1_02e"/>
          <p:cNvSpPr txBox="1"/>
          <p:nvPr/>
        </p:nvSpPr>
        <p:spPr>
          <a:xfrm>
            <a:off x="4608576" y="1828800"/>
            <a:ext cx="3017520"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Recovery</a:t>
            </a:r>
            <a:endParaRPr lang="en-US" sz="1900" dirty="0"/>
          </a:p>
        </p:txBody>
      </p:sp>
      <p:sp>
        <p:nvSpPr>
          <p:cNvPr id="10" name="a1_02f"/>
          <p:cNvSpPr txBox="1"/>
          <p:nvPr/>
        </p:nvSpPr>
        <p:spPr>
          <a:xfrm>
            <a:off x="4608576" y="2432304"/>
            <a:ext cx="301752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How fast the pilot came back once help arrived.</a:t>
            </a:r>
            <a:endParaRPr lang="en-US" sz="1500" dirty="0"/>
          </a:p>
        </p:txBody>
      </p:sp>
      <p:sp>
        <p:nvSpPr>
          <p:cNvPr id="11" name="a1_03b"/>
          <p:cNvSpPr/>
          <p:nvPr/>
        </p:nvSpPr>
        <p:spPr>
          <a:xfrm>
            <a:off x="8101584" y="1645920"/>
            <a:ext cx="356616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12" name="a1_03e"/>
          <p:cNvSpPr txBox="1"/>
          <p:nvPr/>
        </p:nvSpPr>
        <p:spPr>
          <a:xfrm>
            <a:off x="8375904" y="1828800"/>
            <a:ext cx="3017520"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Steadiness</a:t>
            </a:r>
            <a:endParaRPr lang="en-US" sz="1900" dirty="0"/>
          </a:p>
        </p:txBody>
      </p:sp>
      <p:sp>
        <p:nvSpPr>
          <p:cNvPr id="13" name="a1_03f"/>
          <p:cNvSpPr txBox="1"/>
          <p:nvPr/>
        </p:nvSpPr>
        <p:spPr>
          <a:xfrm>
            <a:off x="8375904" y="2432304"/>
            <a:ext cx="301752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Heart, skin and pupil, read together.</a:t>
            </a:r>
            <a:endParaRPr lang="en-US" sz="1500" dirty="0"/>
          </a:p>
        </p:txBody>
      </p:sp>
      <p:sp>
        <p:nvSpPr>
          <p:cNvPr id="14" name="a2_01b"/>
          <p:cNvSpPr/>
          <p:nvPr/>
        </p:nvSpPr>
        <p:spPr>
          <a:xfrm>
            <a:off x="566928" y="3520440"/>
            <a:ext cx="356616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15" name="a2_01e"/>
          <p:cNvSpPr txBox="1"/>
          <p:nvPr/>
        </p:nvSpPr>
        <p:spPr>
          <a:xfrm>
            <a:off x="841248" y="3703320"/>
            <a:ext cx="3017520"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Scan quality</a:t>
            </a:r>
            <a:endParaRPr lang="en-US" sz="1900" dirty="0"/>
          </a:p>
        </p:txBody>
      </p:sp>
      <p:sp>
        <p:nvSpPr>
          <p:cNvPr id="16" name="a2_01f"/>
          <p:cNvSpPr txBox="1"/>
          <p:nvPr/>
        </p:nvSpPr>
        <p:spPr>
          <a:xfrm>
            <a:off x="841248" y="4306824"/>
            <a:ext cx="301752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How closely the eye pattern matched the ideal.</a:t>
            </a:r>
            <a:endParaRPr lang="en-US" sz="1500" dirty="0"/>
          </a:p>
        </p:txBody>
      </p:sp>
      <p:sp>
        <p:nvSpPr>
          <p:cNvPr id="17" name="a2_02b"/>
          <p:cNvSpPr/>
          <p:nvPr/>
        </p:nvSpPr>
        <p:spPr>
          <a:xfrm>
            <a:off x="4334256" y="3520440"/>
            <a:ext cx="356616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18" name="a2_02e"/>
          <p:cNvSpPr txBox="1"/>
          <p:nvPr/>
        </p:nvSpPr>
        <p:spPr>
          <a:xfrm>
            <a:off x="4608576" y="3703320"/>
            <a:ext cx="3017520"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Voice strain</a:t>
            </a:r>
            <a:endParaRPr lang="en-US" sz="1900" dirty="0"/>
          </a:p>
        </p:txBody>
      </p:sp>
      <p:sp>
        <p:nvSpPr>
          <p:cNvPr id="19" name="a2_02f"/>
          <p:cNvSpPr txBox="1"/>
          <p:nvPr/>
        </p:nvSpPr>
        <p:spPr>
          <a:xfrm>
            <a:off x="4608576" y="4306824"/>
            <a:ext cx="301752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How much stress showed in the callouts.</a:t>
            </a:r>
            <a:endParaRPr lang="en-US" sz="1500" dirty="0"/>
          </a:p>
        </p:txBody>
      </p:sp>
      <p:sp>
        <p:nvSpPr>
          <p:cNvPr id="20" name="a2_03b"/>
          <p:cNvSpPr/>
          <p:nvPr/>
        </p:nvSpPr>
        <p:spPr>
          <a:xfrm>
            <a:off x="8101584" y="3520440"/>
            <a:ext cx="356616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21" name="a2_03e"/>
          <p:cNvSpPr txBox="1"/>
          <p:nvPr/>
        </p:nvSpPr>
        <p:spPr>
          <a:xfrm>
            <a:off x="8375904" y="3703320"/>
            <a:ext cx="3017520"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Procedure</a:t>
            </a:r>
            <a:endParaRPr lang="en-US" sz="1900" dirty="0"/>
          </a:p>
        </p:txBody>
      </p:sp>
      <p:sp>
        <p:nvSpPr>
          <p:cNvPr id="22" name="a2_03f"/>
          <p:cNvSpPr txBox="1"/>
          <p:nvPr/>
        </p:nvSpPr>
        <p:spPr>
          <a:xfrm>
            <a:off x="8375904" y="4306824"/>
            <a:ext cx="301752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Scored by software, so grading is consistent.</a:t>
            </a:r>
            <a:endParaRPr lang="en-US" sz="1500" dirty="0"/>
          </a:p>
        </p:txBody>
      </p:sp>
      <p:sp>
        <p:nvSpPr>
          <p:cNvPr id="23" name="a2_04"/>
          <p:cNvSpPr txBox="1"/>
          <p:nvPr/>
        </p:nvSpPr>
        <p:spPr>
          <a:xfrm>
            <a:off x="566928" y="6199632"/>
            <a:ext cx="11057839" cy="365760"/>
          </a:xfrm>
          <a:prstGeom prst="rect">
            <a:avLst/>
          </a:prstGeom>
          <a:noFill/>
          <a:ln/>
        </p:spPr>
        <p:txBody>
          <a:bodyPr wrap="square" lIns="0" tIns="0" rIns="0" bIns="0" rtlCol="0" anchor="ctr"/>
          <a:lstStyle/>
          <a:p>
            <a:pPr marL="0" indent="0">
              <a:buNone/>
            </a:pPr>
            <a:r>
              <a:rPr lang="en-US" sz="1400" i="1" dirty="0">
                <a:solidFill>
                  <a:srgbClr val="9BB0C4"/>
                </a:solidFill>
                <a:latin typeface="Calibri" pitchFamily="34" charset="0"/>
                <a:ea typeface="Calibri" pitchFamily="34" charset="-122"/>
                <a:cs typeface="Calibri" pitchFamily="34" charset="-120"/>
              </a:rPr>
              <a:t>Every change the system made is stored next to the reading that caused it.</a:t>
            </a:r>
            <a:endParaRPr lang="en-US" sz="1400" dirty="0"/>
          </a:p>
        </p:txBody>
      </p:sp>
    </p:spTree>
  </p:cSld>
  <p:clrMapOvr>
    <a:masterClrMapping/>
  </p:clrMapOvr>
  <p:transition spd="slow" advClick="0" advTm="1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nodeType="withEffect">
                                  <p:stCondLst>
                                    <p:cond delay="15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nodeType="withEffect">
                                  <p:stCondLst>
                                    <p:cond delay="15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nodeType="withEffect">
                                  <p:stCondLst>
                                    <p:cond delay="1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par>
                                <p:cTn id="23" presetID="10" presetClass="entr" presetSubtype="0" fill="hold" nodeType="withEffect">
                                  <p:stCondLst>
                                    <p:cond delay="30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00"/>
                                        <p:tgtEl>
                                          <p:spTgt spid="11"/>
                                        </p:tgtEl>
                                      </p:cBhvr>
                                    </p:animEffect>
                                  </p:childTnLst>
                                </p:cTn>
                              </p:par>
                              <p:par>
                                <p:cTn id="26" presetID="10" presetClass="entr" presetSubtype="0" fill="hold" nodeType="withEffect">
                                  <p:stCondLst>
                                    <p:cond delay="30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par>
                                <p:cTn id="29" presetID="10" presetClass="entr" presetSubtype="0" fill="hold" nodeType="withEffect">
                                  <p:stCondLst>
                                    <p:cond delay="30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childTnLst>
                          </p:cTn>
                        </p:par>
                      </p:childTnLst>
                    </p:cTn>
                  </p:par>
                  <p:par>
                    <p:cTn id="32" fill="hold">
                      <p:stCondLst>
                        <p:cond delay="6650"/>
                      </p:stCondLst>
                      <p:childTnLst>
                        <p:par>
                          <p:cTn id="33" fill="hold">
                            <p:stCondLst>
                              <p:cond delay="0"/>
                            </p:stCondLst>
                            <p:childTnLst>
                              <p:par>
                                <p:cTn id="34" presetID="10" presetClass="entr" presetSubtype="0" fill="hold" nodeType="after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par>
                                <p:cTn id="40" presetID="10" presetClass="entr" presetSubtype="0" fill="hold"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00"/>
                                        <p:tgtEl>
                                          <p:spTgt spid="16"/>
                                        </p:tgtEl>
                                      </p:cBhvr>
                                    </p:animEffect>
                                  </p:childTnLst>
                                </p:cTn>
                              </p:par>
                              <p:par>
                                <p:cTn id="43" presetID="10" presetClass="entr" presetSubtype="0" fill="hold" nodeType="withEffect">
                                  <p:stCondLst>
                                    <p:cond delay="15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00"/>
                                        <p:tgtEl>
                                          <p:spTgt spid="17"/>
                                        </p:tgtEl>
                                      </p:cBhvr>
                                    </p:animEffect>
                                  </p:childTnLst>
                                </p:cTn>
                              </p:par>
                              <p:par>
                                <p:cTn id="46" presetID="10" presetClass="entr" presetSubtype="0" fill="hold" nodeType="withEffect">
                                  <p:stCondLst>
                                    <p:cond delay="15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00"/>
                                        <p:tgtEl>
                                          <p:spTgt spid="18"/>
                                        </p:tgtEl>
                                      </p:cBhvr>
                                    </p:animEffect>
                                  </p:childTnLst>
                                </p:cTn>
                              </p:par>
                              <p:par>
                                <p:cTn id="49" presetID="10" presetClass="entr" presetSubtype="0" fill="hold" nodeType="withEffect">
                                  <p:stCondLst>
                                    <p:cond delay="15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par>
                                <p:cTn id="52" presetID="10" presetClass="entr" presetSubtype="0" fill="hold" nodeType="withEffect">
                                  <p:stCondLst>
                                    <p:cond delay="30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par>
                                <p:cTn id="55" presetID="10" presetClass="entr" presetSubtype="0" fill="hold" nodeType="withEffect">
                                  <p:stCondLst>
                                    <p:cond delay="30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00"/>
                                        <p:tgtEl>
                                          <p:spTgt spid="21"/>
                                        </p:tgtEl>
                                      </p:cBhvr>
                                    </p:animEffect>
                                  </p:childTnLst>
                                </p:cTn>
                              </p:par>
                              <p:par>
                                <p:cTn id="58" presetID="10" presetClass="entr" presetSubtype="0" fill="hold" nodeType="withEffect">
                                  <p:stCondLst>
                                    <p:cond delay="30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400"/>
                                        <p:tgtEl>
                                          <p:spTgt spid="22"/>
                                        </p:tgtEl>
                                      </p:cBhvr>
                                    </p:animEffect>
                                  </p:childTnLst>
                                </p:cTn>
                              </p:par>
                              <p:par>
                                <p:cTn id="61" presetID="10" presetClass="entr" presetSubtype="0" fill="hold" nodeType="withEffect">
                                  <p:stCondLst>
                                    <p:cond delay="45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ACTIVITY 1</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Fly it</a:t>
            </a:r>
            <a:endParaRPr lang="en-US" sz="3600" dirty="0"/>
          </a:p>
        </p:txBody>
      </p:sp>
      <p:sp>
        <p:nvSpPr>
          <p:cNvPr id="5" name="a1_01b"/>
          <p:cNvSpPr/>
          <p:nvPr/>
        </p:nvSpPr>
        <p:spPr>
          <a:xfrm>
            <a:off x="566928" y="1737360"/>
            <a:ext cx="3566160" cy="2651760"/>
          </a:xfrm>
          <a:prstGeom prst="roundRect">
            <a:avLst>
              <a:gd name="adj" fmla="val 2759"/>
            </a:avLst>
          </a:prstGeom>
          <a:solidFill>
            <a:srgbClr val="152A45"/>
          </a:solidFill>
          <a:ln w="12700">
            <a:solidFill>
              <a:srgbClr val="27425F"/>
            </a:solidFill>
            <a:prstDash val="solid"/>
          </a:ln>
        </p:spPr>
        <p:txBody>
          <a:bodyPr/>
          <a:lstStyle/>
          <a:p>
            <a:endParaRPr lang="en-CA"/>
          </a:p>
        </p:txBody>
      </p:sp>
      <p:sp>
        <p:nvSpPr>
          <p:cNvPr id="6" name="a1_01c"/>
          <p:cNvSpPr/>
          <p:nvPr/>
        </p:nvSpPr>
        <p:spPr>
          <a:xfrm>
            <a:off x="804672" y="1956816"/>
            <a:ext cx="402336" cy="402336"/>
          </a:xfrm>
          <a:prstGeom prst="ellipse">
            <a:avLst/>
          </a:prstGeom>
          <a:solidFill>
            <a:srgbClr val="4ED8E6"/>
          </a:solidFill>
          <a:ln/>
        </p:spPr>
        <p:txBody>
          <a:bodyPr/>
          <a:lstStyle/>
          <a:p>
            <a:endParaRPr lang="en-CA"/>
          </a:p>
        </p:txBody>
      </p:sp>
      <p:sp>
        <p:nvSpPr>
          <p:cNvPr id="7" name="a1_01d"/>
          <p:cNvSpPr txBox="1"/>
          <p:nvPr/>
        </p:nvSpPr>
        <p:spPr>
          <a:xfrm>
            <a:off x="804672" y="195681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1</a:t>
            </a:r>
            <a:endParaRPr lang="en-US" sz="1700" dirty="0"/>
          </a:p>
        </p:txBody>
      </p:sp>
      <p:sp>
        <p:nvSpPr>
          <p:cNvPr id="8" name="a1_01e"/>
          <p:cNvSpPr txBox="1"/>
          <p:nvPr/>
        </p:nvSpPr>
        <p:spPr>
          <a:xfrm>
            <a:off x="1353312" y="1920240"/>
            <a:ext cx="2505456"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The aircraft</a:t>
            </a:r>
            <a:endParaRPr lang="en-US" sz="1900" dirty="0"/>
          </a:p>
        </p:txBody>
      </p:sp>
      <p:sp>
        <p:nvSpPr>
          <p:cNvPr id="9" name="a1_01f"/>
          <p:cNvSpPr txBox="1"/>
          <p:nvPr/>
        </p:nvSpPr>
        <p:spPr>
          <a:xfrm>
            <a:off x="841248" y="2523744"/>
            <a:ext cx="3017520" cy="173736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A Boeing 737, taking off from a runway with standing water on it.</a:t>
            </a:r>
            <a:endParaRPr lang="en-US" sz="1500" dirty="0"/>
          </a:p>
        </p:txBody>
      </p:sp>
      <p:sp>
        <p:nvSpPr>
          <p:cNvPr id="10" name="a1_02b"/>
          <p:cNvSpPr/>
          <p:nvPr/>
        </p:nvSpPr>
        <p:spPr>
          <a:xfrm>
            <a:off x="4334256" y="1737360"/>
            <a:ext cx="3566160" cy="2651760"/>
          </a:xfrm>
          <a:prstGeom prst="roundRect">
            <a:avLst>
              <a:gd name="adj" fmla="val 2759"/>
            </a:avLst>
          </a:prstGeom>
          <a:solidFill>
            <a:srgbClr val="152A45"/>
          </a:solidFill>
          <a:ln w="12700">
            <a:solidFill>
              <a:srgbClr val="27425F"/>
            </a:solidFill>
            <a:prstDash val="solid"/>
          </a:ln>
        </p:spPr>
        <p:txBody>
          <a:bodyPr/>
          <a:lstStyle/>
          <a:p>
            <a:endParaRPr lang="en-CA"/>
          </a:p>
        </p:txBody>
      </p:sp>
      <p:sp>
        <p:nvSpPr>
          <p:cNvPr id="11" name="a1_02c"/>
          <p:cNvSpPr/>
          <p:nvPr/>
        </p:nvSpPr>
        <p:spPr>
          <a:xfrm>
            <a:off x="4572000" y="1956816"/>
            <a:ext cx="402336" cy="402336"/>
          </a:xfrm>
          <a:prstGeom prst="ellipse">
            <a:avLst/>
          </a:prstGeom>
          <a:solidFill>
            <a:srgbClr val="FF8A5B"/>
          </a:solidFill>
          <a:ln/>
        </p:spPr>
        <p:txBody>
          <a:bodyPr/>
          <a:lstStyle/>
          <a:p>
            <a:endParaRPr lang="en-CA"/>
          </a:p>
        </p:txBody>
      </p:sp>
      <p:sp>
        <p:nvSpPr>
          <p:cNvPr id="12" name="a1_02d"/>
          <p:cNvSpPr txBox="1"/>
          <p:nvPr/>
        </p:nvSpPr>
        <p:spPr>
          <a:xfrm>
            <a:off x="4572000" y="195681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2</a:t>
            </a:r>
            <a:endParaRPr lang="en-US" sz="1700" dirty="0"/>
          </a:p>
        </p:txBody>
      </p:sp>
      <p:sp>
        <p:nvSpPr>
          <p:cNvPr id="13" name="a1_02e"/>
          <p:cNvSpPr txBox="1"/>
          <p:nvPr/>
        </p:nvSpPr>
        <p:spPr>
          <a:xfrm>
            <a:off x="5120640" y="1920240"/>
            <a:ext cx="2505456" cy="457200"/>
          </a:xfrm>
          <a:prstGeom prst="rect">
            <a:avLst/>
          </a:prstGeom>
          <a:noFill/>
          <a:ln/>
        </p:spPr>
        <p:txBody>
          <a:bodyPr wrap="square" lIns="0" tIns="0" rIns="0" bIns="0" rtlCol="0" anchor="ctr"/>
          <a:lstStyle/>
          <a:p>
            <a:pPr marL="0" indent="0">
              <a:buNone/>
            </a:pPr>
            <a:r>
              <a:rPr lang="en-US" sz="1900" b="1" dirty="0">
                <a:solidFill>
                  <a:srgbClr val="FF8A5B"/>
                </a:solidFill>
                <a:latin typeface="Calibri" pitchFamily="34" charset="0"/>
                <a:ea typeface="Calibri" pitchFamily="34" charset="-122"/>
                <a:cs typeface="Calibri" pitchFamily="34" charset="-120"/>
              </a:rPr>
              <a:t>The failure</a:t>
            </a:r>
            <a:endParaRPr lang="en-US" sz="1900" dirty="0"/>
          </a:p>
        </p:txBody>
      </p:sp>
      <p:sp>
        <p:nvSpPr>
          <p:cNvPr id="14" name="a1_02f"/>
          <p:cNvSpPr txBox="1"/>
          <p:nvPr/>
        </p:nvSpPr>
        <p:spPr>
          <a:xfrm>
            <a:off x="4608576" y="2523744"/>
            <a:ext cx="3017520" cy="173736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An engine quits half a second past the speed where stopping is no longer an option.</a:t>
            </a:r>
            <a:endParaRPr lang="en-US" sz="1500" dirty="0"/>
          </a:p>
        </p:txBody>
      </p:sp>
      <p:sp>
        <p:nvSpPr>
          <p:cNvPr id="15" name="a1_03b"/>
          <p:cNvSpPr/>
          <p:nvPr/>
        </p:nvSpPr>
        <p:spPr>
          <a:xfrm>
            <a:off x="8101584" y="1737360"/>
            <a:ext cx="3566160" cy="2651760"/>
          </a:xfrm>
          <a:prstGeom prst="roundRect">
            <a:avLst>
              <a:gd name="adj" fmla="val 2759"/>
            </a:avLst>
          </a:prstGeom>
          <a:solidFill>
            <a:srgbClr val="152A45"/>
          </a:solidFill>
          <a:ln w="12700">
            <a:solidFill>
              <a:srgbClr val="27425F"/>
            </a:solidFill>
            <a:prstDash val="solid"/>
          </a:ln>
        </p:spPr>
        <p:txBody>
          <a:bodyPr/>
          <a:lstStyle/>
          <a:p>
            <a:endParaRPr lang="en-CA"/>
          </a:p>
        </p:txBody>
      </p:sp>
      <p:sp>
        <p:nvSpPr>
          <p:cNvPr id="16" name="a1_03c"/>
          <p:cNvSpPr/>
          <p:nvPr/>
        </p:nvSpPr>
        <p:spPr>
          <a:xfrm>
            <a:off x="8339328" y="1956816"/>
            <a:ext cx="402336" cy="402336"/>
          </a:xfrm>
          <a:prstGeom prst="ellipse">
            <a:avLst/>
          </a:prstGeom>
          <a:solidFill>
            <a:srgbClr val="7FB3FF"/>
          </a:solidFill>
          <a:ln/>
        </p:spPr>
        <p:txBody>
          <a:bodyPr/>
          <a:lstStyle/>
          <a:p>
            <a:endParaRPr lang="en-CA"/>
          </a:p>
        </p:txBody>
      </p:sp>
      <p:sp>
        <p:nvSpPr>
          <p:cNvPr id="17" name="a1_03d"/>
          <p:cNvSpPr txBox="1"/>
          <p:nvPr/>
        </p:nvSpPr>
        <p:spPr>
          <a:xfrm>
            <a:off x="8339328" y="195681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3</a:t>
            </a:r>
            <a:endParaRPr lang="en-US" sz="1700" dirty="0"/>
          </a:p>
        </p:txBody>
      </p:sp>
      <p:sp>
        <p:nvSpPr>
          <p:cNvPr id="18" name="a1_03e"/>
          <p:cNvSpPr txBox="1"/>
          <p:nvPr/>
        </p:nvSpPr>
        <p:spPr>
          <a:xfrm>
            <a:off x="8887968" y="1920240"/>
            <a:ext cx="2505456"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The weather</a:t>
            </a:r>
            <a:endParaRPr lang="en-US" sz="1900" dirty="0"/>
          </a:p>
        </p:txBody>
      </p:sp>
      <p:sp>
        <p:nvSpPr>
          <p:cNvPr id="19" name="a1_03f"/>
          <p:cNvSpPr txBox="1"/>
          <p:nvPr/>
        </p:nvSpPr>
        <p:spPr>
          <a:xfrm>
            <a:off x="8375904" y="2523744"/>
            <a:ext cx="3017520" cy="173736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A crosswind of 15 knots gusting 22, at 40 degrees off the runway.</a:t>
            </a:r>
            <a:endParaRPr lang="en-US" sz="1500" dirty="0"/>
          </a:p>
        </p:txBody>
      </p:sp>
      <p:sp>
        <p:nvSpPr>
          <p:cNvPr id="20" name="a2_01b"/>
          <p:cNvSpPr/>
          <p:nvPr/>
        </p:nvSpPr>
        <p:spPr>
          <a:xfrm>
            <a:off x="566928" y="4663440"/>
            <a:ext cx="11057839" cy="1371600"/>
          </a:xfrm>
          <a:prstGeom prst="roundRect">
            <a:avLst>
              <a:gd name="adj" fmla="val 5333"/>
            </a:avLst>
          </a:prstGeom>
          <a:solidFill>
            <a:srgbClr val="152A45"/>
          </a:solidFill>
          <a:ln w="12700">
            <a:solidFill>
              <a:srgbClr val="27425F"/>
            </a:solidFill>
            <a:prstDash val="solid"/>
          </a:ln>
        </p:spPr>
        <p:txBody>
          <a:bodyPr/>
          <a:lstStyle/>
          <a:p>
            <a:endParaRPr lang="en-CA"/>
          </a:p>
        </p:txBody>
      </p:sp>
      <p:sp>
        <p:nvSpPr>
          <p:cNvPr id="21" name="a2_01e"/>
          <p:cNvSpPr txBox="1"/>
          <p:nvPr/>
        </p:nvSpPr>
        <p:spPr>
          <a:xfrm>
            <a:off x="841248" y="4846320"/>
            <a:ext cx="10509199"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And the sensors are running the whole time</a:t>
            </a:r>
            <a:endParaRPr lang="en-US" sz="1900" dirty="0"/>
          </a:p>
        </p:txBody>
      </p:sp>
      <p:sp>
        <p:nvSpPr>
          <p:cNvPr id="22" name="a2_01f"/>
          <p:cNvSpPr txBox="1"/>
          <p:nvPr/>
        </p:nvSpPr>
        <p:spPr>
          <a:xfrm>
            <a:off x="841248" y="5449824"/>
            <a:ext cx="10509199" cy="4572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Eyes, pupil, brain, heart, and the flight data itself. Nothing is asked of the pilot except to fly.</a:t>
            </a:r>
            <a:endParaRPr lang="en-US" sz="1500" dirty="0"/>
          </a:p>
        </p:txBody>
      </p:sp>
    </p:spTree>
  </p:cSld>
  <p:clrMapOvr>
    <a:masterClrMapping/>
  </p:clrMapOvr>
  <p:transition spd="slow" advClick="0" advTm="1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nodeType="withEffect">
                                  <p:stCondLst>
                                    <p:cond delay="1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par>
                                <p:cTn id="23" presetID="10" presetClass="entr" presetSubtype="0" fill="hold" nodeType="withEffect">
                                  <p:stCondLst>
                                    <p:cond delay="15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00"/>
                                        <p:tgtEl>
                                          <p:spTgt spid="11"/>
                                        </p:tgtEl>
                                      </p:cBhvr>
                                    </p:animEffect>
                                  </p:childTnLst>
                                </p:cTn>
                              </p:par>
                              <p:par>
                                <p:cTn id="26" presetID="10" presetClass="entr" presetSubtype="0" fill="hold" nodeType="withEffect">
                                  <p:stCondLst>
                                    <p:cond delay="15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par>
                                <p:cTn id="29" presetID="10" presetClass="entr" presetSubtype="0" fill="hold" nodeType="withEffect">
                                  <p:stCondLst>
                                    <p:cond delay="15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par>
                                <p:cTn id="32" presetID="10" presetClass="entr" presetSubtype="0" fill="hold" nodeType="withEffect">
                                  <p:stCondLst>
                                    <p:cond delay="1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par>
                                <p:cTn id="35" presetID="10" presetClass="entr" presetSubtype="0" fill="hold" nodeType="withEffect">
                                  <p:stCondLst>
                                    <p:cond delay="30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00"/>
                                        <p:tgtEl>
                                          <p:spTgt spid="15"/>
                                        </p:tgtEl>
                                      </p:cBhvr>
                                    </p:animEffect>
                                  </p:childTnLst>
                                </p:cTn>
                              </p:par>
                              <p:par>
                                <p:cTn id="38" presetID="10" presetClass="entr" presetSubtype="0" fill="hold" nodeType="withEffect">
                                  <p:stCondLst>
                                    <p:cond delay="30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00"/>
                                        <p:tgtEl>
                                          <p:spTgt spid="16"/>
                                        </p:tgtEl>
                                      </p:cBhvr>
                                    </p:animEffect>
                                  </p:childTnLst>
                                </p:cTn>
                              </p:par>
                              <p:par>
                                <p:cTn id="41" presetID="10" presetClass="entr" presetSubtype="0" fill="hold" nodeType="withEffect">
                                  <p:stCondLst>
                                    <p:cond delay="30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par>
                                <p:cTn id="44" presetID="10" presetClass="entr" presetSubtype="0" fill="hold" nodeType="withEffect">
                                  <p:stCondLst>
                                    <p:cond delay="30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400"/>
                                        <p:tgtEl>
                                          <p:spTgt spid="18"/>
                                        </p:tgtEl>
                                      </p:cBhvr>
                                    </p:animEffect>
                                  </p:childTnLst>
                                </p:cTn>
                              </p:par>
                              <p:par>
                                <p:cTn id="47" presetID="10" presetClass="entr" presetSubtype="0" fill="hold" nodeType="withEffect">
                                  <p:stCondLst>
                                    <p:cond delay="30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400"/>
                                        <p:tgtEl>
                                          <p:spTgt spid="19"/>
                                        </p:tgtEl>
                                      </p:cBhvr>
                                    </p:animEffect>
                                  </p:childTnLst>
                                </p:cTn>
                              </p:par>
                            </p:childTnLst>
                          </p:cTn>
                        </p:par>
                      </p:childTnLst>
                    </p:cTn>
                  </p:par>
                  <p:par>
                    <p:cTn id="50" fill="hold">
                      <p:stCondLst>
                        <p:cond delay="6650"/>
                      </p:stCondLst>
                      <p:childTnLst>
                        <p:par>
                          <p:cTn id="51" fill="hold">
                            <p:stCondLst>
                              <p:cond delay="0"/>
                            </p:stCondLst>
                            <p:childTnLst>
                              <p:par>
                                <p:cTn id="52" presetID="10" presetClass="entr" presetSubtype="0" fill="hold" nodeType="afterEffect">
                                  <p:stCondLst>
                                    <p:cond delay="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0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ACTIVITY 1 · WHAT THE SYSTEM SAW</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620 milliseconds after the engine quit</a:t>
            </a:r>
            <a:endParaRPr lang="en-US" sz="3600" dirty="0"/>
          </a:p>
        </p:txBody>
      </p:sp>
      <p:sp>
        <p:nvSpPr>
          <p:cNvPr id="5" name="a1_90"/>
          <p:cNvSpPr/>
          <p:nvPr/>
        </p:nvSpPr>
        <p:spPr>
          <a:xfrm>
            <a:off x="749808" y="1572768"/>
            <a:ext cx="201168" cy="201168"/>
          </a:xfrm>
          <a:prstGeom prst="ellipse">
            <a:avLst/>
          </a:prstGeom>
          <a:solidFill>
            <a:srgbClr val="4ED8E6"/>
          </a:solidFill>
          <a:ln w="12700">
            <a:solidFill>
              <a:srgbClr val="0A1628"/>
            </a:solidFill>
            <a:prstDash val="solid"/>
          </a:ln>
        </p:spPr>
        <p:txBody>
          <a:bodyPr/>
          <a:lstStyle/>
          <a:p>
            <a:endParaRPr lang="en-CA"/>
          </a:p>
        </p:txBody>
      </p:sp>
      <p:sp>
        <p:nvSpPr>
          <p:cNvPr id="6" name="a1_80"/>
          <p:cNvSpPr txBox="1"/>
          <p:nvPr/>
        </p:nvSpPr>
        <p:spPr>
          <a:xfrm>
            <a:off x="566928" y="1828800"/>
            <a:ext cx="2194560" cy="365760"/>
          </a:xfrm>
          <a:prstGeom prst="rect">
            <a:avLst/>
          </a:prstGeom>
          <a:noFill/>
          <a:ln/>
        </p:spPr>
        <p:txBody>
          <a:bodyPr wrap="square" lIns="0" tIns="0" rIns="0" bIns="0" rtlCol="0" anchor="ctr"/>
          <a:lstStyle/>
          <a:p>
            <a:pPr marL="0" indent="0">
              <a:buNone/>
            </a:pPr>
            <a:r>
              <a:rPr lang="en-US" sz="1300" dirty="0">
                <a:solidFill>
                  <a:srgbClr val="EAF2F8"/>
                </a:solidFill>
                <a:latin typeface="Calibri" pitchFamily="34" charset="0"/>
                <a:ea typeface="Calibri" pitchFamily="34" charset="-122"/>
                <a:cs typeface="Calibri" pitchFamily="34" charset="-120"/>
              </a:rPr>
              <a:t>18.2 s  past V1</a:t>
            </a:r>
            <a:endParaRPr lang="en-US" sz="1300" dirty="0"/>
          </a:p>
        </p:txBody>
      </p:sp>
      <p:sp>
        <p:nvSpPr>
          <p:cNvPr id="7" name="a1_91"/>
          <p:cNvSpPr/>
          <p:nvPr/>
        </p:nvSpPr>
        <p:spPr>
          <a:xfrm>
            <a:off x="3017520" y="1572768"/>
            <a:ext cx="201168" cy="201168"/>
          </a:xfrm>
          <a:prstGeom prst="ellipse">
            <a:avLst/>
          </a:prstGeom>
          <a:solidFill>
            <a:srgbClr val="FF8A5B"/>
          </a:solidFill>
          <a:ln w="12700">
            <a:solidFill>
              <a:srgbClr val="0A1628"/>
            </a:solidFill>
            <a:prstDash val="solid"/>
          </a:ln>
        </p:spPr>
        <p:txBody>
          <a:bodyPr/>
          <a:lstStyle/>
          <a:p>
            <a:endParaRPr lang="en-CA"/>
          </a:p>
        </p:txBody>
      </p:sp>
      <p:sp>
        <p:nvSpPr>
          <p:cNvPr id="8" name="a1_81"/>
          <p:cNvSpPr txBox="1"/>
          <p:nvPr/>
        </p:nvSpPr>
        <p:spPr>
          <a:xfrm>
            <a:off x="2834640" y="1828800"/>
            <a:ext cx="2194560" cy="365760"/>
          </a:xfrm>
          <a:prstGeom prst="rect">
            <a:avLst/>
          </a:prstGeom>
          <a:noFill/>
          <a:ln/>
        </p:spPr>
        <p:txBody>
          <a:bodyPr wrap="square" lIns="0" tIns="0" rIns="0" bIns="0" rtlCol="0" anchor="ctr"/>
          <a:lstStyle/>
          <a:p>
            <a:pPr marL="0" indent="0">
              <a:buNone/>
            </a:pPr>
            <a:r>
              <a:rPr lang="en-US" sz="1300" dirty="0">
                <a:solidFill>
                  <a:srgbClr val="9BB0C4"/>
                </a:solidFill>
                <a:latin typeface="Calibri" pitchFamily="34" charset="0"/>
                <a:ea typeface="Calibri" pitchFamily="34" charset="-122"/>
                <a:cs typeface="Calibri" pitchFamily="34" charset="-120"/>
              </a:rPr>
              <a:t>18.7 s  engine quits</a:t>
            </a:r>
            <a:endParaRPr lang="en-US" sz="1300" dirty="0"/>
          </a:p>
        </p:txBody>
      </p:sp>
      <p:sp>
        <p:nvSpPr>
          <p:cNvPr id="9" name="a2_92"/>
          <p:cNvSpPr/>
          <p:nvPr/>
        </p:nvSpPr>
        <p:spPr>
          <a:xfrm>
            <a:off x="5285232" y="1572768"/>
            <a:ext cx="201168" cy="201168"/>
          </a:xfrm>
          <a:prstGeom prst="ellipse">
            <a:avLst/>
          </a:prstGeom>
          <a:solidFill>
            <a:srgbClr val="FF8A5B"/>
          </a:solidFill>
          <a:ln w="12700">
            <a:solidFill>
              <a:srgbClr val="0A1628"/>
            </a:solidFill>
            <a:prstDash val="solid"/>
          </a:ln>
        </p:spPr>
        <p:txBody>
          <a:bodyPr/>
          <a:lstStyle/>
          <a:p>
            <a:endParaRPr lang="en-CA"/>
          </a:p>
        </p:txBody>
      </p:sp>
      <p:sp>
        <p:nvSpPr>
          <p:cNvPr id="10" name="a2_82"/>
          <p:cNvSpPr txBox="1"/>
          <p:nvPr/>
        </p:nvSpPr>
        <p:spPr>
          <a:xfrm>
            <a:off x="5102352" y="1828800"/>
            <a:ext cx="2194560" cy="365760"/>
          </a:xfrm>
          <a:prstGeom prst="rect">
            <a:avLst/>
          </a:prstGeom>
          <a:noFill/>
          <a:ln/>
        </p:spPr>
        <p:txBody>
          <a:bodyPr wrap="square" lIns="0" tIns="0" rIns="0" bIns="0" rtlCol="0" anchor="ctr"/>
          <a:lstStyle/>
          <a:p>
            <a:pPr marL="0" indent="0">
              <a:buNone/>
            </a:pPr>
            <a:r>
              <a:rPr lang="en-US" sz="1300" dirty="0">
                <a:solidFill>
                  <a:srgbClr val="9BB0C4"/>
                </a:solidFill>
                <a:latin typeface="Calibri" pitchFamily="34" charset="0"/>
                <a:ea typeface="Calibri" pitchFamily="34" charset="-122"/>
                <a:cs typeface="Calibri" pitchFamily="34" charset="-120"/>
              </a:rPr>
              <a:t>19.3 s  locked on one gauge</a:t>
            </a:r>
            <a:endParaRPr lang="en-US" sz="1300" dirty="0"/>
          </a:p>
        </p:txBody>
      </p:sp>
      <p:sp>
        <p:nvSpPr>
          <p:cNvPr id="11" name="a2_93"/>
          <p:cNvSpPr/>
          <p:nvPr/>
        </p:nvSpPr>
        <p:spPr>
          <a:xfrm>
            <a:off x="7552944" y="1572768"/>
            <a:ext cx="201168" cy="201168"/>
          </a:xfrm>
          <a:prstGeom prst="ellipse">
            <a:avLst/>
          </a:prstGeom>
          <a:solidFill>
            <a:srgbClr val="5BE39A"/>
          </a:solidFill>
          <a:ln w="12700">
            <a:solidFill>
              <a:srgbClr val="0A1628"/>
            </a:solidFill>
            <a:prstDash val="solid"/>
          </a:ln>
        </p:spPr>
        <p:txBody>
          <a:bodyPr/>
          <a:lstStyle/>
          <a:p>
            <a:endParaRPr lang="en-CA"/>
          </a:p>
        </p:txBody>
      </p:sp>
      <p:sp>
        <p:nvSpPr>
          <p:cNvPr id="12" name="a2_83"/>
          <p:cNvSpPr txBox="1"/>
          <p:nvPr/>
        </p:nvSpPr>
        <p:spPr>
          <a:xfrm>
            <a:off x="7370064" y="1828800"/>
            <a:ext cx="2194560" cy="365760"/>
          </a:xfrm>
          <a:prstGeom prst="rect">
            <a:avLst/>
          </a:prstGeom>
          <a:noFill/>
          <a:ln/>
        </p:spPr>
        <p:txBody>
          <a:bodyPr wrap="square" lIns="0" tIns="0" rIns="0" bIns="0" rtlCol="0" anchor="ctr"/>
          <a:lstStyle/>
          <a:p>
            <a:pPr marL="0" indent="0">
              <a:buNone/>
            </a:pPr>
            <a:r>
              <a:rPr lang="en-US" sz="1300" dirty="0">
                <a:solidFill>
                  <a:srgbClr val="9BB0C4"/>
                </a:solidFill>
                <a:latin typeface="Calibri" pitchFamily="34" charset="0"/>
                <a:ea typeface="Calibri" pitchFamily="34" charset="-122"/>
                <a:cs typeface="Calibri" pitchFamily="34" charset="-120"/>
              </a:rPr>
              <a:t>19.4 s  clutter dimmed</a:t>
            </a:r>
            <a:endParaRPr lang="en-US" sz="1300" dirty="0"/>
          </a:p>
        </p:txBody>
      </p:sp>
      <p:sp>
        <p:nvSpPr>
          <p:cNvPr id="13" name="a3_94"/>
          <p:cNvSpPr/>
          <p:nvPr/>
        </p:nvSpPr>
        <p:spPr>
          <a:xfrm>
            <a:off x="9820656" y="1572768"/>
            <a:ext cx="201168" cy="201168"/>
          </a:xfrm>
          <a:prstGeom prst="ellipse">
            <a:avLst/>
          </a:prstGeom>
          <a:solidFill>
            <a:srgbClr val="5BE39A"/>
          </a:solidFill>
          <a:ln w="12700">
            <a:solidFill>
              <a:srgbClr val="0A1628"/>
            </a:solidFill>
            <a:prstDash val="solid"/>
          </a:ln>
        </p:spPr>
        <p:txBody>
          <a:bodyPr/>
          <a:lstStyle/>
          <a:p>
            <a:endParaRPr lang="en-CA"/>
          </a:p>
        </p:txBody>
      </p:sp>
      <p:sp>
        <p:nvSpPr>
          <p:cNvPr id="14" name="a3_84"/>
          <p:cNvSpPr txBox="1"/>
          <p:nvPr/>
        </p:nvSpPr>
        <p:spPr>
          <a:xfrm>
            <a:off x="9637776" y="1828800"/>
            <a:ext cx="2194560" cy="365760"/>
          </a:xfrm>
          <a:prstGeom prst="rect">
            <a:avLst/>
          </a:prstGeom>
          <a:noFill/>
          <a:ln/>
        </p:spPr>
        <p:txBody>
          <a:bodyPr wrap="square" lIns="0" tIns="0" rIns="0" bIns="0" rtlCol="0" anchor="ctr"/>
          <a:lstStyle/>
          <a:p>
            <a:pPr marL="0" indent="0">
              <a:buNone/>
            </a:pPr>
            <a:r>
              <a:rPr lang="en-US" sz="1300" dirty="0">
                <a:solidFill>
                  <a:srgbClr val="9BB0C4"/>
                </a:solidFill>
                <a:latin typeface="Calibri" pitchFamily="34" charset="0"/>
                <a:ea typeface="Calibri" pitchFamily="34" charset="-122"/>
                <a:cs typeface="Calibri" pitchFamily="34" charset="-120"/>
              </a:rPr>
              <a:t>21.2 s  scanning again</a:t>
            </a:r>
            <a:endParaRPr lang="en-US" sz="1300" dirty="0"/>
          </a:p>
        </p:txBody>
      </p:sp>
      <p:sp>
        <p:nvSpPr>
          <p:cNvPr id="15" name="a1_01b"/>
          <p:cNvSpPr/>
          <p:nvPr/>
        </p:nvSpPr>
        <p:spPr>
          <a:xfrm>
            <a:off x="566928" y="2331720"/>
            <a:ext cx="3566160" cy="1170432"/>
          </a:xfrm>
          <a:prstGeom prst="roundRect">
            <a:avLst>
              <a:gd name="adj" fmla="val 6250"/>
            </a:avLst>
          </a:prstGeom>
          <a:solidFill>
            <a:srgbClr val="152A45"/>
          </a:solidFill>
          <a:ln w="12700">
            <a:solidFill>
              <a:srgbClr val="27425F"/>
            </a:solidFill>
            <a:prstDash val="solid"/>
          </a:ln>
        </p:spPr>
        <p:txBody>
          <a:bodyPr/>
          <a:lstStyle/>
          <a:p>
            <a:endParaRPr lang="en-CA"/>
          </a:p>
        </p:txBody>
      </p:sp>
      <p:sp>
        <p:nvSpPr>
          <p:cNvPr id="16" name="a1_01l"/>
          <p:cNvSpPr txBox="1"/>
          <p:nvPr/>
        </p:nvSpPr>
        <p:spPr>
          <a:xfrm>
            <a:off x="804672" y="2478024"/>
            <a:ext cx="3108960" cy="237744"/>
          </a:xfrm>
          <a:prstGeom prst="rect">
            <a:avLst/>
          </a:prstGeom>
          <a:noFill/>
          <a:ln/>
        </p:spPr>
        <p:txBody>
          <a:bodyPr wrap="square" lIns="0" tIns="0" rIns="0" bIns="0" rtlCol="0" anchor="ctr"/>
          <a:lstStyle/>
          <a:p>
            <a:pPr marL="0" indent="0">
              <a:buNone/>
            </a:pPr>
            <a:r>
              <a:rPr lang="en-US" sz="1200" kern="0" spc="120" dirty="0">
                <a:solidFill>
                  <a:srgbClr val="9BB0C4"/>
                </a:solidFill>
                <a:latin typeface="Calibri" pitchFamily="34" charset="0"/>
                <a:ea typeface="Calibri" pitchFamily="34" charset="-122"/>
                <a:cs typeface="Calibri" pitchFamily="34" charset="-120"/>
              </a:rPr>
              <a:t>PUPIL</a:t>
            </a:r>
            <a:endParaRPr lang="en-US" sz="1200" dirty="0"/>
          </a:p>
        </p:txBody>
      </p:sp>
      <p:sp>
        <p:nvSpPr>
          <p:cNvPr id="17" name="a1_01v"/>
          <p:cNvSpPr txBox="1"/>
          <p:nvPr/>
        </p:nvSpPr>
        <p:spPr>
          <a:xfrm>
            <a:off x="804672" y="2715768"/>
            <a:ext cx="3108960" cy="420624"/>
          </a:xfrm>
          <a:prstGeom prst="rect">
            <a:avLst/>
          </a:prstGeom>
          <a:noFill/>
          <a:ln/>
        </p:spPr>
        <p:txBody>
          <a:bodyPr wrap="square" lIns="0" tIns="0" rIns="0" bIns="0" rtlCol="0" anchor="ctr"/>
          <a:lstStyle/>
          <a:p>
            <a:pPr marL="0" indent="0">
              <a:buNone/>
            </a:pPr>
            <a:r>
              <a:rPr lang="en-US" sz="2600" b="1" dirty="0">
                <a:solidFill>
                  <a:srgbClr val="5BE39A"/>
                </a:solidFill>
                <a:latin typeface="Calibri" pitchFamily="34" charset="0"/>
                <a:ea typeface="Calibri" pitchFamily="34" charset="-122"/>
                <a:cs typeface="Calibri" pitchFamily="34" charset="-120"/>
              </a:rPr>
              <a:t>4.2 mm</a:t>
            </a:r>
            <a:endParaRPr lang="en-US" sz="2600" dirty="0"/>
          </a:p>
        </p:txBody>
      </p:sp>
      <p:sp>
        <p:nvSpPr>
          <p:cNvPr id="18" name="a1_01t"/>
          <p:cNvSpPr/>
          <p:nvPr/>
        </p:nvSpPr>
        <p:spPr>
          <a:xfrm>
            <a:off x="804672" y="3227832"/>
            <a:ext cx="3090672" cy="109728"/>
          </a:xfrm>
          <a:prstGeom prst="roundRect">
            <a:avLst>
              <a:gd name="adj" fmla="val 50000"/>
            </a:avLst>
          </a:prstGeom>
          <a:solidFill>
            <a:srgbClr val="1F3A57"/>
          </a:solidFill>
          <a:ln w="12700">
            <a:solidFill>
              <a:srgbClr val="1F3A57"/>
            </a:solidFill>
            <a:prstDash val="solid"/>
          </a:ln>
        </p:spPr>
        <p:txBody>
          <a:bodyPr/>
          <a:lstStyle/>
          <a:p>
            <a:endParaRPr lang="en-CA"/>
          </a:p>
        </p:txBody>
      </p:sp>
      <p:sp>
        <p:nvSpPr>
          <p:cNvPr id="19" name="a1_01f"/>
          <p:cNvSpPr/>
          <p:nvPr/>
        </p:nvSpPr>
        <p:spPr>
          <a:xfrm>
            <a:off x="804672" y="3227832"/>
            <a:ext cx="865388" cy="109728"/>
          </a:xfrm>
          <a:prstGeom prst="roundRect">
            <a:avLst>
              <a:gd name="adj" fmla="val 50000"/>
            </a:avLst>
          </a:prstGeom>
          <a:solidFill>
            <a:srgbClr val="5BE39A"/>
          </a:solidFill>
          <a:ln w="12700">
            <a:solidFill>
              <a:srgbClr val="5BE39A"/>
            </a:solidFill>
            <a:prstDash val="solid"/>
          </a:ln>
        </p:spPr>
        <p:txBody>
          <a:bodyPr/>
          <a:lstStyle/>
          <a:p>
            <a:endParaRPr lang="en-CA"/>
          </a:p>
        </p:txBody>
      </p:sp>
      <p:sp>
        <p:nvSpPr>
          <p:cNvPr id="20" name="a1_02b"/>
          <p:cNvSpPr/>
          <p:nvPr/>
        </p:nvSpPr>
        <p:spPr>
          <a:xfrm>
            <a:off x="4334256" y="2331720"/>
            <a:ext cx="3566160" cy="1170432"/>
          </a:xfrm>
          <a:prstGeom prst="roundRect">
            <a:avLst>
              <a:gd name="adj" fmla="val 6250"/>
            </a:avLst>
          </a:prstGeom>
          <a:solidFill>
            <a:srgbClr val="152A45"/>
          </a:solidFill>
          <a:ln w="12700">
            <a:solidFill>
              <a:srgbClr val="27425F"/>
            </a:solidFill>
            <a:prstDash val="solid"/>
          </a:ln>
        </p:spPr>
        <p:txBody>
          <a:bodyPr/>
          <a:lstStyle/>
          <a:p>
            <a:endParaRPr lang="en-CA"/>
          </a:p>
        </p:txBody>
      </p:sp>
      <p:sp>
        <p:nvSpPr>
          <p:cNvPr id="21" name="a1_02l"/>
          <p:cNvSpPr txBox="1"/>
          <p:nvPr/>
        </p:nvSpPr>
        <p:spPr>
          <a:xfrm>
            <a:off x="4572000" y="2478024"/>
            <a:ext cx="3108960" cy="237744"/>
          </a:xfrm>
          <a:prstGeom prst="rect">
            <a:avLst/>
          </a:prstGeom>
          <a:noFill/>
          <a:ln/>
        </p:spPr>
        <p:txBody>
          <a:bodyPr wrap="square" lIns="0" tIns="0" rIns="0" bIns="0" rtlCol="0" anchor="ctr"/>
          <a:lstStyle/>
          <a:p>
            <a:pPr marL="0" indent="0">
              <a:buNone/>
            </a:pPr>
            <a:r>
              <a:rPr lang="en-US" sz="1200" kern="0" spc="120" dirty="0">
                <a:solidFill>
                  <a:srgbClr val="9BB0C4"/>
                </a:solidFill>
                <a:latin typeface="Calibri" pitchFamily="34" charset="0"/>
                <a:ea typeface="Calibri" pitchFamily="34" charset="-122"/>
                <a:cs typeface="Calibri" pitchFamily="34" charset="-120"/>
              </a:rPr>
              <a:t>BRAIN, FRONT</a:t>
            </a:r>
            <a:endParaRPr lang="en-US" sz="1200" dirty="0"/>
          </a:p>
        </p:txBody>
      </p:sp>
      <p:sp>
        <p:nvSpPr>
          <p:cNvPr id="22" name="a1_02v"/>
          <p:cNvSpPr txBox="1"/>
          <p:nvPr/>
        </p:nvSpPr>
        <p:spPr>
          <a:xfrm>
            <a:off x="4572000" y="2715768"/>
            <a:ext cx="3108960" cy="420624"/>
          </a:xfrm>
          <a:prstGeom prst="rect">
            <a:avLst/>
          </a:prstGeom>
          <a:noFill/>
          <a:ln/>
        </p:spPr>
        <p:txBody>
          <a:bodyPr wrap="square" lIns="0" tIns="0" rIns="0" bIns="0" rtlCol="0" anchor="ctr"/>
          <a:lstStyle/>
          <a:p>
            <a:pPr marL="0" indent="0">
              <a:buNone/>
            </a:pPr>
            <a:r>
              <a:rPr lang="en-US" sz="2600" b="1" dirty="0">
                <a:solidFill>
                  <a:srgbClr val="5BE39A"/>
                </a:solidFill>
                <a:latin typeface="Calibri" pitchFamily="34" charset="0"/>
                <a:ea typeface="Calibri" pitchFamily="34" charset="-122"/>
                <a:cs typeface="Calibri" pitchFamily="34" charset="-120"/>
              </a:rPr>
              <a:t>quiet</a:t>
            </a:r>
            <a:endParaRPr lang="en-US" sz="2600" dirty="0"/>
          </a:p>
        </p:txBody>
      </p:sp>
      <p:sp>
        <p:nvSpPr>
          <p:cNvPr id="23" name="a1_02t"/>
          <p:cNvSpPr/>
          <p:nvPr/>
        </p:nvSpPr>
        <p:spPr>
          <a:xfrm>
            <a:off x="4572000" y="3227832"/>
            <a:ext cx="3090672" cy="109728"/>
          </a:xfrm>
          <a:prstGeom prst="roundRect">
            <a:avLst>
              <a:gd name="adj" fmla="val 50000"/>
            </a:avLst>
          </a:prstGeom>
          <a:solidFill>
            <a:srgbClr val="1F3A57"/>
          </a:solidFill>
          <a:ln w="12700">
            <a:solidFill>
              <a:srgbClr val="1F3A57"/>
            </a:solidFill>
            <a:prstDash val="solid"/>
          </a:ln>
        </p:spPr>
        <p:txBody>
          <a:bodyPr/>
          <a:lstStyle/>
          <a:p>
            <a:endParaRPr lang="en-CA"/>
          </a:p>
        </p:txBody>
      </p:sp>
      <p:sp>
        <p:nvSpPr>
          <p:cNvPr id="24" name="a1_02f"/>
          <p:cNvSpPr/>
          <p:nvPr/>
        </p:nvSpPr>
        <p:spPr>
          <a:xfrm>
            <a:off x="4572000" y="3227832"/>
            <a:ext cx="741761" cy="109728"/>
          </a:xfrm>
          <a:prstGeom prst="roundRect">
            <a:avLst>
              <a:gd name="adj" fmla="val 50000"/>
            </a:avLst>
          </a:prstGeom>
          <a:solidFill>
            <a:srgbClr val="5BE39A"/>
          </a:solidFill>
          <a:ln w="12700">
            <a:solidFill>
              <a:srgbClr val="5BE39A"/>
            </a:solidFill>
            <a:prstDash val="solid"/>
          </a:ln>
        </p:spPr>
        <p:txBody>
          <a:bodyPr/>
          <a:lstStyle/>
          <a:p>
            <a:endParaRPr lang="en-CA"/>
          </a:p>
        </p:txBody>
      </p:sp>
      <p:sp>
        <p:nvSpPr>
          <p:cNvPr id="25" name="a1_03b"/>
          <p:cNvSpPr/>
          <p:nvPr/>
        </p:nvSpPr>
        <p:spPr>
          <a:xfrm>
            <a:off x="8101584" y="2331720"/>
            <a:ext cx="3566160" cy="1170432"/>
          </a:xfrm>
          <a:prstGeom prst="roundRect">
            <a:avLst>
              <a:gd name="adj" fmla="val 6250"/>
            </a:avLst>
          </a:prstGeom>
          <a:solidFill>
            <a:srgbClr val="152A45"/>
          </a:solidFill>
          <a:ln w="12700">
            <a:solidFill>
              <a:srgbClr val="27425F"/>
            </a:solidFill>
            <a:prstDash val="solid"/>
          </a:ln>
        </p:spPr>
        <p:txBody>
          <a:bodyPr/>
          <a:lstStyle/>
          <a:p>
            <a:endParaRPr lang="en-CA"/>
          </a:p>
        </p:txBody>
      </p:sp>
      <p:sp>
        <p:nvSpPr>
          <p:cNvPr id="26" name="a1_03l"/>
          <p:cNvSpPr txBox="1"/>
          <p:nvPr/>
        </p:nvSpPr>
        <p:spPr>
          <a:xfrm>
            <a:off x="8339328" y="2478024"/>
            <a:ext cx="3108960" cy="237744"/>
          </a:xfrm>
          <a:prstGeom prst="rect">
            <a:avLst/>
          </a:prstGeom>
          <a:noFill/>
          <a:ln/>
        </p:spPr>
        <p:txBody>
          <a:bodyPr wrap="square" lIns="0" tIns="0" rIns="0" bIns="0" rtlCol="0" anchor="ctr"/>
          <a:lstStyle/>
          <a:p>
            <a:pPr marL="0" indent="0">
              <a:buNone/>
            </a:pPr>
            <a:r>
              <a:rPr lang="en-US" sz="1200" kern="0" spc="120" dirty="0">
                <a:solidFill>
                  <a:srgbClr val="9BB0C4"/>
                </a:solidFill>
                <a:latin typeface="Calibri" pitchFamily="34" charset="0"/>
                <a:ea typeface="Calibri" pitchFamily="34" charset="-122"/>
                <a:cs typeface="Calibri" pitchFamily="34" charset="-120"/>
              </a:rPr>
              <a:t>HEART RATIO</a:t>
            </a:r>
            <a:endParaRPr lang="en-US" sz="1200" dirty="0"/>
          </a:p>
        </p:txBody>
      </p:sp>
      <p:sp>
        <p:nvSpPr>
          <p:cNvPr id="27" name="a1_03v"/>
          <p:cNvSpPr txBox="1"/>
          <p:nvPr/>
        </p:nvSpPr>
        <p:spPr>
          <a:xfrm>
            <a:off x="8339328" y="2715768"/>
            <a:ext cx="3108960" cy="420624"/>
          </a:xfrm>
          <a:prstGeom prst="rect">
            <a:avLst/>
          </a:prstGeom>
          <a:noFill/>
          <a:ln/>
        </p:spPr>
        <p:txBody>
          <a:bodyPr wrap="square" lIns="0" tIns="0" rIns="0" bIns="0" rtlCol="0" anchor="ctr"/>
          <a:lstStyle/>
          <a:p>
            <a:pPr marL="0" indent="0">
              <a:buNone/>
            </a:pPr>
            <a:r>
              <a:rPr lang="en-US" sz="2600" b="1" dirty="0">
                <a:solidFill>
                  <a:srgbClr val="5BE39A"/>
                </a:solidFill>
                <a:latin typeface="Calibri" pitchFamily="34" charset="0"/>
                <a:ea typeface="Calibri" pitchFamily="34" charset="-122"/>
                <a:cs typeface="Calibri" pitchFamily="34" charset="-120"/>
              </a:rPr>
              <a:t>1.2</a:t>
            </a:r>
            <a:endParaRPr lang="en-US" sz="2600" dirty="0"/>
          </a:p>
        </p:txBody>
      </p:sp>
      <p:sp>
        <p:nvSpPr>
          <p:cNvPr id="28" name="a1_03t"/>
          <p:cNvSpPr/>
          <p:nvPr/>
        </p:nvSpPr>
        <p:spPr>
          <a:xfrm>
            <a:off x="8339328" y="3227832"/>
            <a:ext cx="3090672" cy="109728"/>
          </a:xfrm>
          <a:prstGeom prst="roundRect">
            <a:avLst>
              <a:gd name="adj" fmla="val 50000"/>
            </a:avLst>
          </a:prstGeom>
          <a:solidFill>
            <a:srgbClr val="1F3A57"/>
          </a:solidFill>
          <a:ln w="12700">
            <a:solidFill>
              <a:srgbClr val="1F3A57"/>
            </a:solidFill>
            <a:prstDash val="solid"/>
          </a:ln>
        </p:spPr>
        <p:txBody>
          <a:bodyPr/>
          <a:lstStyle/>
          <a:p>
            <a:endParaRPr lang="en-CA"/>
          </a:p>
        </p:txBody>
      </p:sp>
      <p:sp>
        <p:nvSpPr>
          <p:cNvPr id="29" name="a1_03f"/>
          <p:cNvSpPr/>
          <p:nvPr/>
        </p:nvSpPr>
        <p:spPr>
          <a:xfrm>
            <a:off x="8339328" y="3227832"/>
            <a:ext cx="618134" cy="109728"/>
          </a:xfrm>
          <a:prstGeom prst="roundRect">
            <a:avLst>
              <a:gd name="adj" fmla="val 50000"/>
            </a:avLst>
          </a:prstGeom>
          <a:solidFill>
            <a:srgbClr val="5BE39A"/>
          </a:solidFill>
          <a:ln w="12700">
            <a:solidFill>
              <a:srgbClr val="5BE39A"/>
            </a:solidFill>
            <a:prstDash val="solid"/>
          </a:ln>
        </p:spPr>
        <p:txBody>
          <a:bodyPr/>
          <a:lstStyle/>
          <a:p>
            <a:endParaRPr lang="en-CA"/>
          </a:p>
        </p:txBody>
      </p:sp>
      <p:sp>
        <p:nvSpPr>
          <p:cNvPr id="30" name="a2_01b"/>
          <p:cNvSpPr/>
          <p:nvPr/>
        </p:nvSpPr>
        <p:spPr>
          <a:xfrm>
            <a:off x="566928" y="3611880"/>
            <a:ext cx="3566160" cy="1170432"/>
          </a:xfrm>
          <a:prstGeom prst="roundRect">
            <a:avLst>
              <a:gd name="adj" fmla="val 6250"/>
            </a:avLst>
          </a:prstGeom>
          <a:solidFill>
            <a:srgbClr val="152A45"/>
          </a:solidFill>
          <a:ln w="12700">
            <a:solidFill>
              <a:srgbClr val="27425F"/>
            </a:solidFill>
            <a:prstDash val="solid"/>
          </a:ln>
        </p:spPr>
        <p:txBody>
          <a:bodyPr/>
          <a:lstStyle/>
          <a:p>
            <a:endParaRPr lang="en-CA"/>
          </a:p>
        </p:txBody>
      </p:sp>
      <p:sp>
        <p:nvSpPr>
          <p:cNvPr id="31" name="a2_01l"/>
          <p:cNvSpPr txBox="1"/>
          <p:nvPr/>
        </p:nvSpPr>
        <p:spPr>
          <a:xfrm>
            <a:off x="804672" y="3758184"/>
            <a:ext cx="3108960" cy="237744"/>
          </a:xfrm>
          <a:prstGeom prst="rect">
            <a:avLst/>
          </a:prstGeom>
          <a:noFill/>
          <a:ln/>
        </p:spPr>
        <p:txBody>
          <a:bodyPr wrap="square" lIns="0" tIns="0" rIns="0" bIns="0" rtlCol="0" anchor="ctr"/>
          <a:lstStyle/>
          <a:p>
            <a:pPr marL="0" indent="0">
              <a:buNone/>
            </a:pPr>
            <a:r>
              <a:rPr lang="en-US" sz="1200" kern="0" spc="120" dirty="0">
                <a:solidFill>
                  <a:srgbClr val="9BB0C4"/>
                </a:solidFill>
                <a:latin typeface="Calibri" pitchFamily="34" charset="0"/>
                <a:ea typeface="Calibri" pitchFamily="34" charset="-122"/>
                <a:cs typeface="Calibri" pitchFamily="34" charset="-120"/>
              </a:rPr>
              <a:t>PUPIL</a:t>
            </a:r>
            <a:endParaRPr lang="en-US" sz="1200" dirty="0"/>
          </a:p>
        </p:txBody>
      </p:sp>
      <p:sp>
        <p:nvSpPr>
          <p:cNvPr id="32" name="a2_01v"/>
          <p:cNvSpPr txBox="1"/>
          <p:nvPr/>
        </p:nvSpPr>
        <p:spPr>
          <a:xfrm>
            <a:off x="804672" y="3995928"/>
            <a:ext cx="3108960" cy="420624"/>
          </a:xfrm>
          <a:prstGeom prst="rect">
            <a:avLst/>
          </a:prstGeom>
          <a:noFill/>
          <a:ln/>
        </p:spPr>
        <p:txBody>
          <a:bodyPr wrap="square" lIns="0" tIns="0" rIns="0" bIns="0" rtlCol="0" anchor="ctr"/>
          <a:lstStyle/>
          <a:p>
            <a:pPr marL="0" indent="0">
              <a:buNone/>
            </a:pPr>
            <a:r>
              <a:rPr lang="en-US" sz="2600" b="1" dirty="0">
                <a:solidFill>
                  <a:srgbClr val="FF8A5B"/>
                </a:solidFill>
                <a:latin typeface="Calibri" pitchFamily="34" charset="0"/>
                <a:ea typeface="Calibri" pitchFamily="34" charset="-122"/>
                <a:cs typeface="Calibri" pitchFamily="34" charset="-120"/>
              </a:rPr>
              <a:t>6.8 mm</a:t>
            </a:r>
            <a:endParaRPr lang="en-US" sz="2600" dirty="0"/>
          </a:p>
        </p:txBody>
      </p:sp>
      <p:sp>
        <p:nvSpPr>
          <p:cNvPr id="33" name="a2_01t"/>
          <p:cNvSpPr/>
          <p:nvPr/>
        </p:nvSpPr>
        <p:spPr>
          <a:xfrm>
            <a:off x="804672" y="4507992"/>
            <a:ext cx="3090672" cy="109728"/>
          </a:xfrm>
          <a:prstGeom prst="roundRect">
            <a:avLst>
              <a:gd name="adj" fmla="val 50000"/>
            </a:avLst>
          </a:prstGeom>
          <a:solidFill>
            <a:srgbClr val="1F3A57"/>
          </a:solidFill>
          <a:ln w="12700">
            <a:solidFill>
              <a:srgbClr val="1F3A57"/>
            </a:solidFill>
            <a:prstDash val="solid"/>
          </a:ln>
        </p:spPr>
        <p:txBody>
          <a:bodyPr/>
          <a:lstStyle/>
          <a:p>
            <a:endParaRPr lang="en-CA"/>
          </a:p>
        </p:txBody>
      </p:sp>
      <p:sp>
        <p:nvSpPr>
          <p:cNvPr id="34" name="a2_01f"/>
          <p:cNvSpPr/>
          <p:nvPr/>
        </p:nvSpPr>
        <p:spPr>
          <a:xfrm>
            <a:off x="804672" y="4507992"/>
            <a:ext cx="2843418" cy="109728"/>
          </a:xfrm>
          <a:prstGeom prst="roundRect">
            <a:avLst>
              <a:gd name="adj" fmla="val 50000"/>
            </a:avLst>
          </a:prstGeom>
          <a:solidFill>
            <a:srgbClr val="FF8A5B"/>
          </a:solidFill>
          <a:ln w="12700">
            <a:solidFill>
              <a:srgbClr val="FF8A5B"/>
            </a:solidFill>
            <a:prstDash val="solid"/>
          </a:ln>
        </p:spPr>
        <p:txBody>
          <a:bodyPr/>
          <a:lstStyle/>
          <a:p>
            <a:endParaRPr lang="en-CA"/>
          </a:p>
        </p:txBody>
      </p:sp>
      <p:sp>
        <p:nvSpPr>
          <p:cNvPr id="35" name="a2_02b"/>
          <p:cNvSpPr/>
          <p:nvPr/>
        </p:nvSpPr>
        <p:spPr>
          <a:xfrm>
            <a:off x="4334256" y="3611880"/>
            <a:ext cx="3566160" cy="1170432"/>
          </a:xfrm>
          <a:prstGeom prst="roundRect">
            <a:avLst>
              <a:gd name="adj" fmla="val 6250"/>
            </a:avLst>
          </a:prstGeom>
          <a:solidFill>
            <a:srgbClr val="152A45"/>
          </a:solidFill>
          <a:ln w="12700">
            <a:solidFill>
              <a:srgbClr val="27425F"/>
            </a:solidFill>
            <a:prstDash val="solid"/>
          </a:ln>
        </p:spPr>
        <p:txBody>
          <a:bodyPr/>
          <a:lstStyle/>
          <a:p>
            <a:endParaRPr lang="en-CA"/>
          </a:p>
        </p:txBody>
      </p:sp>
      <p:sp>
        <p:nvSpPr>
          <p:cNvPr id="36" name="a2_02l"/>
          <p:cNvSpPr txBox="1"/>
          <p:nvPr/>
        </p:nvSpPr>
        <p:spPr>
          <a:xfrm>
            <a:off x="4572000" y="3758184"/>
            <a:ext cx="3108960" cy="237744"/>
          </a:xfrm>
          <a:prstGeom prst="rect">
            <a:avLst/>
          </a:prstGeom>
          <a:noFill/>
          <a:ln/>
        </p:spPr>
        <p:txBody>
          <a:bodyPr wrap="square" lIns="0" tIns="0" rIns="0" bIns="0" rtlCol="0" anchor="ctr"/>
          <a:lstStyle/>
          <a:p>
            <a:pPr marL="0" indent="0">
              <a:buNone/>
            </a:pPr>
            <a:r>
              <a:rPr lang="en-US" sz="1200" kern="0" spc="120" dirty="0">
                <a:solidFill>
                  <a:srgbClr val="9BB0C4"/>
                </a:solidFill>
                <a:latin typeface="Calibri" pitchFamily="34" charset="0"/>
                <a:ea typeface="Calibri" pitchFamily="34" charset="-122"/>
                <a:cs typeface="Calibri" pitchFamily="34" charset="-120"/>
              </a:rPr>
              <a:t>BRAIN, FRONT</a:t>
            </a:r>
            <a:endParaRPr lang="en-US" sz="1200" dirty="0"/>
          </a:p>
        </p:txBody>
      </p:sp>
      <p:sp>
        <p:nvSpPr>
          <p:cNvPr id="37" name="a2_02v"/>
          <p:cNvSpPr txBox="1"/>
          <p:nvPr/>
        </p:nvSpPr>
        <p:spPr>
          <a:xfrm>
            <a:off x="4572000" y="3995928"/>
            <a:ext cx="3108960" cy="420624"/>
          </a:xfrm>
          <a:prstGeom prst="rect">
            <a:avLst/>
          </a:prstGeom>
          <a:noFill/>
          <a:ln/>
        </p:spPr>
        <p:txBody>
          <a:bodyPr wrap="square" lIns="0" tIns="0" rIns="0" bIns="0" rtlCol="0" anchor="ctr"/>
          <a:lstStyle/>
          <a:p>
            <a:pPr marL="0" indent="0">
              <a:buNone/>
            </a:pPr>
            <a:r>
              <a:rPr lang="en-US" sz="2600" b="1" dirty="0">
                <a:solidFill>
                  <a:srgbClr val="FF8A5B"/>
                </a:solidFill>
                <a:latin typeface="Calibri" pitchFamily="34" charset="0"/>
                <a:ea typeface="Calibri" pitchFamily="34" charset="-122"/>
                <a:cs typeface="Calibri" pitchFamily="34" charset="-120"/>
              </a:rPr>
              <a:t>up 1.8 dB</a:t>
            </a:r>
            <a:endParaRPr lang="en-US" sz="2600" dirty="0"/>
          </a:p>
        </p:txBody>
      </p:sp>
      <p:sp>
        <p:nvSpPr>
          <p:cNvPr id="38" name="a2_02t"/>
          <p:cNvSpPr/>
          <p:nvPr/>
        </p:nvSpPr>
        <p:spPr>
          <a:xfrm>
            <a:off x="4572000" y="4507992"/>
            <a:ext cx="3090672" cy="109728"/>
          </a:xfrm>
          <a:prstGeom prst="roundRect">
            <a:avLst>
              <a:gd name="adj" fmla="val 50000"/>
            </a:avLst>
          </a:prstGeom>
          <a:solidFill>
            <a:srgbClr val="1F3A57"/>
          </a:solidFill>
          <a:ln w="12700">
            <a:solidFill>
              <a:srgbClr val="1F3A57"/>
            </a:solidFill>
            <a:prstDash val="solid"/>
          </a:ln>
        </p:spPr>
        <p:txBody>
          <a:bodyPr/>
          <a:lstStyle/>
          <a:p>
            <a:endParaRPr lang="en-CA"/>
          </a:p>
        </p:txBody>
      </p:sp>
      <p:sp>
        <p:nvSpPr>
          <p:cNvPr id="39" name="a2_02f"/>
          <p:cNvSpPr/>
          <p:nvPr/>
        </p:nvSpPr>
        <p:spPr>
          <a:xfrm>
            <a:off x="4572000" y="4507992"/>
            <a:ext cx="2410724" cy="109728"/>
          </a:xfrm>
          <a:prstGeom prst="roundRect">
            <a:avLst>
              <a:gd name="adj" fmla="val 50000"/>
            </a:avLst>
          </a:prstGeom>
          <a:solidFill>
            <a:srgbClr val="FF8A5B"/>
          </a:solidFill>
          <a:ln w="12700">
            <a:solidFill>
              <a:srgbClr val="FF8A5B"/>
            </a:solidFill>
            <a:prstDash val="solid"/>
          </a:ln>
        </p:spPr>
        <p:txBody>
          <a:bodyPr/>
          <a:lstStyle/>
          <a:p>
            <a:endParaRPr lang="en-CA"/>
          </a:p>
        </p:txBody>
      </p:sp>
      <p:sp>
        <p:nvSpPr>
          <p:cNvPr id="40" name="a2_03b"/>
          <p:cNvSpPr/>
          <p:nvPr/>
        </p:nvSpPr>
        <p:spPr>
          <a:xfrm>
            <a:off x="8101584" y="3611880"/>
            <a:ext cx="3566160" cy="1170432"/>
          </a:xfrm>
          <a:prstGeom prst="roundRect">
            <a:avLst>
              <a:gd name="adj" fmla="val 6250"/>
            </a:avLst>
          </a:prstGeom>
          <a:solidFill>
            <a:srgbClr val="152A45"/>
          </a:solidFill>
          <a:ln w="12700">
            <a:solidFill>
              <a:srgbClr val="27425F"/>
            </a:solidFill>
            <a:prstDash val="solid"/>
          </a:ln>
        </p:spPr>
        <p:txBody>
          <a:bodyPr/>
          <a:lstStyle/>
          <a:p>
            <a:endParaRPr lang="en-CA"/>
          </a:p>
        </p:txBody>
      </p:sp>
      <p:sp>
        <p:nvSpPr>
          <p:cNvPr id="41" name="a2_03l"/>
          <p:cNvSpPr txBox="1"/>
          <p:nvPr/>
        </p:nvSpPr>
        <p:spPr>
          <a:xfrm>
            <a:off x="8339328" y="3758184"/>
            <a:ext cx="3108960" cy="237744"/>
          </a:xfrm>
          <a:prstGeom prst="rect">
            <a:avLst/>
          </a:prstGeom>
          <a:noFill/>
          <a:ln/>
        </p:spPr>
        <p:txBody>
          <a:bodyPr wrap="square" lIns="0" tIns="0" rIns="0" bIns="0" rtlCol="0" anchor="ctr"/>
          <a:lstStyle/>
          <a:p>
            <a:pPr marL="0" indent="0">
              <a:buNone/>
            </a:pPr>
            <a:r>
              <a:rPr lang="en-US" sz="1200" kern="0" spc="120" dirty="0">
                <a:solidFill>
                  <a:srgbClr val="9BB0C4"/>
                </a:solidFill>
                <a:latin typeface="Calibri" pitchFamily="34" charset="0"/>
                <a:ea typeface="Calibri" pitchFamily="34" charset="-122"/>
                <a:cs typeface="Calibri" pitchFamily="34" charset="-120"/>
              </a:rPr>
              <a:t>HEART RATIO</a:t>
            </a:r>
            <a:endParaRPr lang="en-US" sz="1200" dirty="0"/>
          </a:p>
        </p:txBody>
      </p:sp>
      <p:sp>
        <p:nvSpPr>
          <p:cNvPr id="42" name="a2_03v"/>
          <p:cNvSpPr txBox="1"/>
          <p:nvPr/>
        </p:nvSpPr>
        <p:spPr>
          <a:xfrm>
            <a:off x="8339328" y="3995928"/>
            <a:ext cx="3108960" cy="420624"/>
          </a:xfrm>
          <a:prstGeom prst="rect">
            <a:avLst/>
          </a:prstGeom>
          <a:noFill/>
          <a:ln/>
        </p:spPr>
        <p:txBody>
          <a:bodyPr wrap="square" lIns="0" tIns="0" rIns="0" bIns="0" rtlCol="0" anchor="ctr"/>
          <a:lstStyle/>
          <a:p>
            <a:pPr marL="0" indent="0">
              <a:buNone/>
            </a:pPr>
            <a:r>
              <a:rPr lang="en-US" sz="2600" b="1" dirty="0">
                <a:solidFill>
                  <a:srgbClr val="FF8A5B"/>
                </a:solidFill>
                <a:latin typeface="Calibri" pitchFamily="34" charset="0"/>
                <a:ea typeface="Calibri" pitchFamily="34" charset="-122"/>
                <a:cs typeface="Calibri" pitchFamily="34" charset="-120"/>
              </a:rPr>
              <a:t>4.1</a:t>
            </a:r>
            <a:endParaRPr lang="en-US" sz="2600" dirty="0"/>
          </a:p>
        </p:txBody>
      </p:sp>
      <p:sp>
        <p:nvSpPr>
          <p:cNvPr id="43" name="a2_03t"/>
          <p:cNvSpPr/>
          <p:nvPr/>
        </p:nvSpPr>
        <p:spPr>
          <a:xfrm>
            <a:off x="8339328" y="4507992"/>
            <a:ext cx="3090672" cy="109728"/>
          </a:xfrm>
          <a:prstGeom prst="roundRect">
            <a:avLst>
              <a:gd name="adj" fmla="val 50000"/>
            </a:avLst>
          </a:prstGeom>
          <a:solidFill>
            <a:srgbClr val="1F3A57"/>
          </a:solidFill>
          <a:ln w="12700">
            <a:solidFill>
              <a:srgbClr val="1F3A57"/>
            </a:solidFill>
            <a:prstDash val="solid"/>
          </a:ln>
        </p:spPr>
        <p:txBody>
          <a:bodyPr/>
          <a:lstStyle/>
          <a:p>
            <a:endParaRPr lang="en-CA"/>
          </a:p>
        </p:txBody>
      </p:sp>
      <p:sp>
        <p:nvSpPr>
          <p:cNvPr id="44" name="a2_03f"/>
          <p:cNvSpPr/>
          <p:nvPr/>
        </p:nvSpPr>
        <p:spPr>
          <a:xfrm>
            <a:off x="8339328" y="4507992"/>
            <a:ext cx="2657978" cy="109728"/>
          </a:xfrm>
          <a:prstGeom prst="roundRect">
            <a:avLst>
              <a:gd name="adj" fmla="val 50000"/>
            </a:avLst>
          </a:prstGeom>
          <a:solidFill>
            <a:srgbClr val="FF8A5B"/>
          </a:solidFill>
          <a:ln w="12700">
            <a:solidFill>
              <a:srgbClr val="FF8A5B"/>
            </a:solidFill>
            <a:prstDash val="solid"/>
          </a:ln>
        </p:spPr>
        <p:txBody>
          <a:bodyPr/>
          <a:lstStyle/>
          <a:p>
            <a:endParaRPr lang="en-CA"/>
          </a:p>
        </p:txBody>
      </p:sp>
      <p:sp>
        <p:nvSpPr>
          <p:cNvPr id="45" name="a3_01b"/>
          <p:cNvSpPr/>
          <p:nvPr/>
        </p:nvSpPr>
        <p:spPr>
          <a:xfrm>
            <a:off x="566928" y="4937760"/>
            <a:ext cx="11057839" cy="1143000"/>
          </a:xfrm>
          <a:prstGeom prst="roundRect">
            <a:avLst>
              <a:gd name="adj" fmla="val 6400"/>
            </a:avLst>
          </a:prstGeom>
          <a:solidFill>
            <a:srgbClr val="152A45"/>
          </a:solidFill>
          <a:ln w="12700">
            <a:solidFill>
              <a:srgbClr val="27425F"/>
            </a:solidFill>
            <a:prstDash val="solid"/>
          </a:ln>
        </p:spPr>
        <p:txBody>
          <a:bodyPr/>
          <a:lstStyle/>
          <a:p>
            <a:endParaRPr lang="en-CA"/>
          </a:p>
        </p:txBody>
      </p:sp>
      <p:sp>
        <p:nvSpPr>
          <p:cNvPr id="46" name="a3_01e"/>
          <p:cNvSpPr txBox="1"/>
          <p:nvPr/>
        </p:nvSpPr>
        <p:spPr>
          <a:xfrm>
            <a:off x="841248" y="5120640"/>
            <a:ext cx="10509199" cy="457200"/>
          </a:xfrm>
          <a:prstGeom prst="rect">
            <a:avLst/>
          </a:prstGeom>
          <a:noFill/>
          <a:ln/>
        </p:spPr>
        <p:txBody>
          <a:bodyPr wrap="square" lIns="0" tIns="0" rIns="0" bIns="0" rtlCol="0" anchor="ctr"/>
          <a:lstStyle/>
          <a:p>
            <a:pPr marL="0" indent="0">
              <a:buNone/>
            </a:pPr>
            <a:r>
              <a:rPr lang="en-US" sz="1900" b="1" dirty="0">
                <a:solidFill>
                  <a:srgbClr val="5BE39A"/>
                </a:solidFill>
                <a:latin typeface="Calibri" pitchFamily="34" charset="0"/>
                <a:ea typeface="Calibri" pitchFamily="34" charset="-122"/>
                <a:cs typeface="Calibri" pitchFamily="34" charset="-120"/>
              </a:rPr>
              <a:t>The system dims the clutter, the first officer takes the radios</a:t>
            </a:r>
            <a:endParaRPr lang="en-US" sz="1900" dirty="0"/>
          </a:p>
        </p:txBody>
      </p:sp>
      <p:sp>
        <p:nvSpPr>
          <p:cNvPr id="47" name="a3_01f"/>
          <p:cNvSpPr txBox="1"/>
          <p:nvPr/>
        </p:nvSpPr>
        <p:spPr>
          <a:xfrm>
            <a:off x="841248" y="5724144"/>
            <a:ext cx="10509199" cy="2286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Back in the scan 3.1 seconds later. Most people notice the help only when they watch the replay.</a:t>
            </a:r>
            <a:endParaRPr lang="en-US" sz="1500" dirty="0"/>
          </a:p>
        </p:txBody>
      </p:sp>
    </p:spTree>
  </p:cSld>
  <p:clrMapOvr>
    <a:masterClrMapping/>
  </p:clrMapOvr>
  <p:transition spd="slow" advClick="0" advTm="3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nodeType="withEffect">
                                  <p:stCondLst>
                                    <p:cond delay="15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nodeType="withEffect">
                                  <p:stCondLst>
                                    <p:cond delay="15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par>
                                <p:cTn id="26" presetID="10" presetClass="entr" presetSubtype="0" fill="hold" nodeType="withEffect">
                                  <p:stCondLst>
                                    <p:cond delay="15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childTnLst>
                                </p:cTn>
                              </p:par>
                              <p:par>
                                <p:cTn id="29" presetID="10" presetClass="entr" presetSubtype="0" fill="hold" nodeType="withEffect">
                                  <p:stCondLst>
                                    <p:cond delay="15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nodeType="withEffect">
                                  <p:stCondLst>
                                    <p:cond delay="15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par>
                                <p:cTn id="35" presetID="10" presetClass="entr" presetSubtype="0" fill="hold" nodeType="withEffect">
                                  <p:stCondLst>
                                    <p:cond delay="30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nodeType="withEffect">
                                  <p:stCondLst>
                                    <p:cond delay="30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nodeType="withEffect">
                                  <p:stCondLst>
                                    <p:cond delay="30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nodeType="withEffect">
                                  <p:stCondLst>
                                    <p:cond delay="30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par>
                                <p:cTn id="47" presetID="10" presetClass="entr" presetSubtype="0" fill="hold" nodeType="withEffect">
                                  <p:stCondLst>
                                    <p:cond delay="30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400"/>
                                        <p:tgtEl>
                                          <p:spTgt spid="29"/>
                                        </p:tgtEl>
                                      </p:cBhvr>
                                    </p:animEffect>
                                  </p:childTnLst>
                                </p:cTn>
                              </p:par>
                              <p:par>
                                <p:cTn id="50" presetID="10" presetClass="entr" presetSubtype="0" fill="hold" nodeType="withEffect">
                                  <p:stCondLst>
                                    <p:cond delay="450"/>
                                  </p:stCondLst>
                                  <p:childTnLst>
                                    <p:set>
                                      <p:cBhvr>
                                        <p:cTn id="51" dur="1" fill="hold">
                                          <p:stCondLst>
                                            <p:cond delay="0"/>
                                          </p:stCondLst>
                                        </p:cTn>
                                        <p:tgtEl>
                                          <p:spTgt spid="6"/>
                                        </p:tgtEl>
                                        <p:attrNameLst>
                                          <p:attrName>style.visibility</p:attrName>
                                        </p:attrNameLst>
                                      </p:cBhvr>
                                      <p:to>
                                        <p:strVal val="visible"/>
                                      </p:to>
                                    </p:set>
                                    <p:animEffect transition="in" filter="fade">
                                      <p:cBhvr>
                                        <p:cTn id="52" dur="400"/>
                                        <p:tgtEl>
                                          <p:spTgt spid="6"/>
                                        </p:tgtEl>
                                      </p:cBhvr>
                                    </p:animEffect>
                                  </p:childTnLst>
                                </p:cTn>
                              </p:par>
                              <p:par>
                                <p:cTn id="53" presetID="10" presetClass="entr" presetSubtype="0" fill="hold" nodeType="withEffect">
                                  <p:stCondLst>
                                    <p:cond delay="600"/>
                                  </p:stCondLst>
                                  <p:childTnLst>
                                    <p:set>
                                      <p:cBhvr>
                                        <p:cTn id="54" dur="1" fill="hold">
                                          <p:stCondLst>
                                            <p:cond delay="0"/>
                                          </p:stCondLst>
                                        </p:cTn>
                                        <p:tgtEl>
                                          <p:spTgt spid="8"/>
                                        </p:tgtEl>
                                        <p:attrNameLst>
                                          <p:attrName>style.visibility</p:attrName>
                                        </p:attrNameLst>
                                      </p:cBhvr>
                                      <p:to>
                                        <p:strVal val="visible"/>
                                      </p:to>
                                    </p:set>
                                    <p:animEffect transition="in" filter="fade">
                                      <p:cBhvr>
                                        <p:cTn id="55" dur="400"/>
                                        <p:tgtEl>
                                          <p:spTgt spid="8"/>
                                        </p:tgtEl>
                                      </p:cBhvr>
                                    </p:animEffect>
                                  </p:childTnLst>
                                </p:cTn>
                              </p:par>
                              <p:par>
                                <p:cTn id="56" presetID="10" presetClass="entr" presetSubtype="0" fill="hold" nodeType="withEffect">
                                  <p:stCondLst>
                                    <p:cond delay="750"/>
                                  </p:stCondLst>
                                  <p:childTnLst>
                                    <p:set>
                                      <p:cBhvr>
                                        <p:cTn id="57" dur="1" fill="hold">
                                          <p:stCondLst>
                                            <p:cond delay="0"/>
                                          </p:stCondLst>
                                        </p:cTn>
                                        <p:tgtEl>
                                          <p:spTgt spid="5"/>
                                        </p:tgtEl>
                                        <p:attrNameLst>
                                          <p:attrName>style.visibility</p:attrName>
                                        </p:attrNameLst>
                                      </p:cBhvr>
                                      <p:to>
                                        <p:strVal val="visible"/>
                                      </p:to>
                                    </p:set>
                                    <p:animEffect transition="in" filter="fade">
                                      <p:cBhvr>
                                        <p:cTn id="58" dur="400"/>
                                        <p:tgtEl>
                                          <p:spTgt spid="5"/>
                                        </p:tgtEl>
                                      </p:cBhvr>
                                    </p:animEffect>
                                  </p:childTnLst>
                                </p:cTn>
                              </p:par>
                              <p:par>
                                <p:cTn id="59" presetID="10" presetClass="entr" presetSubtype="0" fill="hold" nodeType="withEffect">
                                  <p:stCondLst>
                                    <p:cond delay="900"/>
                                  </p:stCondLst>
                                  <p:childTnLst>
                                    <p:set>
                                      <p:cBhvr>
                                        <p:cTn id="60" dur="1" fill="hold">
                                          <p:stCondLst>
                                            <p:cond delay="0"/>
                                          </p:stCondLst>
                                        </p:cTn>
                                        <p:tgtEl>
                                          <p:spTgt spid="7"/>
                                        </p:tgtEl>
                                        <p:attrNameLst>
                                          <p:attrName>style.visibility</p:attrName>
                                        </p:attrNameLst>
                                      </p:cBhvr>
                                      <p:to>
                                        <p:strVal val="visible"/>
                                      </p:to>
                                    </p:set>
                                    <p:animEffect transition="in" filter="fade">
                                      <p:cBhvr>
                                        <p:cTn id="61" dur="400"/>
                                        <p:tgtEl>
                                          <p:spTgt spid="7"/>
                                        </p:tgtEl>
                                      </p:cBhvr>
                                    </p:animEffect>
                                  </p:childTnLst>
                                </p:cTn>
                              </p:par>
                            </p:childTnLst>
                          </p:cTn>
                        </p:par>
                      </p:childTnLst>
                    </p:cTn>
                  </p:par>
                  <p:par>
                    <p:cTn id="62" fill="hold">
                      <p:stCondLst>
                        <p:cond delay="10816"/>
                      </p:stCondLst>
                      <p:childTnLst>
                        <p:par>
                          <p:cTn id="63" fill="hold">
                            <p:stCondLst>
                              <p:cond delay="0"/>
                            </p:stCondLst>
                            <p:childTnLst>
                              <p:par>
                                <p:cTn id="64" presetID="10" presetClass="entr" presetSubtype="0" fill="hold" nodeType="afterEffect">
                                  <p:stCondLst>
                                    <p:cond delay="0"/>
                                  </p:stCondLst>
                                  <p:childTnLst>
                                    <p:set>
                                      <p:cBhvr>
                                        <p:cTn id="65" dur="1" fill="hold">
                                          <p:stCondLst>
                                            <p:cond delay="0"/>
                                          </p:stCondLst>
                                        </p:cTn>
                                        <p:tgtEl>
                                          <p:spTgt spid="30"/>
                                        </p:tgtEl>
                                        <p:attrNameLst>
                                          <p:attrName>style.visibility</p:attrName>
                                        </p:attrNameLst>
                                      </p:cBhvr>
                                      <p:to>
                                        <p:strVal val="visible"/>
                                      </p:to>
                                    </p:set>
                                    <p:animEffect transition="in" filter="fade">
                                      <p:cBhvr>
                                        <p:cTn id="66" dur="400"/>
                                        <p:tgtEl>
                                          <p:spTgt spid="30"/>
                                        </p:tgtEl>
                                      </p:cBhvr>
                                    </p:animEffect>
                                  </p:childTnLst>
                                </p:cTn>
                              </p:par>
                              <p:par>
                                <p:cTn id="67" presetID="10" presetClass="entr" presetSubtype="0" fill="hold" nodeType="with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400"/>
                                        <p:tgtEl>
                                          <p:spTgt spid="31"/>
                                        </p:tgtEl>
                                      </p:cBhvr>
                                    </p:animEffect>
                                  </p:childTnLst>
                                </p:cTn>
                              </p:par>
                              <p:par>
                                <p:cTn id="70" presetID="10" presetClass="entr" presetSubtype="0" fill="hold" nodeType="with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400"/>
                                        <p:tgtEl>
                                          <p:spTgt spid="32"/>
                                        </p:tgtEl>
                                      </p:cBhvr>
                                    </p:animEffect>
                                  </p:childTnLst>
                                </p:cTn>
                              </p:par>
                              <p:par>
                                <p:cTn id="73" presetID="10" presetClass="entr" presetSubtype="0" fill="hold" nodeType="with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400"/>
                                        <p:tgtEl>
                                          <p:spTgt spid="33"/>
                                        </p:tgtEl>
                                      </p:cBhvr>
                                    </p:animEffect>
                                  </p:childTnLst>
                                </p:cTn>
                              </p:par>
                              <p:par>
                                <p:cTn id="76" presetID="10" presetClass="entr" presetSubtype="0" fill="hold" nodeType="withEffect">
                                  <p:stCondLst>
                                    <p:cond delay="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400"/>
                                        <p:tgtEl>
                                          <p:spTgt spid="34"/>
                                        </p:tgtEl>
                                      </p:cBhvr>
                                    </p:animEffect>
                                  </p:childTnLst>
                                </p:cTn>
                              </p:par>
                              <p:par>
                                <p:cTn id="79" presetID="10" presetClass="entr" presetSubtype="0" fill="hold" nodeType="withEffect">
                                  <p:stCondLst>
                                    <p:cond delay="15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400"/>
                                        <p:tgtEl>
                                          <p:spTgt spid="35"/>
                                        </p:tgtEl>
                                      </p:cBhvr>
                                    </p:animEffect>
                                  </p:childTnLst>
                                </p:cTn>
                              </p:par>
                              <p:par>
                                <p:cTn id="82" presetID="10" presetClass="entr" presetSubtype="0" fill="hold" nodeType="withEffect">
                                  <p:stCondLst>
                                    <p:cond delay="150"/>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childTnLst>
                                </p:cTn>
                              </p:par>
                              <p:par>
                                <p:cTn id="85" presetID="10" presetClass="entr" presetSubtype="0" fill="hold" nodeType="withEffect">
                                  <p:stCondLst>
                                    <p:cond delay="150"/>
                                  </p:stCondLst>
                                  <p:childTnLst>
                                    <p:set>
                                      <p:cBhvr>
                                        <p:cTn id="86" dur="1" fill="hold">
                                          <p:stCondLst>
                                            <p:cond delay="0"/>
                                          </p:stCondLst>
                                        </p:cTn>
                                        <p:tgtEl>
                                          <p:spTgt spid="37"/>
                                        </p:tgtEl>
                                        <p:attrNameLst>
                                          <p:attrName>style.visibility</p:attrName>
                                        </p:attrNameLst>
                                      </p:cBhvr>
                                      <p:to>
                                        <p:strVal val="visible"/>
                                      </p:to>
                                    </p:set>
                                    <p:animEffect transition="in" filter="fade">
                                      <p:cBhvr>
                                        <p:cTn id="87" dur="400"/>
                                        <p:tgtEl>
                                          <p:spTgt spid="37"/>
                                        </p:tgtEl>
                                      </p:cBhvr>
                                    </p:animEffect>
                                  </p:childTnLst>
                                </p:cTn>
                              </p:par>
                              <p:par>
                                <p:cTn id="88" presetID="10" presetClass="entr" presetSubtype="0" fill="hold" nodeType="withEffect">
                                  <p:stCondLst>
                                    <p:cond delay="150"/>
                                  </p:stCondLst>
                                  <p:childTnLst>
                                    <p:set>
                                      <p:cBhvr>
                                        <p:cTn id="89" dur="1" fill="hold">
                                          <p:stCondLst>
                                            <p:cond delay="0"/>
                                          </p:stCondLst>
                                        </p:cTn>
                                        <p:tgtEl>
                                          <p:spTgt spid="38"/>
                                        </p:tgtEl>
                                        <p:attrNameLst>
                                          <p:attrName>style.visibility</p:attrName>
                                        </p:attrNameLst>
                                      </p:cBhvr>
                                      <p:to>
                                        <p:strVal val="visible"/>
                                      </p:to>
                                    </p:set>
                                    <p:animEffect transition="in" filter="fade">
                                      <p:cBhvr>
                                        <p:cTn id="90" dur="400"/>
                                        <p:tgtEl>
                                          <p:spTgt spid="38"/>
                                        </p:tgtEl>
                                      </p:cBhvr>
                                    </p:animEffect>
                                  </p:childTnLst>
                                </p:cTn>
                              </p:par>
                              <p:par>
                                <p:cTn id="91" presetID="10" presetClass="entr" presetSubtype="0" fill="hold" nodeType="withEffect">
                                  <p:stCondLst>
                                    <p:cond delay="15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400"/>
                                        <p:tgtEl>
                                          <p:spTgt spid="39"/>
                                        </p:tgtEl>
                                      </p:cBhvr>
                                    </p:animEffect>
                                  </p:childTnLst>
                                </p:cTn>
                              </p:par>
                              <p:par>
                                <p:cTn id="94" presetID="10" presetClass="entr" presetSubtype="0" fill="hold" nodeType="withEffect">
                                  <p:stCondLst>
                                    <p:cond delay="300"/>
                                  </p:stCondLst>
                                  <p:childTnLst>
                                    <p:set>
                                      <p:cBhvr>
                                        <p:cTn id="95" dur="1" fill="hold">
                                          <p:stCondLst>
                                            <p:cond delay="0"/>
                                          </p:stCondLst>
                                        </p:cTn>
                                        <p:tgtEl>
                                          <p:spTgt spid="40"/>
                                        </p:tgtEl>
                                        <p:attrNameLst>
                                          <p:attrName>style.visibility</p:attrName>
                                        </p:attrNameLst>
                                      </p:cBhvr>
                                      <p:to>
                                        <p:strVal val="visible"/>
                                      </p:to>
                                    </p:set>
                                    <p:animEffect transition="in" filter="fade">
                                      <p:cBhvr>
                                        <p:cTn id="96" dur="400"/>
                                        <p:tgtEl>
                                          <p:spTgt spid="40"/>
                                        </p:tgtEl>
                                      </p:cBhvr>
                                    </p:animEffect>
                                  </p:childTnLst>
                                </p:cTn>
                              </p:par>
                              <p:par>
                                <p:cTn id="97" presetID="10" presetClass="entr" presetSubtype="0" fill="hold" nodeType="withEffect">
                                  <p:stCondLst>
                                    <p:cond delay="30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400"/>
                                        <p:tgtEl>
                                          <p:spTgt spid="41"/>
                                        </p:tgtEl>
                                      </p:cBhvr>
                                    </p:animEffect>
                                  </p:childTnLst>
                                </p:cTn>
                              </p:par>
                              <p:par>
                                <p:cTn id="100" presetID="10" presetClass="entr" presetSubtype="0" fill="hold" nodeType="withEffect">
                                  <p:stCondLst>
                                    <p:cond delay="300"/>
                                  </p:stCondLst>
                                  <p:childTnLst>
                                    <p:set>
                                      <p:cBhvr>
                                        <p:cTn id="101" dur="1" fill="hold">
                                          <p:stCondLst>
                                            <p:cond delay="0"/>
                                          </p:stCondLst>
                                        </p:cTn>
                                        <p:tgtEl>
                                          <p:spTgt spid="42"/>
                                        </p:tgtEl>
                                        <p:attrNameLst>
                                          <p:attrName>style.visibility</p:attrName>
                                        </p:attrNameLst>
                                      </p:cBhvr>
                                      <p:to>
                                        <p:strVal val="visible"/>
                                      </p:to>
                                    </p:set>
                                    <p:animEffect transition="in" filter="fade">
                                      <p:cBhvr>
                                        <p:cTn id="102" dur="400"/>
                                        <p:tgtEl>
                                          <p:spTgt spid="42"/>
                                        </p:tgtEl>
                                      </p:cBhvr>
                                    </p:animEffect>
                                  </p:childTnLst>
                                </p:cTn>
                              </p:par>
                              <p:par>
                                <p:cTn id="103" presetID="10" presetClass="entr" presetSubtype="0" fill="hold" nodeType="withEffect">
                                  <p:stCondLst>
                                    <p:cond delay="300"/>
                                  </p:stCondLst>
                                  <p:childTnLst>
                                    <p:set>
                                      <p:cBhvr>
                                        <p:cTn id="104" dur="1" fill="hold">
                                          <p:stCondLst>
                                            <p:cond delay="0"/>
                                          </p:stCondLst>
                                        </p:cTn>
                                        <p:tgtEl>
                                          <p:spTgt spid="43"/>
                                        </p:tgtEl>
                                        <p:attrNameLst>
                                          <p:attrName>style.visibility</p:attrName>
                                        </p:attrNameLst>
                                      </p:cBhvr>
                                      <p:to>
                                        <p:strVal val="visible"/>
                                      </p:to>
                                    </p:set>
                                    <p:animEffect transition="in" filter="fade">
                                      <p:cBhvr>
                                        <p:cTn id="105" dur="400"/>
                                        <p:tgtEl>
                                          <p:spTgt spid="43"/>
                                        </p:tgtEl>
                                      </p:cBhvr>
                                    </p:animEffect>
                                  </p:childTnLst>
                                </p:cTn>
                              </p:par>
                              <p:par>
                                <p:cTn id="106" presetID="10" presetClass="entr" presetSubtype="0" fill="hold" nodeType="withEffect">
                                  <p:stCondLst>
                                    <p:cond delay="300"/>
                                  </p:stCondLst>
                                  <p:childTnLst>
                                    <p:set>
                                      <p:cBhvr>
                                        <p:cTn id="107" dur="1" fill="hold">
                                          <p:stCondLst>
                                            <p:cond delay="0"/>
                                          </p:stCondLst>
                                        </p:cTn>
                                        <p:tgtEl>
                                          <p:spTgt spid="44"/>
                                        </p:tgtEl>
                                        <p:attrNameLst>
                                          <p:attrName>style.visibility</p:attrName>
                                        </p:attrNameLst>
                                      </p:cBhvr>
                                      <p:to>
                                        <p:strVal val="visible"/>
                                      </p:to>
                                    </p:set>
                                    <p:animEffect transition="in" filter="fade">
                                      <p:cBhvr>
                                        <p:cTn id="108" dur="400"/>
                                        <p:tgtEl>
                                          <p:spTgt spid="44"/>
                                        </p:tgtEl>
                                      </p:cBhvr>
                                    </p:animEffect>
                                  </p:childTnLst>
                                </p:cTn>
                              </p:par>
                              <p:par>
                                <p:cTn id="109" presetID="10" presetClass="entr" presetSubtype="0" fill="hold" nodeType="withEffect">
                                  <p:stCondLst>
                                    <p:cond delay="450"/>
                                  </p:stCondLst>
                                  <p:childTnLst>
                                    <p:set>
                                      <p:cBhvr>
                                        <p:cTn id="110" dur="1" fill="hold">
                                          <p:stCondLst>
                                            <p:cond delay="0"/>
                                          </p:stCondLst>
                                        </p:cTn>
                                        <p:tgtEl>
                                          <p:spTgt spid="10"/>
                                        </p:tgtEl>
                                        <p:attrNameLst>
                                          <p:attrName>style.visibility</p:attrName>
                                        </p:attrNameLst>
                                      </p:cBhvr>
                                      <p:to>
                                        <p:strVal val="visible"/>
                                      </p:to>
                                    </p:set>
                                    <p:animEffect transition="in" filter="fade">
                                      <p:cBhvr>
                                        <p:cTn id="111" dur="400"/>
                                        <p:tgtEl>
                                          <p:spTgt spid="10"/>
                                        </p:tgtEl>
                                      </p:cBhvr>
                                    </p:animEffect>
                                  </p:childTnLst>
                                </p:cTn>
                              </p:par>
                              <p:par>
                                <p:cTn id="112" presetID="10" presetClass="entr" presetSubtype="0" fill="hold" nodeType="withEffect">
                                  <p:stCondLst>
                                    <p:cond delay="600"/>
                                  </p:stCondLst>
                                  <p:childTnLst>
                                    <p:set>
                                      <p:cBhvr>
                                        <p:cTn id="113" dur="1" fill="hold">
                                          <p:stCondLst>
                                            <p:cond delay="0"/>
                                          </p:stCondLst>
                                        </p:cTn>
                                        <p:tgtEl>
                                          <p:spTgt spid="12"/>
                                        </p:tgtEl>
                                        <p:attrNameLst>
                                          <p:attrName>style.visibility</p:attrName>
                                        </p:attrNameLst>
                                      </p:cBhvr>
                                      <p:to>
                                        <p:strVal val="visible"/>
                                      </p:to>
                                    </p:set>
                                    <p:animEffect transition="in" filter="fade">
                                      <p:cBhvr>
                                        <p:cTn id="114" dur="400"/>
                                        <p:tgtEl>
                                          <p:spTgt spid="12"/>
                                        </p:tgtEl>
                                      </p:cBhvr>
                                    </p:animEffect>
                                  </p:childTnLst>
                                </p:cTn>
                              </p:par>
                              <p:par>
                                <p:cTn id="115" presetID="10" presetClass="entr" presetSubtype="0" fill="hold" nodeType="withEffect">
                                  <p:stCondLst>
                                    <p:cond delay="750"/>
                                  </p:stCondLst>
                                  <p:childTnLst>
                                    <p:set>
                                      <p:cBhvr>
                                        <p:cTn id="116" dur="1" fill="hold">
                                          <p:stCondLst>
                                            <p:cond delay="0"/>
                                          </p:stCondLst>
                                        </p:cTn>
                                        <p:tgtEl>
                                          <p:spTgt spid="9"/>
                                        </p:tgtEl>
                                        <p:attrNameLst>
                                          <p:attrName>style.visibility</p:attrName>
                                        </p:attrNameLst>
                                      </p:cBhvr>
                                      <p:to>
                                        <p:strVal val="visible"/>
                                      </p:to>
                                    </p:set>
                                    <p:animEffect transition="in" filter="fade">
                                      <p:cBhvr>
                                        <p:cTn id="117" dur="400"/>
                                        <p:tgtEl>
                                          <p:spTgt spid="9"/>
                                        </p:tgtEl>
                                      </p:cBhvr>
                                    </p:animEffect>
                                  </p:childTnLst>
                                </p:cTn>
                              </p:par>
                              <p:par>
                                <p:cTn id="118" presetID="10" presetClass="entr" presetSubtype="0" fill="hold" nodeType="withEffect">
                                  <p:stCondLst>
                                    <p:cond delay="900"/>
                                  </p:stCondLst>
                                  <p:childTnLst>
                                    <p:set>
                                      <p:cBhvr>
                                        <p:cTn id="119" dur="1" fill="hold">
                                          <p:stCondLst>
                                            <p:cond delay="0"/>
                                          </p:stCondLst>
                                        </p:cTn>
                                        <p:tgtEl>
                                          <p:spTgt spid="11"/>
                                        </p:tgtEl>
                                        <p:attrNameLst>
                                          <p:attrName>style.visibility</p:attrName>
                                        </p:attrNameLst>
                                      </p:cBhvr>
                                      <p:to>
                                        <p:strVal val="visible"/>
                                      </p:to>
                                    </p:set>
                                    <p:animEffect transition="in" filter="fade">
                                      <p:cBhvr>
                                        <p:cTn id="120" dur="400"/>
                                        <p:tgtEl>
                                          <p:spTgt spid="11"/>
                                        </p:tgtEl>
                                      </p:cBhvr>
                                    </p:animEffect>
                                  </p:childTnLst>
                                </p:cTn>
                              </p:par>
                            </p:childTnLst>
                          </p:cTn>
                        </p:par>
                      </p:childTnLst>
                    </p:cTn>
                  </p:par>
                  <p:par>
                    <p:cTn id="121" fill="hold">
                      <p:stCondLst>
                        <p:cond delay="10816"/>
                      </p:stCondLst>
                      <p:childTnLst>
                        <p:par>
                          <p:cTn id="122" fill="hold">
                            <p:stCondLst>
                              <p:cond delay="0"/>
                            </p:stCondLst>
                            <p:childTnLst>
                              <p:par>
                                <p:cTn id="123" presetID="10" presetClass="entr" presetSubtype="0" fill="hold" nodeType="after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400"/>
                                        <p:tgtEl>
                                          <p:spTgt spid="45"/>
                                        </p:tgtEl>
                                      </p:cBhvr>
                                    </p:animEffect>
                                  </p:childTnLst>
                                </p:cTn>
                              </p:par>
                              <p:par>
                                <p:cTn id="126" presetID="10" presetClass="entr" presetSubtype="0" fill="hold"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400"/>
                                        <p:tgtEl>
                                          <p:spTgt spid="46"/>
                                        </p:tgtEl>
                                      </p:cBhvr>
                                    </p:animEffect>
                                  </p:childTnLst>
                                </p:cTn>
                              </p:par>
                              <p:par>
                                <p:cTn id="129" presetID="10" presetClass="entr" presetSubtype="0" fill="hold"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400"/>
                                        <p:tgtEl>
                                          <p:spTgt spid="47"/>
                                        </p:tgtEl>
                                      </p:cBhvr>
                                    </p:animEffect>
                                  </p:childTnLst>
                                </p:cTn>
                              </p:par>
                              <p:par>
                                <p:cTn id="132" presetID="10" presetClass="entr" presetSubtype="0" fill="hold" nodeType="withEffect">
                                  <p:stCondLst>
                                    <p:cond delay="150"/>
                                  </p:stCondLst>
                                  <p:childTnLst>
                                    <p:set>
                                      <p:cBhvr>
                                        <p:cTn id="133" dur="1" fill="hold">
                                          <p:stCondLst>
                                            <p:cond delay="0"/>
                                          </p:stCondLst>
                                        </p:cTn>
                                        <p:tgtEl>
                                          <p:spTgt spid="14"/>
                                        </p:tgtEl>
                                        <p:attrNameLst>
                                          <p:attrName>style.visibility</p:attrName>
                                        </p:attrNameLst>
                                      </p:cBhvr>
                                      <p:to>
                                        <p:strVal val="visible"/>
                                      </p:to>
                                    </p:set>
                                    <p:animEffect transition="in" filter="fade">
                                      <p:cBhvr>
                                        <p:cTn id="134" dur="400"/>
                                        <p:tgtEl>
                                          <p:spTgt spid="14"/>
                                        </p:tgtEl>
                                      </p:cBhvr>
                                    </p:animEffect>
                                  </p:childTnLst>
                                </p:cTn>
                              </p:par>
                              <p:par>
                                <p:cTn id="135" presetID="10" presetClass="entr" presetSubtype="0" fill="hold" nodeType="withEffect">
                                  <p:stCondLst>
                                    <p:cond delay="300"/>
                                  </p:stCondLst>
                                  <p:childTnLst>
                                    <p:set>
                                      <p:cBhvr>
                                        <p:cTn id="136" dur="1" fill="hold">
                                          <p:stCondLst>
                                            <p:cond delay="0"/>
                                          </p:stCondLst>
                                        </p:cTn>
                                        <p:tgtEl>
                                          <p:spTgt spid="13"/>
                                        </p:tgtEl>
                                        <p:attrNameLst>
                                          <p:attrName>style.visibility</p:attrName>
                                        </p:attrNameLst>
                                      </p:cBhvr>
                                      <p:to>
                                        <p:strVal val="visible"/>
                                      </p:to>
                                    </p:set>
                                    <p:animEffect transition="in" filter="fade">
                                      <p:cBhvr>
                                        <p:cTn id="13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ACTIVITY 2</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Watch it think</a:t>
            </a:r>
            <a:endParaRPr lang="en-US" sz="3600" dirty="0"/>
          </a:p>
        </p:txBody>
      </p:sp>
      <p:sp>
        <p:nvSpPr>
          <p:cNvPr id="5" name="a1_00b"/>
          <p:cNvSpPr/>
          <p:nvPr/>
        </p:nvSpPr>
        <p:spPr>
          <a:xfrm>
            <a:off x="566928" y="1627632"/>
            <a:ext cx="5577840" cy="3703320"/>
          </a:xfrm>
          <a:prstGeom prst="roundRect">
            <a:avLst>
              <a:gd name="adj" fmla="val 1975"/>
            </a:avLst>
          </a:prstGeom>
          <a:solidFill>
            <a:srgbClr val="152A45"/>
          </a:solidFill>
          <a:ln w="12700">
            <a:solidFill>
              <a:srgbClr val="27425F"/>
            </a:solidFill>
            <a:prstDash val="solid"/>
          </a:ln>
        </p:spPr>
        <p:txBody>
          <a:bodyPr/>
          <a:lstStyle/>
          <a:p>
            <a:endParaRPr lang="en-CA"/>
          </a:p>
        </p:txBody>
      </p:sp>
      <p:sp>
        <p:nvSpPr>
          <p:cNvPr id="6" name="a1_01"/>
          <p:cNvSpPr txBox="1"/>
          <p:nvPr/>
        </p:nvSpPr>
        <p:spPr>
          <a:xfrm>
            <a:off x="886968" y="1847088"/>
            <a:ext cx="3749040" cy="402336"/>
          </a:xfrm>
          <a:prstGeom prst="rect">
            <a:avLst/>
          </a:prstGeom>
          <a:noFill/>
          <a:ln/>
        </p:spPr>
        <p:txBody>
          <a:bodyPr wrap="square" lIns="0" tIns="0" rIns="0" bIns="0" rtlCol="0" anchor="ctr"/>
          <a:lstStyle/>
          <a:p>
            <a:pPr marL="0" indent="0">
              <a:buNone/>
            </a:pPr>
            <a:r>
              <a:rPr lang="en-US" sz="1600" dirty="0">
                <a:solidFill>
                  <a:srgbClr val="EAF2F8"/>
                </a:solidFill>
                <a:latin typeface="Calibri" pitchFamily="34" charset="0"/>
                <a:ea typeface="Calibri" pitchFamily="34" charset="-122"/>
                <a:cs typeface="Calibri" pitchFamily="34" charset="-120"/>
              </a:rPr>
              <a:t>Effort the task demands</a:t>
            </a:r>
            <a:endParaRPr lang="en-US" sz="1600" dirty="0"/>
          </a:p>
        </p:txBody>
      </p:sp>
      <p:sp>
        <p:nvSpPr>
          <p:cNvPr id="7" name="a1_11"/>
          <p:cNvSpPr txBox="1"/>
          <p:nvPr/>
        </p:nvSpPr>
        <p:spPr>
          <a:xfrm>
            <a:off x="4590288" y="1847088"/>
            <a:ext cx="1325880" cy="402336"/>
          </a:xfrm>
          <a:prstGeom prst="rect">
            <a:avLst/>
          </a:prstGeom>
          <a:noFill/>
          <a:ln/>
        </p:spPr>
        <p:txBody>
          <a:bodyPr wrap="square" lIns="0" tIns="0" rIns="0" bIns="0" rtlCol="0" anchor="ctr"/>
          <a:lstStyle/>
          <a:p>
            <a:pPr marL="0" indent="0" algn="r">
              <a:buNone/>
            </a:pPr>
            <a:r>
              <a:rPr lang="en-US" sz="1600" b="1" dirty="0">
                <a:solidFill>
                  <a:srgbClr val="EAF2F8"/>
                </a:solidFill>
                <a:latin typeface="Calibri" pitchFamily="34" charset="0"/>
                <a:ea typeface="Calibri" pitchFamily="34" charset="-122"/>
                <a:cs typeface="Calibri" pitchFamily="34" charset="-120"/>
              </a:rPr>
              <a:t>0.62</a:t>
            </a:r>
            <a:endParaRPr lang="en-US" sz="1600" dirty="0"/>
          </a:p>
        </p:txBody>
      </p:sp>
      <p:sp>
        <p:nvSpPr>
          <p:cNvPr id="8" name="a1_02"/>
          <p:cNvSpPr txBox="1"/>
          <p:nvPr/>
        </p:nvSpPr>
        <p:spPr>
          <a:xfrm>
            <a:off x="886968" y="2514600"/>
            <a:ext cx="3749040" cy="402336"/>
          </a:xfrm>
          <a:prstGeom prst="rect">
            <a:avLst/>
          </a:prstGeom>
          <a:noFill/>
          <a:ln/>
        </p:spPr>
        <p:txBody>
          <a:bodyPr wrap="square" lIns="0" tIns="0" rIns="0" bIns="0" rtlCol="0" anchor="ctr"/>
          <a:lstStyle/>
          <a:p>
            <a:pPr marL="0" indent="0">
              <a:buNone/>
            </a:pPr>
            <a:r>
              <a:rPr lang="en-US" sz="1600" dirty="0">
                <a:solidFill>
                  <a:srgbClr val="EAF2F8"/>
                </a:solidFill>
                <a:latin typeface="Calibri" pitchFamily="34" charset="0"/>
                <a:ea typeface="Calibri" pitchFamily="34" charset="-122"/>
                <a:cs typeface="Calibri" pitchFamily="34" charset="-120"/>
              </a:rPr>
              <a:t>Effort wasted on the display</a:t>
            </a:r>
            <a:endParaRPr lang="en-US" sz="1600" dirty="0"/>
          </a:p>
        </p:txBody>
      </p:sp>
      <p:sp>
        <p:nvSpPr>
          <p:cNvPr id="9" name="a1_12"/>
          <p:cNvSpPr txBox="1"/>
          <p:nvPr/>
        </p:nvSpPr>
        <p:spPr>
          <a:xfrm>
            <a:off x="4590288" y="2514600"/>
            <a:ext cx="1325880" cy="402336"/>
          </a:xfrm>
          <a:prstGeom prst="rect">
            <a:avLst/>
          </a:prstGeom>
          <a:noFill/>
          <a:ln/>
        </p:spPr>
        <p:txBody>
          <a:bodyPr wrap="square" lIns="0" tIns="0" rIns="0" bIns="0" rtlCol="0" anchor="ctr"/>
          <a:lstStyle/>
          <a:p>
            <a:pPr marL="0" indent="0" algn="r">
              <a:buNone/>
            </a:pPr>
            <a:r>
              <a:rPr lang="en-US" sz="1600" b="1" dirty="0">
                <a:solidFill>
                  <a:srgbClr val="FF8A5B"/>
                </a:solidFill>
                <a:latin typeface="Calibri" pitchFamily="34" charset="0"/>
                <a:ea typeface="Calibri" pitchFamily="34" charset="-122"/>
                <a:cs typeface="Calibri" pitchFamily="34" charset="-120"/>
              </a:rPr>
              <a:t>0.88</a:t>
            </a:r>
            <a:endParaRPr lang="en-US" sz="1600" dirty="0"/>
          </a:p>
        </p:txBody>
      </p:sp>
      <p:sp>
        <p:nvSpPr>
          <p:cNvPr id="10" name="a1_03"/>
          <p:cNvSpPr txBox="1"/>
          <p:nvPr/>
        </p:nvSpPr>
        <p:spPr>
          <a:xfrm>
            <a:off x="886968" y="3182112"/>
            <a:ext cx="3749040" cy="402336"/>
          </a:xfrm>
          <a:prstGeom prst="rect">
            <a:avLst/>
          </a:prstGeom>
          <a:noFill/>
          <a:ln/>
        </p:spPr>
        <p:txBody>
          <a:bodyPr wrap="square" lIns="0" tIns="0" rIns="0" bIns="0" rtlCol="0" anchor="ctr"/>
          <a:lstStyle/>
          <a:p>
            <a:pPr marL="0" indent="0">
              <a:buNone/>
            </a:pPr>
            <a:r>
              <a:rPr lang="en-US" sz="1600" dirty="0">
                <a:solidFill>
                  <a:srgbClr val="EAF2F8"/>
                </a:solidFill>
                <a:latin typeface="Calibri" pitchFamily="34" charset="0"/>
                <a:ea typeface="Calibri" pitchFamily="34" charset="-122"/>
                <a:cs typeface="Calibri" pitchFamily="34" charset="-120"/>
              </a:rPr>
              <a:t>Effort left for learning</a:t>
            </a:r>
            <a:endParaRPr lang="en-US" sz="1600" dirty="0"/>
          </a:p>
        </p:txBody>
      </p:sp>
      <p:sp>
        <p:nvSpPr>
          <p:cNvPr id="11" name="a1_13"/>
          <p:cNvSpPr txBox="1"/>
          <p:nvPr/>
        </p:nvSpPr>
        <p:spPr>
          <a:xfrm>
            <a:off x="4590288" y="3182112"/>
            <a:ext cx="1325880" cy="402336"/>
          </a:xfrm>
          <a:prstGeom prst="rect">
            <a:avLst/>
          </a:prstGeom>
          <a:noFill/>
          <a:ln/>
        </p:spPr>
        <p:txBody>
          <a:bodyPr wrap="square" lIns="0" tIns="0" rIns="0" bIns="0" rtlCol="0" anchor="ctr"/>
          <a:lstStyle/>
          <a:p>
            <a:pPr marL="0" indent="0" algn="r">
              <a:buNone/>
            </a:pPr>
            <a:r>
              <a:rPr lang="en-US" sz="1600" b="1" dirty="0">
                <a:solidFill>
                  <a:srgbClr val="EAF2F8"/>
                </a:solidFill>
                <a:latin typeface="Calibri" pitchFamily="34" charset="0"/>
                <a:ea typeface="Calibri" pitchFamily="34" charset="-122"/>
                <a:cs typeface="Calibri" pitchFamily="34" charset="-120"/>
              </a:rPr>
              <a:t>0.31</a:t>
            </a:r>
            <a:endParaRPr lang="en-US" sz="1600" dirty="0"/>
          </a:p>
        </p:txBody>
      </p:sp>
      <p:sp>
        <p:nvSpPr>
          <p:cNvPr id="12" name="a1_04"/>
          <p:cNvSpPr txBox="1"/>
          <p:nvPr/>
        </p:nvSpPr>
        <p:spPr>
          <a:xfrm>
            <a:off x="886968" y="3849624"/>
            <a:ext cx="3749040" cy="402336"/>
          </a:xfrm>
          <a:prstGeom prst="rect">
            <a:avLst/>
          </a:prstGeom>
          <a:noFill/>
          <a:ln/>
        </p:spPr>
        <p:txBody>
          <a:bodyPr wrap="square" lIns="0" tIns="0" rIns="0" bIns="0" rtlCol="0" anchor="ctr"/>
          <a:lstStyle/>
          <a:p>
            <a:pPr marL="0" indent="0">
              <a:buNone/>
            </a:pPr>
            <a:r>
              <a:rPr lang="en-US" sz="1600" dirty="0">
                <a:solidFill>
                  <a:srgbClr val="EAF2F8"/>
                </a:solidFill>
                <a:latin typeface="Calibri" pitchFamily="34" charset="0"/>
                <a:ea typeface="Calibri" pitchFamily="34" charset="-122"/>
                <a:cs typeface="Calibri" pitchFamily="34" charset="-120"/>
              </a:rPr>
              <a:t>Locked on one instrument</a:t>
            </a:r>
            <a:endParaRPr lang="en-US" sz="1600" dirty="0"/>
          </a:p>
        </p:txBody>
      </p:sp>
      <p:sp>
        <p:nvSpPr>
          <p:cNvPr id="13" name="a1_14"/>
          <p:cNvSpPr txBox="1"/>
          <p:nvPr/>
        </p:nvSpPr>
        <p:spPr>
          <a:xfrm>
            <a:off x="4590288" y="3849624"/>
            <a:ext cx="1325880" cy="402336"/>
          </a:xfrm>
          <a:prstGeom prst="rect">
            <a:avLst/>
          </a:prstGeom>
          <a:noFill/>
          <a:ln/>
        </p:spPr>
        <p:txBody>
          <a:bodyPr wrap="square" lIns="0" tIns="0" rIns="0" bIns="0" rtlCol="0" anchor="ctr"/>
          <a:lstStyle/>
          <a:p>
            <a:pPr marL="0" indent="0" algn="r">
              <a:buNone/>
            </a:pPr>
            <a:r>
              <a:rPr lang="en-US" sz="1600" b="1" dirty="0">
                <a:solidFill>
                  <a:srgbClr val="FF8A5B"/>
                </a:solidFill>
                <a:latin typeface="Calibri" pitchFamily="34" charset="0"/>
                <a:ea typeface="Calibri" pitchFamily="34" charset="-122"/>
                <a:cs typeface="Calibri" pitchFamily="34" charset="-120"/>
              </a:rPr>
              <a:t>0.91 sure</a:t>
            </a:r>
            <a:endParaRPr lang="en-US" sz="1600" dirty="0"/>
          </a:p>
        </p:txBody>
      </p:sp>
      <p:sp>
        <p:nvSpPr>
          <p:cNvPr id="14" name="a1_05"/>
          <p:cNvSpPr txBox="1"/>
          <p:nvPr/>
        </p:nvSpPr>
        <p:spPr>
          <a:xfrm>
            <a:off x="886968" y="4517136"/>
            <a:ext cx="3749040" cy="402336"/>
          </a:xfrm>
          <a:prstGeom prst="rect">
            <a:avLst/>
          </a:prstGeom>
          <a:noFill/>
          <a:ln/>
        </p:spPr>
        <p:txBody>
          <a:bodyPr wrap="square" lIns="0" tIns="0" rIns="0" bIns="0" rtlCol="0" anchor="ctr"/>
          <a:lstStyle/>
          <a:p>
            <a:pPr marL="0" indent="0">
              <a:buNone/>
            </a:pPr>
            <a:r>
              <a:rPr lang="en-US" sz="1600" dirty="0">
                <a:solidFill>
                  <a:srgbClr val="EAF2F8"/>
                </a:solidFill>
                <a:latin typeface="Calibri" pitchFamily="34" charset="0"/>
                <a:ea typeface="Calibri" pitchFamily="34" charset="-122"/>
                <a:cs typeface="Calibri" pitchFamily="34" charset="-120"/>
              </a:rPr>
              <a:t>Mastery so far</a:t>
            </a:r>
            <a:endParaRPr lang="en-US" sz="1600" dirty="0"/>
          </a:p>
        </p:txBody>
      </p:sp>
      <p:sp>
        <p:nvSpPr>
          <p:cNvPr id="15" name="a1_15"/>
          <p:cNvSpPr txBox="1"/>
          <p:nvPr/>
        </p:nvSpPr>
        <p:spPr>
          <a:xfrm>
            <a:off x="4590288" y="4517136"/>
            <a:ext cx="1325880" cy="402336"/>
          </a:xfrm>
          <a:prstGeom prst="rect">
            <a:avLst/>
          </a:prstGeom>
          <a:noFill/>
          <a:ln/>
        </p:spPr>
        <p:txBody>
          <a:bodyPr wrap="square" lIns="0" tIns="0" rIns="0" bIns="0" rtlCol="0" anchor="ctr"/>
          <a:lstStyle/>
          <a:p>
            <a:pPr marL="0" indent="0" algn="r">
              <a:buNone/>
            </a:pPr>
            <a:r>
              <a:rPr lang="en-US" sz="1600" b="1" dirty="0">
                <a:solidFill>
                  <a:srgbClr val="EAF2F8"/>
                </a:solidFill>
                <a:latin typeface="Calibri" pitchFamily="34" charset="0"/>
                <a:ea typeface="Calibri" pitchFamily="34" charset="-122"/>
                <a:cs typeface="Calibri" pitchFamily="34" charset="-120"/>
              </a:rPr>
              <a:t>0.47</a:t>
            </a:r>
            <a:endParaRPr lang="en-US" sz="1600" dirty="0"/>
          </a:p>
        </p:txBody>
      </p:sp>
      <p:sp>
        <p:nvSpPr>
          <p:cNvPr id="16" name="a2_01b"/>
          <p:cNvSpPr/>
          <p:nvPr/>
        </p:nvSpPr>
        <p:spPr>
          <a:xfrm>
            <a:off x="6510528" y="1627632"/>
            <a:ext cx="512064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17" name="a2_01e"/>
          <p:cNvSpPr txBox="1"/>
          <p:nvPr/>
        </p:nvSpPr>
        <p:spPr>
          <a:xfrm>
            <a:off x="6784848" y="1810512"/>
            <a:ext cx="4572000"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What it did</a:t>
            </a:r>
            <a:endParaRPr lang="en-US" sz="1900" dirty="0"/>
          </a:p>
        </p:txBody>
      </p:sp>
      <p:sp>
        <p:nvSpPr>
          <p:cNvPr id="18" name="a2_01f"/>
          <p:cNvSpPr txBox="1"/>
          <p:nvPr/>
        </p:nvSpPr>
        <p:spPr>
          <a:xfrm>
            <a:off x="6784848" y="2414016"/>
            <a:ext cx="457200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Dimmed the display, and spoke in role rather than pausing.</a:t>
            </a:r>
            <a:endParaRPr lang="en-US" sz="1500" dirty="0"/>
          </a:p>
        </p:txBody>
      </p:sp>
      <p:sp>
        <p:nvSpPr>
          <p:cNvPr id="19" name="a2_02b"/>
          <p:cNvSpPr/>
          <p:nvPr/>
        </p:nvSpPr>
        <p:spPr>
          <a:xfrm>
            <a:off x="6510528" y="3639312"/>
            <a:ext cx="5120640"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20" name="a2_02e"/>
          <p:cNvSpPr txBox="1"/>
          <p:nvPr/>
        </p:nvSpPr>
        <p:spPr>
          <a:xfrm>
            <a:off x="6784848" y="3822192"/>
            <a:ext cx="4572000"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Why</a:t>
            </a:r>
            <a:endParaRPr lang="en-US" sz="1900" dirty="0"/>
          </a:p>
        </p:txBody>
      </p:sp>
      <p:sp>
        <p:nvSpPr>
          <p:cNvPr id="21" name="a2_02f"/>
          <p:cNvSpPr txBox="1"/>
          <p:nvPr/>
        </p:nvSpPr>
        <p:spPr>
          <a:xfrm>
            <a:off x="6784848" y="4425696"/>
            <a:ext cx="4572000" cy="77724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Wasted effort stayed above 0.85 for 400 ms while the eyes never checked airspeed.</a:t>
            </a:r>
            <a:endParaRPr lang="en-US" sz="1500" dirty="0"/>
          </a:p>
        </p:txBody>
      </p:sp>
      <p:sp>
        <p:nvSpPr>
          <p:cNvPr id="22" name="a2_03"/>
          <p:cNvSpPr txBox="1"/>
          <p:nvPr/>
        </p:nvSpPr>
        <p:spPr>
          <a:xfrm>
            <a:off x="566928" y="6199632"/>
            <a:ext cx="11057839" cy="365760"/>
          </a:xfrm>
          <a:prstGeom prst="rect">
            <a:avLst/>
          </a:prstGeom>
          <a:noFill/>
          <a:ln/>
        </p:spPr>
        <p:txBody>
          <a:bodyPr wrap="square" lIns="0" tIns="0" rIns="0" bIns="0" rtlCol="0" anchor="ctr"/>
          <a:lstStyle/>
          <a:p>
            <a:pPr marL="0" indent="0">
              <a:buNone/>
            </a:pPr>
            <a:r>
              <a:rPr lang="en-US" sz="1400" i="1" dirty="0">
                <a:solidFill>
                  <a:srgbClr val="9BB0C4"/>
                </a:solidFill>
                <a:latin typeface="Calibri" pitchFamily="34" charset="0"/>
                <a:ea typeface="Calibri" pitchFamily="34" charset="-122"/>
                <a:cs typeface="Calibri" pitchFamily="34" charset="-120"/>
              </a:rPr>
              <a:t>Every change is stored next to the reading that caused it.</a:t>
            </a:r>
            <a:endParaRPr lang="en-US" sz="1400" dirty="0"/>
          </a:p>
        </p:txBody>
      </p:sp>
    </p:spTree>
  </p:cSld>
  <p:clrMapOvr>
    <a:masterClrMapping/>
  </p:clrMapOvr>
  <p:transition spd="slow" advClick="0" advTm="20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15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3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400"/>
                                        <p:tgtEl>
                                          <p:spTgt spid="8"/>
                                        </p:tgtEl>
                                      </p:cBhvr>
                                    </p:animEffect>
                                  </p:childTnLst>
                                </p:cTn>
                              </p:par>
                              <p:par>
                                <p:cTn id="14" presetID="10" presetClass="entr" presetSubtype="0" fill="hold" nodeType="withEffect">
                                  <p:stCondLst>
                                    <p:cond delay="45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nodeType="withEffect">
                                  <p:stCondLst>
                                    <p:cond delay="60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nodeType="withEffect">
                                  <p:stCondLst>
                                    <p:cond delay="7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nodeType="withEffect">
                                  <p:stCondLst>
                                    <p:cond delay="90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400"/>
                                        <p:tgtEl>
                                          <p:spTgt spid="7"/>
                                        </p:tgtEl>
                                      </p:cBhvr>
                                    </p:animEffect>
                                  </p:childTnLst>
                                </p:cTn>
                              </p:par>
                              <p:par>
                                <p:cTn id="26" presetID="10" presetClass="entr" presetSubtype="0" fill="hold" nodeType="withEffect">
                                  <p:stCondLst>
                                    <p:cond delay="105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400"/>
                                        <p:tgtEl>
                                          <p:spTgt spid="9"/>
                                        </p:tgtEl>
                                      </p:cBhvr>
                                    </p:animEffect>
                                  </p:childTnLst>
                                </p:cTn>
                              </p:par>
                              <p:par>
                                <p:cTn id="29" presetID="10" presetClass="entr" presetSubtype="0" fill="hold" nodeType="withEffect">
                                  <p:stCondLst>
                                    <p:cond delay="120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par>
                                <p:cTn id="32" presetID="10" presetClass="entr" presetSubtype="0" fill="hold" nodeType="withEffect">
                                  <p:stCondLst>
                                    <p:cond delay="135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00"/>
                                        <p:tgtEl>
                                          <p:spTgt spid="13"/>
                                        </p:tgtEl>
                                      </p:cBhvr>
                                    </p:animEffect>
                                  </p:childTnLst>
                                </p:cTn>
                              </p:par>
                              <p:par>
                                <p:cTn id="35" presetID="10" presetClass="entr" presetSubtype="0" fill="hold" nodeType="withEffect">
                                  <p:stCondLst>
                                    <p:cond delay="150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00"/>
                                        <p:tgtEl>
                                          <p:spTgt spid="15"/>
                                        </p:tgtEl>
                                      </p:cBhvr>
                                    </p:animEffect>
                                  </p:childTnLst>
                                </p:cTn>
                              </p:par>
                            </p:childTnLst>
                          </p:cTn>
                        </p:par>
                      </p:childTnLst>
                    </p:cTn>
                  </p:par>
                  <p:par>
                    <p:cTn id="38" fill="hold">
                      <p:stCondLst>
                        <p:cond delay="9150"/>
                      </p:stCondLst>
                      <p:childTnLst>
                        <p:par>
                          <p:cTn id="39" fill="hold">
                            <p:stCondLst>
                              <p:cond delay="0"/>
                            </p:stCondLst>
                            <p:childTnLst>
                              <p:par>
                                <p:cTn id="40" presetID="10" presetClass="entr" presetSubtype="0" fill="hold" nodeType="after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00"/>
                                        <p:tgtEl>
                                          <p:spTgt spid="16"/>
                                        </p:tgtEl>
                                      </p:cBhvr>
                                    </p:animEffect>
                                  </p:childTnLst>
                                </p:cTn>
                              </p:par>
                              <p:par>
                                <p:cTn id="43" presetID="10" presetClass="entr" presetSubtype="0" fill="hold" nodeType="with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0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00"/>
                                        <p:tgtEl>
                                          <p:spTgt spid="18"/>
                                        </p:tgtEl>
                                      </p:cBhvr>
                                    </p:animEffect>
                                  </p:childTnLst>
                                </p:cTn>
                              </p:par>
                              <p:par>
                                <p:cTn id="49" presetID="10" presetClass="entr" presetSubtype="0" fill="hold" nodeType="withEffect">
                                  <p:stCondLst>
                                    <p:cond delay="15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par>
                                <p:cTn id="52" presetID="10" presetClass="entr" presetSubtype="0" fill="hold" nodeType="withEffect">
                                  <p:stCondLst>
                                    <p:cond delay="150"/>
                                  </p:stCondLst>
                                  <p:childTnLst>
                                    <p:set>
                                      <p:cBhvr>
                                        <p:cTn id="53" dur="1" fill="hold">
                                          <p:stCondLst>
                                            <p:cond delay="0"/>
                                          </p:stCondLst>
                                        </p:cTn>
                                        <p:tgtEl>
                                          <p:spTgt spid="20"/>
                                        </p:tgtEl>
                                        <p:attrNameLst>
                                          <p:attrName>style.visibility</p:attrName>
                                        </p:attrNameLst>
                                      </p:cBhvr>
                                      <p:to>
                                        <p:strVal val="visible"/>
                                      </p:to>
                                    </p:set>
                                    <p:animEffect transition="in" filter="fade">
                                      <p:cBhvr>
                                        <p:cTn id="54" dur="400"/>
                                        <p:tgtEl>
                                          <p:spTgt spid="20"/>
                                        </p:tgtEl>
                                      </p:cBhvr>
                                    </p:animEffect>
                                  </p:childTnLst>
                                </p:cTn>
                              </p:par>
                              <p:par>
                                <p:cTn id="55" presetID="10" presetClass="entr" presetSubtype="0" fill="hold" nodeType="withEffect">
                                  <p:stCondLst>
                                    <p:cond delay="15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00"/>
                                        <p:tgtEl>
                                          <p:spTgt spid="21"/>
                                        </p:tgtEl>
                                      </p:cBhvr>
                                    </p:animEffect>
                                  </p:childTnLst>
                                </p:cTn>
                              </p:par>
                              <p:par>
                                <p:cTn id="58" presetID="10" presetClass="entr" presetSubtype="0" fill="hold" nodeType="withEffect">
                                  <p:stCondLst>
                                    <p:cond delay="300"/>
                                  </p:stCondLst>
                                  <p:childTnLst>
                                    <p:set>
                                      <p:cBhvr>
                                        <p:cTn id="59" dur="1" fill="hold">
                                          <p:stCondLst>
                                            <p:cond delay="0"/>
                                          </p:stCondLst>
                                        </p:cTn>
                                        <p:tgtEl>
                                          <p:spTgt spid="22"/>
                                        </p:tgtEl>
                                        <p:attrNameLst>
                                          <p:attrName>style.visibility</p:attrName>
                                        </p:attrNameLst>
                                      </p:cBhvr>
                                      <p:to>
                                        <p:strVal val="visible"/>
                                      </p:to>
                                    </p:set>
                                    <p:animEffect transition="in" filter="fade">
                                      <p:cBhvr>
                                        <p:cTn id="60"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ACTIVITY 3</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Nothing from the body leaves the room</a:t>
            </a:r>
            <a:endParaRPr lang="en-US" sz="3600" dirty="0"/>
          </a:p>
        </p:txBody>
      </p:sp>
      <p:sp>
        <p:nvSpPr>
          <p:cNvPr id="5" name="a1_01b"/>
          <p:cNvSpPr/>
          <p:nvPr/>
        </p:nvSpPr>
        <p:spPr>
          <a:xfrm>
            <a:off x="475488" y="1481328"/>
            <a:ext cx="7772400" cy="4382414"/>
          </a:xfrm>
          <a:prstGeom prst="roundRect">
            <a:avLst>
              <a:gd name="adj" fmla="val 1043"/>
            </a:avLst>
          </a:prstGeom>
          <a:solidFill>
            <a:srgbClr val="FFFFFF"/>
          </a:solidFill>
          <a:ln w="12700">
            <a:solidFill>
              <a:srgbClr val="FFFFFF"/>
            </a:solidFill>
            <a:prstDash val="solid"/>
          </a:ln>
          <a:effectLst>
            <a:outerShdw blurRad="228600" dist="50800" dir="5400000" algn="bl" rotWithShape="0">
              <a:srgbClr val="000000">
                <a:alpha val="45000"/>
              </a:srgbClr>
            </a:outerShdw>
          </a:effectLst>
        </p:spPr>
        <p:txBody>
          <a:bodyPr/>
          <a:lstStyle/>
          <a:p>
            <a:endParaRPr lang="en-CA"/>
          </a:p>
        </p:txBody>
      </p:sp>
      <p:pic>
        <p:nvPicPr>
          <p:cNvPr id="6" name="a1_01i" descr="/home/claude/repo/cognisim/figures/fig7_fldp.png"/>
          <p:cNvPicPr>
            <a:picLocks noChangeAspect="1"/>
          </p:cNvPicPr>
          <p:nvPr/>
        </p:nvPicPr>
        <p:blipFill>
          <a:blip r:embed="rId3"/>
          <a:stretch>
            <a:fillRect/>
          </a:stretch>
        </p:blipFill>
        <p:spPr>
          <a:xfrm>
            <a:off x="566928" y="1572768"/>
            <a:ext cx="7589520" cy="4199534"/>
          </a:xfrm>
          <a:prstGeom prst="rect">
            <a:avLst/>
          </a:prstGeom>
        </p:spPr>
      </p:pic>
      <p:sp>
        <p:nvSpPr>
          <p:cNvPr id="7" name="a2_01b"/>
          <p:cNvSpPr/>
          <p:nvPr/>
        </p:nvSpPr>
        <p:spPr>
          <a:xfrm>
            <a:off x="8613648" y="1920240"/>
            <a:ext cx="356616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8" name="a2_01t"/>
          <p:cNvSpPr txBox="1"/>
          <p:nvPr/>
        </p:nvSpPr>
        <p:spPr>
          <a:xfrm>
            <a:off x="8613648" y="1920240"/>
            <a:ext cx="356616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Device blurs at 2</a:t>
            </a:r>
            <a:endParaRPr lang="en-US" sz="1400" dirty="0"/>
          </a:p>
        </p:txBody>
      </p:sp>
      <p:sp>
        <p:nvSpPr>
          <p:cNvPr id="9" name="a2_02b"/>
          <p:cNvSpPr/>
          <p:nvPr/>
        </p:nvSpPr>
        <p:spPr>
          <a:xfrm>
            <a:off x="8613648" y="2578608"/>
            <a:ext cx="356616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10" name="a2_02t"/>
          <p:cNvSpPr txBox="1"/>
          <p:nvPr/>
        </p:nvSpPr>
        <p:spPr>
          <a:xfrm>
            <a:off x="8613648" y="2578608"/>
            <a:ext cx="356616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Server blurs at 1</a:t>
            </a:r>
            <a:endParaRPr lang="en-US" sz="1400" dirty="0"/>
          </a:p>
        </p:txBody>
      </p:sp>
      <p:sp>
        <p:nvSpPr>
          <p:cNvPr id="11" name="a2_03b"/>
          <p:cNvSpPr/>
          <p:nvPr/>
        </p:nvSpPr>
        <p:spPr>
          <a:xfrm>
            <a:off x="8613648" y="3236976"/>
            <a:ext cx="356616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12" name="a2_03t"/>
          <p:cNvSpPr txBox="1"/>
          <p:nvPr/>
        </p:nvSpPr>
        <p:spPr>
          <a:xfrm>
            <a:off x="8613648" y="3236976"/>
            <a:ext cx="356616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Summary trimmed to a fixed size</a:t>
            </a:r>
            <a:endParaRPr lang="en-US" sz="1400" dirty="0"/>
          </a:p>
        </p:txBody>
      </p:sp>
      <p:sp>
        <p:nvSpPr>
          <p:cNvPr id="13" name="a2_04b"/>
          <p:cNvSpPr/>
          <p:nvPr/>
        </p:nvSpPr>
        <p:spPr>
          <a:xfrm>
            <a:off x="8613648" y="3895344"/>
            <a:ext cx="3566160" cy="402336"/>
          </a:xfrm>
          <a:prstGeom prst="roundRect">
            <a:avLst>
              <a:gd name="adj" fmla="val 50000"/>
            </a:avLst>
          </a:prstGeom>
          <a:solidFill>
            <a:srgbClr val="12314A"/>
          </a:solidFill>
          <a:ln w="12700">
            <a:solidFill>
              <a:srgbClr val="2F6577"/>
            </a:solidFill>
            <a:prstDash val="solid"/>
          </a:ln>
        </p:spPr>
        <p:txBody>
          <a:bodyPr/>
          <a:lstStyle/>
          <a:p>
            <a:endParaRPr lang="en-CA"/>
          </a:p>
        </p:txBody>
      </p:sp>
      <p:sp>
        <p:nvSpPr>
          <p:cNvPr id="14" name="a2_04t"/>
          <p:cNvSpPr txBox="1"/>
          <p:nvPr/>
        </p:nvSpPr>
        <p:spPr>
          <a:xfrm>
            <a:off x="8613648" y="3895344"/>
            <a:ext cx="3566160" cy="402336"/>
          </a:xfrm>
          <a:prstGeom prst="rect">
            <a:avLst/>
          </a:prstGeom>
          <a:noFill/>
          <a:ln/>
        </p:spPr>
        <p:txBody>
          <a:bodyPr wrap="square" lIns="0" tIns="0" rIns="0" bIns="0" rtlCol="0" anchor="ctr"/>
          <a:lstStyle/>
          <a:p>
            <a:pPr marL="0" indent="0" algn="ctr">
              <a:buNone/>
            </a:pPr>
            <a:r>
              <a:rPr lang="en-US" sz="1400" dirty="0">
                <a:solidFill>
                  <a:srgbClr val="D6F3F8"/>
                </a:solidFill>
                <a:latin typeface="Calibri" pitchFamily="34" charset="0"/>
                <a:ea typeface="Calibri" pitchFamily="34" charset="-122"/>
                <a:cs typeface="Calibri" pitchFamily="34" charset="-120"/>
              </a:rPr>
              <a:t>Reduced to 95% of the variation first</a:t>
            </a:r>
            <a:endParaRPr lang="en-US" sz="1400" dirty="0"/>
          </a:p>
        </p:txBody>
      </p:sp>
    </p:spTree>
  </p:cSld>
  <p:clrMapOvr>
    <a:masterClrMapping/>
  </p:clrMapOvr>
  <p:transition spd="slow" advClick="0" advTm="20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childTnLst>
                          </p:cTn>
                        </p:par>
                      </p:childTnLst>
                    </p:cTn>
                  </p:par>
                  <p:par>
                    <p:cTn id="11" fill="hold">
                      <p:stCondLst>
                        <p:cond delay="9150"/>
                      </p:stCondLst>
                      <p:childTnLst>
                        <p:par>
                          <p:cTn id="12" fill="hold">
                            <p:stCondLst>
                              <p:cond delay="0"/>
                            </p:stCondLst>
                            <p:childTnLst>
                              <p:par>
                                <p:cTn id="13" presetID="10" presetClass="entr" presetSubtype="0" fill="hold"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00"/>
                                        <p:tgtEl>
                                          <p:spTgt spid="8"/>
                                        </p:tgtEl>
                                      </p:cBhvr>
                                    </p:animEffect>
                                  </p:childTnLst>
                                </p:cTn>
                              </p:par>
                              <p:par>
                                <p:cTn id="19" presetID="10" presetClass="entr" presetSubtype="0" fill="hold" nodeType="withEffect">
                                  <p:stCondLst>
                                    <p:cond delay="1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nodeType="withEffect">
                                  <p:stCondLst>
                                    <p:cond delay="15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nodeType="withEffect">
                                  <p:stCondLst>
                                    <p:cond delay="3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nodeType="withEffect">
                                  <p:stCondLst>
                                    <p:cond delay="30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nodeType="withEffect">
                                  <p:stCondLst>
                                    <p:cond delay="45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nodeType="withEffect">
                                  <p:stCondLst>
                                    <p:cond delay="45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ACTIVITY 3 · THE ATTACK</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Try to break it</a:t>
            </a:r>
            <a:endParaRPr lang="en-US" sz="3600" dirty="0"/>
          </a:p>
        </p:txBody>
      </p:sp>
      <p:sp>
        <p:nvSpPr>
          <p:cNvPr id="5" name="a1_01b"/>
          <p:cNvSpPr/>
          <p:nvPr/>
        </p:nvSpPr>
        <p:spPr>
          <a:xfrm>
            <a:off x="566928" y="1572768"/>
            <a:ext cx="5486400" cy="2880360"/>
          </a:xfrm>
          <a:prstGeom prst="roundRect">
            <a:avLst>
              <a:gd name="adj" fmla="val 2540"/>
            </a:avLst>
          </a:prstGeom>
          <a:solidFill>
            <a:srgbClr val="3A2018"/>
          </a:solidFill>
          <a:ln w="12700">
            <a:solidFill>
              <a:srgbClr val="27425F"/>
            </a:solidFill>
            <a:prstDash val="solid"/>
          </a:ln>
        </p:spPr>
        <p:txBody>
          <a:bodyPr/>
          <a:lstStyle/>
          <a:p>
            <a:endParaRPr lang="en-CA"/>
          </a:p>
        </p:txBody>
      </p:sp>
      <p:sp>
        <p:nvSpPr>
          <p:cNvPr id="6" name="a1_01e"/>
          <p:cNvSpPr txBox="1"/>
          <p:nvPr/>
        </p:nvSpPr>
        <p:spPr>
          <a:xfrm>
            <a:off x="859536" y="1783080"/>
            <a:ext cx="4937760" cy="365760"/>
          </a:xfrm>
          <a:prstGeom prst="rect">
            <a:avLst/>
          </a:prstGeom>
          <a:noFill/>
          <a:ln/>
        </p:spPr>
        <p:txBody>
          <a:bodyPr wrap="square" lIns="0" tIns="0" rIns="0" bIns="0" rtlCol="0" anchor="ctr"/>
          <a:lstStyle/>
          <a:p>
            <a:pPr marL="0" indent="0">
              <a:buNone/>
            </a:pPr>
            <a:r>
              <a:rPr lang="en-US" sz="1900" b="1" dirty="0">
                <a:solidFill>
                  <a:srgbClr val="FF8A5B"/>
                </a:solidFill>
                <a:latin typeface="Calibri" pitchFamily="34" charset="0"/>
                <a:ea typeface="Calibri" pitchFamily="34" charset="-122"/>
                <a:cs typeface="Calibri" pitchFamily="34" charset="-120"/>
              </a:rPr>
              <a:t>Protection off</a:t>
            </a:r>
            <a:endParaRPr lang="en-US" sz="1900" dirty="0"/>
          </a:p>
        </p:txBody>
      </p:sp>
      <p:sp>
        <p:nvSpPr>
          <p:cNvPr id="7" name="a1_02"/>
          <p:cNvSpPr txBox="1"/>
          <p:nvPr/>
        </p:nvSpPr>
        <p:spPr>
          <a:xfrm>
            <a:off x="859536" y="2286000"/>
            <a:ext cx="4937760" cy="868680"/>
          </a:xfrm>
          <a:prstGeom prst="rect">
            <a:avLst/>
          </a:prstGeom>
          <a:noFill/>
          <a:ln/>
        </p:spPr>
        <p:txBody>
          <a:bodyPr wrap="square" lIns="0" tIns="0" rIns="0" bIns="0" rtlCol="0" anchor="ctr"/>
          <a:lstStyle/>
          <a:p>
            <a:pPr marL="0" indent="0">
              <a:buNone/>
            </a:pPr>
            <a:r>
              <a:rPr lang="en-US" sz="4800" b="1" dirty="0">
                <a:solidFill>
                  <a:srgbClr val="FF8A5B"/>
                </a:solidFill>
                <a:latin typeface="Calibri" pitchFamily="34" charset="0"/>
                <a:ea typeface="Calibri" pitchFamily="34" charset="-122"/>
                <a:cs typeface="Calibri" pitchFamily="34" charset="-120"/>
              </a:rPr>
              <a:t>1.000</a:t>
            </a:r>
            <a:endParaRPr lang="en-US" sz="4800" dirty="0"/>
          </a:p>
        </p:txBody>
      </p:sp>
      <p:sp>
        <p:nvSpPr>
          <p:cNvPr id="8" name="a1_03"/>
          <p:cNvSpPr txBox="1"/>
          <p:nvPr/>
        </p:nvSpPr>
        <p:spPr>
          <a:xfrm>
            <a:off x="859536" y="3310128"/>
            <a:ext cx="4937760" cy="9144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The attack rebuilds the pilot's eye and heart traces almost exactly as they were.</a:t>
            </a:r>
            <a:endParaRPr lang="en-US" sz="1500" dirty="0"/>
          </a:p>
        </p:txBody>
      </p:sp>
      <p:sp>
        <p:nvSpPr>
          <p:cNvPr id="9" name="a2_01b"/>
          <p:cNvSpPr/>
          <p:nvPr/>
        </p:nvSpPr>
        <p:spPr>
          <a:xfrm>
            <a:off x="6510528" y="1572768"/>
            <a:ext cx="5486400" cy="2880360"/>
          </a:xfrm>
          <a:prstGeom prst="roundRect">
            <a:avLst>
              <a:gd name="adj" fmla="val 2540"/>
            </a:avLst>
          </a:prstGeom>
          <a:solidFill>
            <a:srgbClr val="10322A"/>
          </a:solidFill>
          <a:ln w="12700">
            <a:solidFill>
              <a:srgbClr val="27425F"/>
            </a:solidFill>
            <a:prstDash val="solid"/>
          </a:ln>
        </p:spPr>
        <p:txBody>
          <a:bodyPr/>
          <a:lstStyle/>
          <a:p>
            <a:endParaRPr lang="en-CA"/>
          </a:p>
        </p:txBody>
      </p:sp>
      <p:sp>
        <p:nvSpPr>
          <p:cNvPr id="10" name="a2_01e"/>
          <p:cNvSpPr txBox="1"/>
          <p:nvPr/>
        </p:nvSpPr>
        <p:spPr>
          <a:xfrm>
            <a:off x="6803136" y="1783080"/>
            <a:ext cx="4937760" cy="365760"/>
          </a:xfrm>
          <a:prstGeom prst="rect">
            <a:avLst/>
          </a:prstGeom>
          <a:noFill/>
          <a:ln/>
        </p:spPr>
        <p:txBody>
          <a:bodyPr wrap="square" lIns="0" tIns="0" rIns="0" bIns="0" rtlCol="0" anchor="ctr"/>
          <a:lstStyle/>
          <a:p>
            <a:pPr marL="0" indent="0">
              <a:buNone/>
            </a:pPr>
            <a:r>
              <a:rPr lang="en-US" sz="1900" b="1" dirty="0">
                <a:solidFill>
                  <a:srgbClr val="5BE39A"/>
                </a:solidFill>
                <a:latin typeface="Calibri" pitchFamily="34" charset="0"/>
                <a:ea typeface="Calibri" pitchFamily="34" charset="-122"/>
                <a:cs typeface="Calibri" pitchFamily="34" charset="-120"/>
              </a:rPr>
              <a:t>Protection on, budget of 3</a:t>
            </a:r>
            <a:endParaRPr lang="en-US" sz="1900" dirty="0"/>
          </a:p>
        </p:txBody>
      </p:sp>
      <p:sp>
        <p:nvSpPr>
          <p:cNvPr id="11" name="a2_02"/>
          <p:cNvSpPr txBox="1"/>
          <p:nvPr/>
        </p:nvSpPr>
        <p:spPr>
          <a:xfrm>
            <a:off x="6803136" y="2286000"/>
            <a:ext cx="4937760" cy="868680"/>
          </a:xfrm>
          <a:prstGeom prst="rect">
            <a:avLst/>
          </a:prstGeom>
          <a:noFill/>
          <a:ln/>
        </p:spPr>
        <p:txBody>
          <a:bodyPr wrap="square" lIns="0" tIns="0" rIns="0" bIns="0" rtlCol="0" anchor="ctr"/>
          <a:lstStyle/>
          <a:p>
            <a:pPr marL="0" indent="0">
              <a:buNone/>
            </a:pPr>
            <a:r>
              <a:rPr lang="en-US" sz="4800" b="1" dirty="0">
                <a:solidFill>
                  <a:srgbClr val="5BE39A"/>
                </a:solidFill>
                <a:latin typeface="Calibri" pitchFamily="34" charset="0"/>
                <a:ea typeface="Calibri" pitchFamily="34" charset="-122"/>
                <a:cs typeface="Calibri" pitchFamily="34" charset="-120"/>
              </a:rPr>
              <a:t>0.338</a:t>
            </a:r>
            <a:endParaRPr lang="en-US" sz="4800" dirty="0"/>
          </a:p>
        </p:txBody>
      </p:sp>
      <p:sp>
        <p:nvSpPr>
          <p:cNvPr id="12" name="a2_03"/>
          <p:cNvSpPr txBox="1"/>
          <p:nvPr/>
        </p:nvSpPr>
        <p:spPr>
          <a:xfrm>
            <a:off x="6803136" y="3310128"/>
            <a:ext cx="4937760" cy="9144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The attack returns noise. The shared model still works.</a:t>
            </a:r>
            <a:endParaRPr lang="en-US" sz="1500" dirty="0"/>
          </a:p>
        </p:txBody>
      </p:sp>
      <p:sp>
        <p:nvSpPr>
          <p:cNvPr id="13" name="a2_04"/>
          <p:cNvSpPr txBox="1"/>
          <p:nvPr/>
        </p:nvSpPr>
        <p:spPr>
          <a:xfrm>
            <a:off x="566928" y="4572000"/>
            <a:ext cx="11057839" cy="320040"/>
          </a:xfrm>
          <a:prstGeom prst="rect">
            <a:avLst/>
          </a:prstGeom>
          <a:noFill/>
          <a:ln/>
        </p:spPr>
        <p:txBody>
          <a:bodyPr wrap="square" lIns="0" tIns="0" rIns="0" bIns="0" rtlCol="0" anchor="ctr"/>
          <a:lstStyle/>
          <a:p>
            <a:pPr marL="0" indent="0" algn="ctr">
              <a:buNone/>
            </a:pPr>
            <a:r>
              <a:rPr lang="en-US" sz="1400" i="1" dirty="0">
                <a:solidFill>
                  <a:srgbClr val="9BB0C4"/>
                </a:solidFill>
                <a:latin typeface="Calibri" pitchFamily="34" charset="0"/>
                <a:ea typeface="Calibri" pitchFamily="34" charset="-122"/>
                <a:cs typeface="Calibri" pitchFamily="34" charset="-120"/>
              </a:rPr>
              <a:t>attack success: how closely the rebuilt signal matches the real one</a:t>
            </a:r>
            <a:endParaRPr lang="en-US" sz="1400" dirty="0"/>
          </a:p>
        </p:txBody>
      </p:sp>
      <p:sp>
        <p:nvSpPr>
          <p:cNvPr id="14" name="a3_01b"/>
          <p:cNvSpPr/>
          <p:nvPr/>
        </p:nvSpPr>
        <p:spPr>
          <a:xfrm>
            <a:off x="566928" y="4983480"/>
            <a:ext cx="11057839" cy="1325880"/>
          </a:xfrm>
          <a:prstGeom prst="roundRect">
            <a:avLst>
              <a:gd name="adj" fmla="val 5517"/>
            </a:avLst>
          </a:prstGeom>
          <a:solidFill>
            <a:srgbClr val="152A45"/>
          </a:solidFill>
          <a:ln w="12700">
            <a:solidFill>
              <a:srgbClr val="27425F"/>
            </a:solidFill>
            <a:prstDash val="solid"/>
          </a:ln>
        </p:spPr>
        <p:txBody>
          <a:bodyPr/>
          <a:lstStyle/>
          <a:p>
            <a:endParaRPr lang="en-CA"/>
          </a:p>
        </p:txBody>
      </p:sp>
      <p:sp>
        <p:nvSpPr>
          <p:cNvPr id="15" name="a3_01e"/>
          <p:cNvSpPr txBox="1"/>
          <p:nvPr/>
        </p:nvSpPr>
        <p:spPr>
          <a:xfrm>
            <a:off x="841248" y="5166360"/>
            <a:ext cx="10509199"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The cost of that protection: about two points of accuracy</a:t>
            </a:r>
            <a:endParaRPr lang="en-US" sz="1900" dirty="0"/>
          </a:p>
        </p:txBody>
      </p:sp>
      <p:sp>
        <p:nvSpPr>
          <p:cNvPr id="16" name="a3_01f"/>
          <p:cNvSpPr txBox="1"/>
          <p:nvPr/>
        </p:nvSpPr>
        <p:spPr>
          <a:xfrm>
            <a:off x="841248" y="5769864"/>
            <a:ext cx="10509199" cy="41148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0.861 without it, 0.840 with it. Open source code reproduces both numbers in four seconds.</a:t>
            </a:r>
            <a:endParaRPr lang="en-US" sz="1500" dirty="0"/>
          </a:p>
        </p:txBody>
      </p:sp>
    </p:spTree>
  </p:cSld>
  <p:clrMapOvr>
    <a:masterClrMapping/>
  </p:clrMapOvr>
  <p:transition spd="slow" advClick="0" advTm="25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15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nodeType="withEffect">
                                  <p:stCondLst>
                                    <p:cond delay="3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childTnLst>
                          </p:cTn>
                        </p:par>
                      </p:childTnLst>
                    </p:cTn>
                  </p:par>
                  <p:par>
                    <p:cTn id="17" fill="hold">
                      <p:stCondLst>
                        <p:cond delay="7483"/>
                      </p:stCondLst>
                      <p:childTnLst>
                        <p:par>
                          <p:cTn id="18" fill="hold">
                            <p:stCondLst>
                              <p:cond delay="0"/>
                            </p:stCondLst>
                            <p:childTnLst>
                              <p:par>
                                <p:cTn id="19" presetID="10" presetClass="entr" presetSubtype="0" fill="hold"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00"/>
                                        <p:tgtEl>
                                          <p:spTgt spid="9"/>
                                        </p:tgtEl>
                                      </p:cBhvr>
                                    </p:animEffect>
                                  </p:childTnLst>
                                </p:cTn>
                              </p:par>
                              <p:par>
                                <p:cTn id="22" presetID="10"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nodeType="withEffect">
                                  <p:stCondLst>
                                    <p:cond delay="15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nodeType="withEffect">
                                  <p:stCondLst>
                                    <p:cond delay="30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nodeType="withEffect">
                                  <p:stCondLst>
                                    <p:cond delay="45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childTnLst>
                          </p:cTn>
                        </p:par>
                      </p:childTnLst>
                    </p:cTn>
                  </p:par>
                  <p:par>
                    <p:cTn id="34" fill="hold">
                      <p:stCondLst>
                        <p:cond delay="7483"/>
                      </p:stCondLst>
                      <p:childTnLst>
                        <p:par>
                          <p:cTn id="35" fill="hold">
                            <p:stCondLst>
                              <p:cond delay="0"/>
                            </p:stCondLst>
                            <p:childTnLst>
                              <p:par>
                                <p:cTn id="36" presetID="10" presetClass="entr" presetSubtype="0" fill="hold"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628"/>
        </a:solidFill>
        <a:effectLst/>
      </p:bgPr>
    </p:bg>
    <p:spTree>
      <p:nvGrpSpPr>
        <p:cNvPr id="1" name=""/>
        <p:cNvGrpSpPr/>
        <p:nvPr/>
      </p:nvGrpSpPr>
      <p:grpSpPr>
        <a:xfrm>
          <a:off x="0" y="0"/>
          <a:ext cx="0" cy="0"/>
          <a:chOff x="0" y="0"/>
          <a:chExt cx="0" cy="0"/>
        </a:xfrm>
      </p:grpSpPr>
      <p:sp>
        <p:nvSpPr>
          <p:cNvPr id="3" name="Text 0"/>
          <p:cNvSpPr txBox="1"/>
          <p:nvPr/>
        </p:nvSpPr>
        <p:spPr>
          <a:xfrm>
            <a:off x="566928" y="384048"/>
            <a:ext cx="11057839" cy="274320"/>
          </a:xfrm>
          <a:prstGeom prst="rect">
            <a:avLst/>
          </a:prstGeom>
          <a:noFill/>
          <a:ln/>
        </p:spPr>
        <p:txBody>
          <a:bodyPr wrap="square" lIns="0" tIns="0" rIns="0" bIns="0" rtlCol="0" anchor="ctr"/>
          <a:lstStyle/>
          <a:p>
            <a:pPr marL="0" indent="0">
              <a:buNone/>
            </a:pPr>
            <a:r>
              <a:rPr lang="en-US" sz="1400" b="1" kern="0" spc="300" dirty="0">
                <a:solidFill>
                  <a:srgbClr val="4ED8E6"/>
                </a:solidFill>
                <a:latin typeface="Calibri" pitchFamily="34" charset="0"/>
                <a:ea typeface="Calibri" pitchFamily="34" charset="-122"/>
                <a:cs typeface="Calibri" pitchFamily="34" charset="-120"/>
              </a:rPr>
              <a:t>AT AAAI 2027</a:t>
            </a:r>
            <a:endParaRPr lang="en-US" sz="1400" dirty="0"/>
          </a:p>
        </p:txBody>
      </p:sp>
      <p:sp>
        <p:nvSpPr>
          <p:cNvPr id="4" name="Text 1"/>
          <p:cNvSpPr txBox="1"/>
          <p:nvPr/>
        </p:nvSpPr>
        <p:spPr>
          <a:xfrm>
            <a:off x="566928" y="676656"/>
            <a:ext cx="11057839" cy="658368"/>
          </a:xfrm>
          <a:prstGeom prst="rect">
            <a:avLst/>
          </a:prstGeom>
          <a:noFill/>
          <a:ln/>
        </p:spPr>
        <p:txBody>
          <a:bodyPr wrap="square" lIns="0" tIns="0" rIns="0" bIns="0" rtlCol="0" anchor="ctr"/>
          <a:lstStyle/>
          <a:p>
            <a:pPr marL="0" indent="0">
              <a:buNone/>
            </a:pPr>
            <a:r>
              <a:rPr lang="en-US" sz="3600" b="1" dirty="0">
                <a:solidFill>
                  <a:srgbClr val="EAF2F8"/>
                </a:solidFill>
                <a:latin typeface="Calibri" pitchFamily="34" charset="0"/>
                <a:ea typeface="Calibri" pitchFamily="34" charset="-122"/>
                <a:cs typeface="Calibri" pitchFamily="34" charset="-120"/>
              </a:rPr>
              <a:t>Come and fly it</a:t>
            </a:r>
            <a:endParaRPr lang="en-US" sz="3600" dirty="0"/>
          </a:p>
        </p:txBody>
      </p:sp>
      <p:sp>
        <p:nvSpPr>
          <p:cNvPr id="5" name="a1_01b"/>
          <p:cNvSpPr/>
          <p:nvPr/>
        </p:nvSpPr>
        <p:spPr>
          <a:xfrm>
            <a:off x="566928" y="1691640"/>
            <a:ext cx="5486400" cy="1828800"/>
          </a:xfrm>
          <a:prstGeom prst="roundRect">
            <a:avLst>
              <a:gd name="adj" fmla="val 4000"/>
            </a:avLst>
          </a:prstGeom>
          <a:solidFill>
            <a:srgbClr val="152A45"/>
          </a:solidFill>
          <a:ln w="12700">
            <a:solidFill>
              <a:srgbClr val="27425F"/>
            </a:solidFill>
            <a:prstDash val="solid"/>
          </a:ln>
        </p:spPr>
        <p:txBody>
          <a:bodyPr/>
          <a:lstStyle/>
          <a:p>
            <a:endParaRPr lang="en-CA"/>
          </a:p>
        </p:txBody>
      </p:sp>
      <p:sp>
        <p:nvSpPr>
          <p:cNvPr id="6" name="a1_01c"/>
          <p:cNvSpPr/>
          <p:nvPr/>
        </p:nvSpPr>
        <p:spPr>
          <a:xfrm>
            <a:off x="804672" y="1911096"/>
            <a:ext cx="402336" cy="402336"/>
          </a:xfrm>
          <a:prstGeom prst="ellipse">
            <a:avLst/>
          </a:prstGeom>
          <a:solidFill>
            <a:srgbClr val="4ED8E6"/>
          </a:solidFill>
          <a:ln/>
        </p:spPr>
        <p:txBody>
          <a:bodyPr/>
          <a:lstStyle/>
          <a:p>
            <a:endParaRPr lang="en-CA"/>
          </a:p>
        </p:txBody>
      </p:sp>
      <p:sp>
        <p:nvSpPr>
          <p:cNvPr id="7" name="a1_01d"/>
          <p:cNvSpPr txBox="1"/>
          <p:nvPr/>
        </p:nvSpPr>
        <p:spPr>
          <a:xfrm>
            <a:off x="804672" y="191109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1</a:t>
            </a:r>
            <a:endParaRPr lang="en-US" sz="1700" dirty="0"/>
          </a:p>
        </p:txBody>
      </p:sp>
      <p:sp>
        <p:nvSpPr>
          <p:cNvPr id="8" name="a1_01e"/>
          <p:cNvSpPr txBox="1"/>
          <p:nvPr/>
        </p:nvSpPr>
        <p:spPr>
          <a:xfrm>
            <a:off x="1353312" y="1874520"/>
            <a:ext cx="4425696" cy="457200"/>
          </a:xfrm>
          <a:prstGeom prst="rect">
            <a:avLst/>
          </a:prstGeom>
          <a:noFill/>
          <a:ln/>
        </p:spPr>
        <p:txBody>
          <a:bodyPr wrap="square" lIns="0" tIns="0" rIns="0" bIns="0" rtlCol="0" anchor="ctr"/>
          <a:lstStyle/>
          <a:p>
            <a:pPr marL="0" indent="0">
              <a:buNone/>
            </a:pPr>
            <a:r>
              <a:rPr lang="en-US" sz="1900" b="1" dirty="0">
                <a:solidFill>
                  <a:srgbClr val="4ED8E6"/>
                </a:solidFill>
                <a:latin typeface="Calibri" pitchFamily="34" charset="0"/>
                <a:ea typeface="Calibri" pitchFamily="34" charset="-122"/>
                <a:cs typeface="Calibri" pitchFamily="34" charset="-120"/>
              </a:rPr>
              <a:t>What we need</a:t>
            </a:r>
            <a:endParaRPr lang="en-US" sz="1900" dirty="0"/>
          </a:p>
        </p:txBody>
      </p:sp>
      <p:sp>
        <p:nvSpPr>
          <p:cNvPr id="9" name="a1_01f"/>
          <p:cNvSpPr txBox="1"/>
          <p:nvPr/>
        </p:nvSpPr>
        <p:spPr>
          <a:xfrm>
            <a:off x="841248" y="2478024"/>
            <a:ext cx="4937760" cy="9144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A desk, power and a monitor. We bring the simulator, the eye tracker, the wrist band and the headset.</a:t>
            </a:r>
            <a:endParaRPr lang="en-US" sz="1500" dirty="0"/>
          </a:p>
        </p:txBody>
      </p:sp>
      <p:sp>
        <p:nvSpPr>
          <p:cNvPr id="10" name="a1_02b"/>
          <p:cNvSpPr/>
          <p:nvPr/>
        </p:nvSpPr>
        <p:spPr>
          <a:xfrm>
            <a:off x="6510528" y="1691640"/>
            <a:ext cx="5486400" cy="1828800"/>
          </a:xfrm>
          <a:prstGeom prst="roundRect">
            <a:avLst>
              <a:gd name="adj" fmla="val 4000"/>
            </a:avLst>
          </a:prstGeom>
          <a:solidFill>
            <a:srgbClr val="152A45"/>
          </a:solidFill>
          <a:ln w="12700">
            <a:solidFill>
              <a:srgbClr val="27425F"/>
            </a:solidFill>
            <a:prstDash val="solid"/>
          </a:ln>
        </p:spPr>
        <p:txBody>
          <a:bodyPr/>
          <a:lstStyle/>
          <a:p>
            <a:endParaRPr lang="en-CA"/>
          </a:p>
        </p:txBody>
      </p:sp>
      <p:sp>
        <p:nvSpPr>
          <p:cNvPr id="11" name="a1_02c"/>
          <p:cNvSpPr/>
          <p:nvPr/>
        </p:nvSpPr>
        <p:spPr>
          <a:xfrm>
            <a:off x="6748272" y="1911096"/>
            <a:ext cx="402336" cy="402336"/>
          </a:xfrm>
          <a:prstGeom prst="ellipse">
            <a:avLst/>
          </a:prstGeom>
          <a:solidFill>
            <a:srgbClr val="7FB3FF"/>
          </a:solidFill>
          <a:ln/>
        </p:spPr>
        <p:txBody>
          <a:bodyPr/>
          <a:lstStyle/>
          <a:p>
            <a:endParaRPr lang="en-CA"/>
          </a:p>
        </p:txBody>
      </p:sp>
      <p:sp>
        <p:nvSpPr>
          <p:cNvPr id="12" name="a1_02d"/>
          <p:cNvSpPr txBox="1"/>
          <p:nvPr/>
        </p:nvSpPr>
        <p:spPr>
          <a:xfrm>
            <a:off x="6748272" y="1911096"/>
            <a:ext cx="402336" cy="402336"/>
          </a:xfrm>
          <a:prstGeom prst="rect">
            <a:avLst/>
          </a:prstGeom>
          <a:noFill/>
          <a:ln/>
        </p:spPr>
        <p:txBody>
          <a:bodyPr wrap="square" lIns="0" tIns="0" rIns="0" bIns="0" rtlCol="0" anchor="ctr"/>
          <a:lstStyle/>
          <a:p>
            <a:pPr marL="0" indent="0" algn="ctr">
              <a:buNone/>
            </a:pPr>
            <a:r>
              <a:rPr lang="en-US" sz="1700" b="1" dirty="0">
                <a:solidFill>
                  <a:srgbClr val="0A1628"/>
                </a:solidFill>
                <a:latin typeface="Calibri" pitchFamily="34" charset="0"/>
                <a:ea typeface="Calibri" pitchFamily="34" charset="-122"/>
                <a:cs typeface="Calibri" pitchFamily="34" charset="-120"/>
              </a:rPr>
              <a:t>2</a:t>
            </a:r>
            <a:endParaRPr lang="en-US" sz="1700" dirty="0"/>
          </a:p>
        </p:txBody>
      </p:sp>
      <p:sp>
        <p:nvSpPr>
          <p:cNvPr id="13" name="a1_02e"/>
          <p:cNvSpPr txBox="1"/>
          <p:nvPr/>
        </p:nvSpPr>
        <p:spPr>
          <a:xfrm>
            <a:off x="7296912" y="1874520"/>
            <a:ext cx="4425696" cy="457200"/>
          </a:xfrm>
          <a:prstGeom prst="rect">
            <a:avLst/>
          </a:prstGeom>
          <a:noFill/>
          <a:ln/>
        </p:spPr>
        <p:txBody>
          <a:bodyPr wrap="square" lIns="0" tIns="0" rIns="0" bIns="0" rtlCol="0" anchor="ctr"/>
          <a:lstStyle/>
          <a:p>
            <a:pPr marL="0" indent="0">
              <a:buNone/>
            </a:pPr>
            <a:r>
              <a:rPr lang="en-US" sz="1900" b="1" dirty="0">
                <a:solidFill>
                  <a:srgbClr val="7FB3FF"/>
                </a:solidFill>
                <a:latin typeface="Calibri" pitchFamily="34" charset="0"/>
                <a:ea typeface="Calibri" pitchFamily="34" charset="-122"/>
                <a:cs typeface="Calibri" pitchFamily="34" charset="-120"/>
              </a:rPr>
              <a:t>Rather not wear sensors?</a:t>
            </a:r>
            <a:endParaRPr lang="en-US" sz="1900" dirty="0"/>
          </a:p>
        </p:txBody>
      </p:sp>
      <p:sp>
        <p:nvSpPr>
          <p:cNvPr id="14" name="a1_02f"/>
          <p:cNvSpPr txBox="1"/>
          <p:nvPr/>
        </p:nvSpPr>
        <p:spPr>
          <a:xfrm>
            <a:off x="6784848" y="2478024"/>
            <a:ext cx="4937760" cy="914400"/>
          </a:xfrm>
          <a:prstGeom prst="rect">
            <a:avLst/>
          </a:prstGeom>
          <a:noFill/>
          <a:ln/>
        </p:spPr>
        <p:txBody>
          <a:bodyPr wrap="square" lIns="0" tIns="0" rIns="0" bIns="0" rtlCol="0" anchor="ctr"/>
          <a:lstStyle/>
          <a:p>
            <a:pPr marL="0" indent="0">
              <a:lnSpc>
                <a:spcPct val="115000"/>
              </a:lnSpc>
              <a:buNone/>
            </a:pPr>
            <a:r>
              <a:rPr lang="en-US" sz="1500" dirty="0">
                <a:solidFill>
                  <a:srgbClr val="EAF2F8"/>
                </a:solidFill>
                <a:latin typeface="Calibri" pitchFamily="34" charset="0"/>
                <a:ea typeface="Calibri" pitchFamily="34" charset="-122"/>
                <a:cs typeface="Calibri" pitchFamily="34" charset="-120"/>
              </a:rPr>
              <a:t>Then run the same system from the recordings we bring with us.</a:t>
            </a:r>
            <a:endParaRPr lang="en-US" sz="1500" dirty="0"/>
          </a:p>
        </p:txBody>
      </p:sp>
      <p:sp>
        <p:nvSpPr>
          <p:cNvPr id="15" name="a2_01b"/>
          <p:cNvSpPr/>
          <p:nvPr/>
        </p:nvSpPr>
        <p:spPr>
          <a:xfrm>
            <a:off x="566928" y="3794760"/>
            <a:ext cx="11057839" cy="1691640"/>
          </a:xfrm>
          <a:prstGeom prst="roundRect">
            <a:avLst>
              <a:gd name="adj" fmla="val 4324"/>
            </a:avLst>
          </a:prstGeom>
          <a:solidFill>
            <a:srgbClr val="152A45"/>
          </a:solidFill>
          <a:ln w="12700">
            <a:solidFill>
              <a:srgbClr val="27425F"/>
            </a:solidFill>
            <a:prstDash val="solid"/>
          </a:ln>
        </p:spPr>
        <p:txBody>
          <a:bodyPr/>
          <a:lstStyle/>
          <a:p>
            <a:endParaRPr lang="en-CA"/>
          </a:p>
        </p:txBody>
      </p:sp>
      <p:sp>
        <p:nvSpPr>
          <p:cNvPr id="16" name="a2_01"/>
          <p:cNvSpPr txBox="1"/>
          <p:nvPr/>
        </p:nvSpPr>
        <p:spPr>
          <a:xfrm>
            <a:off x="886968" y="4023360"/>
            <a:ext cx="1097280" cy="365760"/>
          </a:xfrm>
          <a:prstGeom prst="rect">
            <a:avLst/>
          </a:prstGeom>
          <a:noFill/>
          <a:ln/>
        </p:spPr>
        <p:txBody>
          <a:bodyPr wrap="square" lIns="0" tIns="0" rIns="0" bIns="0" rtlCol="0" anchor="ctr"/>
          <a:lstStyle/>
          <a:p>
            <a:pPr marL="0" indent="0">
              <a:buNone/>
            </a:pPr>
            <a:r>
              <a:rPr lang="en-US" sz="1600" b="1" dirty="0">
                <a:solidFill>
                  <a:srgbClr val="4ED8E6"/>
                </a:solidFill>
                <a:latin typeface="Calibri" pitchFamily="34" charset="0"/>
                <a:ea typeface="Calibri" pitchFamily="34" charset="-122"/>
                <a:cs typeface="Calibri" pitchFamily="34" charset="-120"/>
              </a:rPr>
              <a:t>Paper</a:t>
            </a:r>
            <a:endParaRPr lang="en-US" sz="1600" dirty="0"/>
          </a:p>
        </p:txBody>
      </p:sp>
      <p:sp>
        <p:nvSpPr>
          <p:cNvPr id="17" name="a2_11"/>
          <p:cNvSpPr txBox="1"/>
          <p:nvPr/>
        </p:nvSpPr>
        <p:spPr>
          <a:xfrm>
            <a:off x="2029968" y="4023360"/>
            <a:ext cx="9418320" cy="365760"/>
          </a:xfrm>
          <a:prstGeom prst="rect">
            <a:avLst/>
          </a:prstGeom>
          <a:noFill/>
          <a:ln/>
        </p:spPr>
        <p:txBody>
          <a:bodyPr wrap="square" lIns="0" tIns="0" rIns="0" bIns="0" rtlCol="0" anchor="ctr"/>
          <a:lstStyle/>
          <a:p>
            <a:pPr algn="ctr"/>
            <a:r>
              <a:rPr lang="en-US" sz="1600" b="1" dirty="0" err="1">
                <a:solidFill>
                  <a:schemeClr val="bg1"/>
                </a:solidFill>
                <a:latin typeface="Calibri" pitchFamily="34" charset="0"/>
                <a:ea typeface="Calibri" pitchFamily="34" charset="-122"/>
                <a:cs typeface="Calibri" pitchFamily="34" charset="-120"/>
              </a:rPr>
              <a:t>CogniSim</a:t>
            </a:r>
            <a:r>
              <a:rPr lang="en-US" sz="1600" dirty="0">
                <a:solidFill>
                  <a:schemeClr val="bg1"/>
                </a:solidFill>
              </a:rPr>
              <a:t>: </a:t>
            </a:r>
            <a:r>
              <a:rPr lang="en-US" sz="1600" dirty="0">
                <a:solidFill>
                  <a:schemeClr val="bg1"/>
                </a:solidFill>
                <a:latin typeface="Calibri" pitchFamily="34" charset="0"/>
                <a:ea typeface="Calibri" pitchFamily="34" charset="-122"/>
                <a:cs typeface="Calibri" pitchFamily="34" charset="-120"/>
              </a:rPr>
              <a:t>A Cognitive-Load-Aware, Privacy-Preserving Adaptive Training Ecosystem for High-Stakes Simulation</a:t>
            </a:r>
            <a:endParaRPr lang="en-US" sz="1600" dirty="0">
              <a:solidFill>
                <a:schemeClr val="bg1"/>
              </a:solidFill>
            </a:endParaRPr>
          </a:p>
        </p:txBody>
      </p:sp>
      <p:sp>
        <p:nvSpPr>
          <p:cNvPr id="18" name="a2_02"/>
          <p:cNvSpPr txBox="1"/>
          <p:nvPr/>
        </p:nvSpPr>
        <p:spPr>
          <a:xfrm>
            <a:off x="886968" y="4480560"/>
            <a:ext cx="1097280" cy="365760"/>
          </a:xfrm>
          <a:prstGeom prst="rect">
            <a:avLst/>
          </a:prstGeom>
          <a:noFill/>
          <a:ln/>
        </p:spPr>
        <p:txBody>
          <a:bodyPr wrap="square" lIns="0" tIns="0" rIns="0" bIns="0" rtlCol="0" anchor="ctr"/>
          <a:lstStyle/>
          <a:p>
            <a:pPr marL="0" indent="0">
              <a:buNone/>
            </a:pPr>
            <a:r>
              <a:rPr lang="en-US" sz="1600" b="1" dirty="0">
                <a:solidFill>
                  <a:srgbClr val="4ED8E6"/>
                </a:solidFill>
                <a:latin typeface="Calibri" pitchFamily="34" charset="0"/>
                <a:ea typeface="Calibri" pitchFamily="34" charset="-122"/>
                <a:cs typeface="Calibri" pitchFamily="34" charset="-120"/>
              </a:rPr>
              <a:t>Code</a:t>
            </a:r>
            <a:endParaRPr lang="en-US" sz="1600" dirty="0"/>
          </a:p>
        </p:txBody>
      </p:sp>
      <p:sp>
        <p:nvSpPr>
          <p:cNvPr id="19" name="a2_12"/>
          <p:cNvSpPr txBox="1"/>
          <p:nvPr/>
        </p:nvSpPr>
        <p:spPr>
          <a:xfrm>
            <a:off x="2029968" y="4480560"/>
            <a:ext cx="9418320" cy="365760"/>
          </a:xfrm>
          <a:prstGeom prst="rect">
            <a:avLst/>
          </a:prstGeom>
          <a:noFill/>
          <a:ln/>
        </p:spPr>
        <p:txBody>
          <a:bodyPr wrap="square" lIns="0" tIns="0" rIns="0" bIns="0" rtlCol="0" anchor="ctr"/>
          <a:lstStyle/>
          <a:p>
            <a:r>
              <a:rPr lang="en-US" sz="1600" dirty="0">
                <a:solidFill>
                  <a:srgbClr val="EAF2F8"/>
                </a:solidFill>
                <a:latin typeface="Calibri" pitchFamily="34" charset="0"/>
                <a:ea typeface="Calibri" pitchFamily="34" charset="-122"/>
                <a:cs typeface="Calibri" pitchFamily="34" charset="-120"/>
              </a:rPr>
              <a:t>https://github.com/atikmahabub42/CogniSim.git</a:t>
            </a:r>
            <a:endParaRPr lang="en-US" sz="1600" dirty="0"/>
          </a:p>
        </p:txBody>
      </p:sp>
      <p:sp>
        <p:nvSpPr>
          <p:cNvPr id="20" name="a2_03"/>
          <p:cNvSpPr txBox="1"/>
          <p:nvPr/>
        </p:nvSpPr>
        <p:spPr>
          <a:xfrm>
            <a:off x="886968" y="4937760"/>
            <a:ext cx="1097280" cy="365760"/>
          </a:xfrm>
          <a:prstGeom prst="rect">
            <a:avLst/>
          </a:prstGeom>
          <a:noFill/>
          <a:ln/>
        </p:spPr>
        <p:txBody>
          <a:bodyPr wrap="square" lIns="0" tIns="0" rIns="0" bIns="0" rtlCol="0" anchor="ctr"/>
          <a:lstStyle/>
          <a:p>
            <a:pPr marL="0" indent="0">
              <a:buNone/>
            </a:pPr>
            <a:r>
              <a:rPr lang="en-US" sz="1600" b="1" dirty="0">
                <a:solidFill>
                  <a:srgbClr val="4ED8E6"/>
                </a:solidFill>
                <a:latin typeface="Calibri" pitchFamily="34" charset="0"/>
                <a:ea typeface="Calibri" pitchFamily="34" charset="-122"/>
                <a:cs typeface="Calibri" pitchFamily="34" charset="-120"/>
              </a:rPr>
              <a:t>Contact</a:t>
            </a:r>
            <a:endParaRPr lang="en-US" sz="1600" dirty="0"/>
          </a:p>
        </p:txBody>
      </p:sp>
      <p:sp>
        <p:nvSpPr>
          <p:cNvPr id="21" name="a2_13"/>
          <p:cNvSpPr txBox="1"/>
          <p:nvPr/>
        </p:nvSpPr>
        <p:spPr>
          <a:xfrm>
            <a:off x="2029968" y="4937760"/>
            <a:ext cx="9418320" cy="365760"/>
          </a:xfrm>
          <a:prstGeom prst="rect">
            <a:avLst/>
          </a:prstGeom>
          <a:noFill/>
          <a:ln/>
        </p:spPr>
        <p:txBody>
          <a:bodyPr wrap="square" lIns="0" tIns="0" rIns="0" bIns="0" rtlCol="0" anchor="ctr"/>
          <a:lstStyle/>
          <a:p>
            <a:pPr marL="0" indent="0">
              <a:buNone/>
            </a:pPr>
            <a:r>
              <a:rPr lang="en-US" sz="1600" dirty="0">
                <a:solidFill>
                  <a:srgbClr val="EAF2F8"/>
                </a:solidFill>
                <a:latin typeface="Calibri" pitchFamily="34" charset="0"/>
                <a:ea typeface="Calibri" pitchFamily="34" charset="-122"/>
                <a:cs typeface="Calibri" pitchFamily="34" charset="-120"/>
              </a:rPr>
              <a:t>atik.mahabub@inrs.ca</a:t>
            </a:r>
            <a:endParaRPr lang="en-US" sz="1600" dirty="0"/>
          </a:p>
        </p:txBody>
      </p:sp>
      <p:sp>
        <p:nvSpPr>
          <p:cNvPr id="22" name="a3_01"/>
          <p:cNvSpPr txBox="1"/>
          <p:nvPr/>
        </p:nvSpPr>
        <p:spPr>
          <a:xfrm>
            <a:off x="566928" y="6199632"/>
            <a:ext cx="11057839" cy="365760"/>
          </a:xfrm>
          <a:prstGeom prst="rect">
            <a:avLst/>
          </a:prstGeom>
          <a:noFill/>
          <a:ln/>
        </p:spPr>
        <p:txBody>
          <a:bodyPr wrap="square" lIns="0" tIns="0" rIns="0" bIns="0" rtlCol="0" anchor="ctr"/>
          <a:lstStyle/>
          <a:p>
            <a:pPr marL="0" indent="0">
              <a:buNone/>
            </a:pPr>
            <a:r>
              <a:rPr lang="en-US" sz="1400" i="1" dirty="0">
                <a:solidFill>
                  <a:srgbClr val="9BB0C4"/>
                </a:solidFill>
                <a:latin typeface="Calibri" pitchFamily="34" charset="0"/>
                <a:ea typeface="Calibri" pitchFamily="34" charset="-122"/>
                <a:cs typeface="Calibri" pitchFamily="34" charset="-120"/>
              </a:rPr>
              <a:t>Thank you.</a:t>
            </a:r>
            <a:endParaRPr lang="en-US" sz="1400" dirty="0"/>
          </a:p>
        </p:txBody>
      </p:sp>
    </p:spTree>
  </p:cSld>
  <p:clrMapOvr>
    <a:masterClrMapping/>
  </p:clrMapOvr>
  <p:transition spd="slow" advClick="0" advTm="20000">
    <p:fade/>
  </p:transition>
  <p:timing>
    <p:tnLst>
      <p:par>
        <p:cTn id="1" dur="indefinite" restart="never" nodeType="tmRoot">
          <p:childTnLst>
            <p:seq concurrent="1" nextAc="seek">
              <p:cTn id="2" dur="indefinite" nodeType="mainSeq">
                <p:childTnLst>
                  <p:par>
                    <p:cTn id="3" fill="hold">
                      <p:stCondLst>
                        <p:cond delay="1200"/>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par>
                                <p:cTn id="20" presetID="10" presetClass="entr" presetSubtype="0" fill="hold" nodeType="withEffect">
                                  <p:stCondLst>
                                    <p:cond delay="15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00"/>
                                        <p:tgtEl>
                                          <p:spTgt spid="10"/>
                                        </p:tgtEl>
                                      </p:cBhvr>
                                    </p:animEffect>
                                  </p:childTnLst>
                                </p:cTn>
                              </p:par>
                              <p:par>
                                <p:cTn id="23" presetID="10" presetClass="entr" presetSubtype="0" fill="hold" nodeType="withEffect">
                                  <p:stCondLst>
                                    <p:cond delay="15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400"/>
                                        <p:tgtEl>
                                          <p:spTgt spid="11"/>
                                        </p:tgtEl>
                                      </p:cBhvr>
                                    </p:animEffect>
                                  </p:childTnLst>
                                </p:cTn>
                              </p:par>
                              <p:par>
                                <p:cTn id="26" presetID="10" presetClass="entr" presetSubtype="0" fill="hold" nodeType="withEffect">
                                  <p:stCondLst>
                                    <p:cond delay="15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00"/>
                                        <p:tgtEl>
                                          <p:spTgt spid="12"/>
                                        </p:tgtEl>
                                      </p:cBhvr>
                                    </p:animEffect>
                                  </p:childTnLst>
                                </p:cTn>
                              </p:par>
                              <p:par>
                                <p:cTn id="29" presetID="10" presetClass="entr" presetSubtype="0" fill="hold" nodeType="withEffect">
                                  <p:stCondLst>
                                    <p:cond delay="15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par>
                                <p:cTn id="32" presetID="10" presetClass="entr" presetSubtype="0" fill="hold" nodeType="withEffect">
                                  <p:stCondLst>
                                    <p:cond delay="1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35" fill="hold">
                      <p:stCondLst>
                        <p:cond delay="5816"/>
                      </p:stCondLst>
                      <p:childTnLst>
                        <p:par>
                          <p:cTn id="36" fill="hold">
                            <p:stCondLst>
                              <p:cond delay="0"/>
                            </p:stCondLst>
                            <p:childTnLst>
                              <p:par>
                                <p:cTn id="37" presetID="10" presetClass="entr" presetSubtype="0" fill="hold" nodeType="after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par>
                                <p:cTn id="40" presetID="10" presetClass="entr" presetSubtype="0" fill="hold" nodeType="withEffect">
                                  <p:stCondLst>
                                    <p:cond delay="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400"/>
                                        <p:tgtEl>
                                          <p:spTgt spid="16"/>
                                        </p:tgtEl>
                                      </p:cBhvr>
                                    </p:animEffect>
                                  </p:childTnLst>
                                </p:cTn>
                              </p:par>
                              <p:par>
                                <p:cTn id="43" presetID="10" presetClass="entr" presetSubtype="0" fill="hold" nodeType="withEffect">
                                  <p:stCondLst>
                                    <p:cond delay="15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400"/>
                                        <p:tgtEl>
                                          <p:spTgt spid="18"/>
                                        </p:tgtEl>
                                      </p:cBhvr>
                                    </p:animEffect>
                                  </p:childTnLst>
                                </p:cTn>
                              </p:par>
                              <p:par>
                                <p:cTn id="46" presetID="10" presetClass="entr" presetSubtype="0" fill="hold" nodeType="withEffect">
                                  <p:stCondLst>
                                    <p:cond delay="30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00"/>
                                        <p:tgtEl>
                                          <p:spTgt spid="20"/>
                                        </p:tgtEl>
                                      </p:cBhvr>
                                    </p:animEffect>
                                  </p:childTnLst>
                                </p:cTn>
                              </p:par>
                              <p:par>
                                <p:cTn id="49" presetID="10" presetClass="entr" presetSubtype="0" fill="hold" nodeType="withEffect">
                                  <p:stCondLst>
                                    <p:cond delay="45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par>
                                <p:cTn id="52" presetID="10" presetClass="entr" presetSubtype="0" fill="hold" nodeType="withEffect">
                                  <p:stCondLst>
                                    <p:cond delay="60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400"/>
                                        <p:tgtEl>
                                          <p:spTgt spid="19"/>
                                        </p:tgtEl>
                                      </p:cBhvr>
                                    </p:animEffect>
                                  </p:childTnLst>
                                </p:cTn>
                              </p:par>
                              <p:par>
                                <p:cTn id="55" presetID="10" presetClass="entr" presetSubtype="0" fill="hold" nodeType="withEffect">
                                  <p:stCondLst>
                                    <p:cond delay="75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00"/>
                                        <p:tgtEl>
                                          <p:spTgt spid="21"/>
                                        </p:tgtEl>
                                      </p:cBhvr>
                                    </p:animEffect>
                                  </p:childTnLst>
                                </p:cTn>
                              </p:par>
                            </p:childTnLst>
                          </p:cTn>
                        </p:par>
                      </p:childTnLst>
                    </p:cTn>
                  </p:par>
                  <p:par>
                    <p:cTn id="58" fill="hold">
                      <p:stCondLst>
                        <p:cond delay="5816"/>
                      </p:stCondLst>
                      <p:childTnLst>
                        <p:par>
                          <p:cTn id="59" fill="hold">
                            <p:stCondLst>
                              <p:cond delay="0"/>
                            </p:stCondLst>
                            <p:childTnLst>
                              <p:par>
                                <p:cTn id="60" presetID="10" presetClass="entr" presetSubtype="0"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2220</Words>
  <Application>Microsoft Office PowerPoint</Application>
  <PresentationFormat>Widescreen</PresentationFormat>
  <Paragraphs>176</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CogniSim</dc:title>
  <dc:subject>PptxGenJS Presentation</dc:subject>
  <dc:creator>Atik Mahabub, Shervin Vakili</dc:creator>
  <cp:lastModifiedBy>Mahabub, Atik</cp:lastModifiedBy>
  <cp:revision>4</cp:revision>
  <dcterms:created xsi:type="dcterms:W3CDTF">2026-09-18T15:44:35Z</dcterms:created>
  <dcterms:modified xsi:type="dcterms:W3CDTF">2026-09-19T02:08:03Z</dcterms:modified>
</cp:coreProperties>
</file>