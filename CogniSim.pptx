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7" d="100"/>
          <a:sy n="107" d="100"/>
        </p:scale>
        <p:origin x="636"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497460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to 0:15  (about 15 seconds)
Good morning. This is CogniSim, a simulator trainer that reads cognitive load
and keeps it private. I am Atik Mahabub, from INRS in Montreal and CAE.
In five minutes I want to show you one idea, and the three things you can do
with it at our booth.</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 to 0:45  (about 30 seconds)
Here is the problem. When a pilot makes a mistake in a simulator, a normal
training system learns exactly one thing: the answer was wrong.
[click] But two very different things cause that. A pilot whose working memory
is full needs less information, moved to a sense that is still free. A pilot
who never learned the procedure needs more teaching.
[click] The two fixes are opposites. Give the wrong one during an engine
failure at takeoff speed, and the pilot practises the wrong response.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to 1:05  (about 20 seconds)
CogniSim looks at the pilot instead of the score. Flight data and body signals
come in on the left. The engine keeps track of what the pilot knows, and picks
one change: difficulty, content, or pace.
[click] What happens next feeds back and updates the model of that pilot. The
whole loop runs while the aircraft is still flying.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 to 1:20  (about 15 seconds)
At the booth there are three things you can do, two to four minutes each.
[click] Fly an engine failure. [click] Watch the system think, on a second
screen. [click] And try to break its privacy protection.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 to 1:45  (about 25 seconds)
First, what the sensors see. The eyes and the pupil, sixty times a second. The
brain, two hundred and fifty times a second. The heart, once a second. The
flight data itself, one hundred and twenty times a second.
[click] A small network turns all of that into three numbers: effort the task
demands, effort wasted on the display, and effort left over for learning. From
the event to a decision takes under seven hundred milliseconds. That is what
lets us help during the maneuver instead of talking about it afterwards.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1:45 to 2:10  (about 25 seconds)
Second, how it decides. One model keeps track of what the pilot has mastered.
The policy reads that, and the load, then pulls one of three levers: make the
task harder or easier, change what is taught, or change the pace.
[click] And when the wasted effort climbs too high, it does something most
systems never do. It takes information away. Warnings that do not matter right
now are dimmed, and the guidance the pilot does need moves to sound and touch,
where there is still room.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2:10 to 2:30  (about 20 seconds)
Third, how it speaks. Most tutors stop the task to give advice, which breaks
the immersion that makes simulation worth doing.
[click] Ours does not stop anything. The help comes from a virtual first
officer, staying in character. I have the radios; you fly the aircraft. The
flight keeps going, so the crew work stays realistic.</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2:30 to 2:45  (about 15 seconds)
Every maneuver leaves six measurements in a competency record, and every change
the system made is stored next to the reading that caused it.
[click] Because software does the scoring, two instructors no longer grade the
same flight differently.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2:45 to 3:00  (about 15 seconds)
So, activity one. You fly a Boeing 737 off a wet runway. An engine quits half a
second past the speed where stopping is no longer an option, in a gusting
crosswind.
[click] The sensors run the whole time.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3:00 to 3:35  (about 35 seconds)  ·  THE KEY SLIDE, three clicks
At 18.2 seconds you are past that speed and everything is normal.
[click] At 18.7 the engine quits. Within 620 milliseconds the pupil widens from
4.2 to 6.8 millimetres, the front of the brain gets busier, and the heart ratio
triples. Your eyes are locked on the engine gauges and never check the airspeed.
[click] So the system dims the clutter and the first officer takes the radios.
[click] By 21.2 seconds you are scanning again. Recovery took 3.1 seconds. And
here is the part I like: most people only notice that any of this happened when
they watch the replay.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3:35 to 3:55  (about 20 seconds)
Activity two. A second screen shows the inside of the loop while you fly: the
three numbers, the mastery so far, what the system did, and why it did it.
[click] That is the part we most want an audience to argue with. A claim you
can watch is a claim you can disagree with.</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3:55 to 4:15  (about 20 seconds)
Activity three. Nothing from the body leaves the training computer. Only a
summary of what the local model learned is sent out, trimmed to a fixed size
and blurred with noise.
[click] The device blurs it at a budget of two, the server blurs it again at
one. Three in total.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4:15 to 4:40  (about 25 seconds)
And then you attack it. You run an attack that rebuilds the pilot's signals
from that summary.
[click] With the protection off it recovers them almost exactly. A cosine
similarity of one point zero: that is the trainee's own eye and heart traces,
back out of a number that was supposed to be anonymous.
[click] With the protection on, it gets noise, and the shared model gives up
about two points of accuracy. The trade stops being a sentence in a paper. You
watch it happen.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4:40 to 5:00  (about 20 seconds)
We need a desk, power and a monitor. Anyone who would rather not wear sensors
can run the same system from recordings we bring.
[click] Come and fly it, look inside its reasoning, and try to break it.
Thank you.</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a:effectLst/>
      </p:bgPr>
    </p:bg>
    <p:spTree>
      <p:nvGrpSpPr>
        <p:cNvPr id="1" name=""/>
        <p:cNvGrpSpPr/>
        <p:nvPr/>
      </p:nvGrpSpPr>
      <p:grpSpPr>
        <a:xfrm>
          <a:off x="0" y="0"/>
          <a:ext cx="0" cy="0"/>
          <a:chOff x="0" y="0"/>
          <a:chExt cx="0" cy="0"/>
        </a:xfrm>
      </p:grpSpPr>
      <p:sp>
        <p:nvSpPr>
          <p:cNvPr id="3" name="Shape 0"/>
          <p:cNvSpPr/>
          <p:nvPr/>
        </p:nvSpPr>
        <p:spPr>
          <a:xfrm>
            <a:off x="5394960" y="1143000"/>
            <a:ext cx="1371600" cy="1371600"/>
          </a:xfrm>
          <a:prstGeom prst="ellipse">
            <a:avLst/>
          </a:prstGeom>
          <a:solidFill>
            <a:srgbClr val="10243C"/>
          </a:solidFill>
          <a:ln w="25400">
            <a:solidFill>
              <a:srgbClr val="4ED8E6"/>
            </a:solidFill>
            <a:prstDash val="solid"/>
          </a:ln>
        </p:spPr>
        <p:txBody>
          <a:bodyPr/>
          <a:lstStyle/>
          <a:p>
            <a:endParaRPr lang="en-CA"/>
          </a:p>
        </p:txBody>
      </p:sp>
      <p:sp>
        <p:nvSpPr>
          <p:cNvPr id="4" name="Text 1"/>
          <p:cNvSpPr txBox="1"/>
          <p:nvPr/>
        </p:nvSpPr>
        <p:spPr>
          <a:xfrm>
            <a:off x="5394960" y="1143000"/>
            <a:ext cx="1371600" cy="1371600"/>
          </a:xfrm>
          <a:prstGeom prst="rect">
            <a:avLst/>
          </a:prstGeom>
          <a:noFill/>
          <a:ln/>
        </p:spPr>
        <p:txBody>
          <a:bodyPr wrap="square" lIns="0" tIns="0" rIns="0" bIns="0" rtlCol="0" anchor="ctr"/>
          <a:lstStyle/>
          <a:p>
            <a:pPr marL="0" indent="0" algn="ctr">
              <a:buNone/>
            </a:pPr>
            <a:r>
              <a:rPr lang="en-US" sz="4000" b="1" dirty="0">
                <a:solidFill>
                  <a:srgbClr val="4ED8E6"/>
                </a:solidFill>
                <a:latin typeface="Calibri" pitchFamily="34" charset="0"/>
                <a:ea typeface="Calibri" pitchFamily="34" charset="-122"/>
                <a:cs typeface="Calibri" pitchFamily="34" charset="-120"/>
              </a:rPr>
              <a:t>CS</a:t>
            </a:r>
            <a:endParaRPr lang="en-US" sz="4000" dirty="0"/>
          </a:p>
        </p:txBody>
      </p:sp>
      <p:sp>
        <p:nvSpPr>
          <p:cNvPr id="5" name="Text 2"/>
          <p:cNvSpPr txBox="1"/>
          <p:nvPr/>
        </p:nvSpPr>
        <p:spPr>
          <a:xfrm>
            <a:off x="566928" y="2743200"/>
            <a:ext cx="11057839" cy="914400"/>
          </a:xfrm>
          <a:prstGeom prst="rect">
            <a:avLst/>
          </a:prstGeom>
          <a:noFill/>
          <a:ln/>
        </p:spPr>
        <p:txBody>
          <a:bodyPr wrap="square" lIns="0" tIns="0" rIns="0" bIns="0" rtlCol="0" anchor="ctr"/>
          <a:lstStyle/>
          <a:p>
            <a:pPr marL="0" indent="0" algn="ctr">
              <a:buNone/>
            </a:pPr>
            <a:r>
              <a:rPr lang="en-US" sz="6000" b="1" dirty="0">
                <a:solidFill>
                  <a:srgbClr val="EAF2F8"/>
                </a:solidFill>
                <a:latin typeface="Calibri" pitchFamily="34" charset="0"/>
                <a:ea typeface="Calibri" pitchFamily="34" charset="-122"/>
                <a:cs typeface="Calibri" pitchFamily="34" charset="-120"/>
              </a:rPr>
              <a:t>CogniSim</a:t>
            </a:r>
            <a:endParaRPr lang="en-US" sz="6000" dirty="0"/>
          </a:p>
        </p:txBody>
      </p:sp>
      <p:sp>
        <p:nvSpPr>
          <p:cNvPr id="6" name="a1_01"/>
          <p:cNvSpPr txBox="1"/>
          <p:nvPr/>
        </p:nvSpPr>
        <p:spPr>
          <a:xfrm>
            <a:off x="566928" y="3429000"/>
            <a:ext cx="11057839" cy="1143000"/>
          </a:xfrm>
          <a:prstGeom prst="rect">
            <a:avLst/>
          </a:prstGeom>
          <a:noFill/>
          <a:ln/>
        </p:spPr>
        <p:txBody>
          <a:bodyPr wrap="square" lIns="0" tIns="0" rIns="0" bIns="0" rtlCol="0" anchor="ctr"/>
          <a:lstStyle/>
          <a:p>
            <a:pPr algn="ctr"/>
            <a:r>
              <a:rPr lang="en-US" sz="2200" dirty="0">
                <a:solidFill>
                  <a:srgbClr val="7FB3FF"/>
                </a:solidFill>
                <a:latin typeface="Calibri" pitchFamily="34" charset="0"/>
                <a:ea typeface="Calibri" pitchFamily="34" charset="-122"/>
                <a:cs typeface="Calibri" pitchFamily="34" charset="-120"/>
              </a:rPr>
              <a:t>A Cognitive-Load-Aware, Privacy-Preserving Adaptive</a:t>
            </a:r>
          </a:p>
          <a:p>
            <a:pPr algn="ctr"/>
            <a:r>
              <a:rPr lang="en-US" sz="2200" dirty="0">
                <a:solidFill>
                  <a:srgbClr val="7FB3FF"/>
                </a:solidFill>
                <a:latin typeface="Calibri" pitchFamily="34" charset="0"/>
                <a:ea typeface="Calibri" pitchFamily="34" charset="-122"/>
                <a:cs typeface="Calibri" pitchFamily="34" charset="-120"/>
              </a:rPr>
              <a:t>Training Ecosystem for High-Stakes Simulation</a:t>
            </a:r>
            <a:endParaRPr lang="en-US" sz="2200" dirty="0"/>
          </a:p>
        </p:txBody>
      </p:sp>
      <p:sp>
        <p:nvSpPr>
          <p:cNvPr id="7" name="a1_02"/>
          <p:cNvSpPr txBox="1"/>
          <p:nvPr/>
        </p:nvSpPr>
        <p:spPr>
          <a:xfrm>
            <a:off x="566928" y="4526280"/>
            <a:ext cx="11057839" cy="320040"/>
          </a:xfrm>
          <a:prstGeom prst="rect">
            <a:avLst/>
          </a:prstGeom>
          <a:noFill/>
          <a:ln/>
        </p:spPr>
        <p:txBody>
          <a:bodyPr wrap="square" lIns="0" tIns="0" rIns="0" bIns="0" rtlCol="0" anchor="ctr"/>
          <a:lstStyle/>
          <a:p>
            <a:pPr algn="ctr"/>
            <a:r>
              <a:rPr lang="en-US" sz="1700" dirty="0">
                <a:solidFill>
                  <a:srgbClr val="EAF2F8"/>
                </a:solidFill>
                <a:latin typeface="Calibri" pitchFamily="34" charset="0"/>
                <a:ea typeface="Calibri" pitchFamily="34" charset="-122"/>
                <a:cs typeface="Calibri" pitchFamily="34" charset="-120"/>
              </a:rPr>
              <a:t>Atik Mahabub  ·  Patricia Gilbert · Regan Legassie · Shervin Vakili</a:t>
            </a:r>
            <a:endParaRPr lang="en-US" sz="1700" dirty="0"/>
          </a:p>
        </p:txBody>
      </p:sp>
      <p:sp>
        <p:nvSpPr>
          <p:cNvPr id="8" name="a1_03"/>
          <p:cNvSpPr txBox="1"/>
          <p:nvPr/>
        </p:nvSpPr>
        <p:spPr>
          <a:xfrm>
            <a:off x="566928" y="4864608"/>
            <a:ext cx="11057839" cy="320040"/>
          </a:xfrm>
          <a:prstGeom prst="rect">
            <a:avLst/>
          </a:prstGeom>
          <a:noFill/>
          <a:ln/>
        </p:spPr>
        <p:txBody>
          <a:bodyPr wrap="square" lIns="0" tIns="0" rIns="0" bIns="0" rtlCol="0" anchor="ctr"/>
          <a:lstStyle/>
          <a:p>
            <a:pPr marL="0" indent="0" algn="ctr">
              <a:buNone/>
            </a:pPr>
            <a:r>
              <a:rPr lang="en-US" sz="1400" dirty="0">
                <a:solidFill>
                  <a:srgbClr val="9BB0C4"/>
                </a:solidFill>
                <a:latin typeface="Calibri" pitchFamily="34" charset="0"/>
                <a:ea typeface="Calibri" pitchFamily="34" charset="-122"/>
                <a:cs typeface="Calibri" pitchFamily="34" charset="-120"/>
              </a:rPr>
              <a:t>INRS-EMT, Montréal  ·  CAE Inc.  ·  AAAI 2027 Demonstrations Program</a:t>
            </a:r>
            <a:endParaRPr lang="en-US" sz="1400" dirty="0"/>
          </a:p>
        </p:txBody>
      </p:sp>
    </p:spTree>
  </p:cSld>
  <p:clrMapOvr>
    <a:masterClrMapping/>
  </p:clrMapOvr>
  <p:transition spd="slow" advClick="0" advTm="15000">
    <p:fade/>
  </p:transition>
  <p:timing>
    <p:tnLst>
      <p:par>
        <p:cTn id="1" dur="indefinite" restart="never" nodeType="tmRoot">
          <p:childTnLst>
            <p:seq concurrent="1" nextAc="seek">
              <p:cTn id="2" dur="indefinite" nodeType="mainSeq">
                <p:childTnLst>
                  <p:par>
                    <p:cTn id="3" fill="hold">
                      <p:stCondLst>
                        <p:cond delay="1200"/>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par>
                                <p:cTn id="8" presetID="10" presetClass="entr" presetSubtype="0" fill="hold" nodeType="withEffect">
                                  <p:stCondLst>
                                    <p:cond delay="15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400"/>
                                        <p:tgtEl>
                                          <p:spTgt spid="7"/>
                                        </p:tgtEl>
                                      </p:cBhvr>
                                    </p:animEffect>
                                  </p:childTnLst>
                                </p:cTn>
                              </p:par>
                              <p:par>
                                <p:cTn id="11" presetID="10" presetClass="entr" presetSubtype="0" fill="hold" nodeType="withEffect">
                                  <p:stCondLst>
                                    <p:cond delay="30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628"/>
        </a:solidFill>
        <a:effectLst/>
      </p:bgPr>
    </p:bg>
    <p:spTree>
      <p:nvGrpSpPr>
        <p:cNvPr id="1" name=""/>
        <p:cNvGrpSpPr/>
        <p:nvPr/>
      </p:nvGrpSpPr>
      <p:grpSpPr>
        <a:xfrm>
          <a:off x="0" y="0"/>
          <a:ext cx="0" cy="0"/>
          <a:chOff x="0" y="0"/>
          <a:chExt cx="0" cy="0"/>
        </a:xfrm>
      </p:grpSpPr>
      <p:sp>
        <p:nvSpPr>
          <p:cNvPr id="3" name="Text 0"/>
          <p:cNvSpPr txBox="1"/>
          <p:nvPr/>
        </p:nvSpPr>
        <p:spPr>
          <a:xfrm>
            <a:off x="566928" y="384048"/>
            <a:ext cx="11057839" cy="274320"/>
          </a:xfrm>
          <a:prstGeom prst="rect">
            <a:avLst/>
          </a:prstGeom>
          <a:noFill/>
          <a:ln/>
        </p:spPr>
        <p:txBody>
          <a:bodyPr wrap="square" lIns="0" tIns="0" rIns="0" bIns="0" rtlCol="0" anchor="ctr"/>
          <a:lstStyle/>
          <a:p>
            <a:pPr marL="0" indent="0">
              <a:buNone/>
            </a:pPr>
            <a:r>
              <a:rPr lang="en-US" sz="1400" b="1" kern="0" spc="300" dirty="0">
                <a:solidFill>
                  <a:srgbClr val="4ED8E6"/>
                </a:solidFill>
                <a:latin typeface="Calibri" pitchFamily="34" charset="0"/>
                <a:ea typeface="Calibri" pitchFamily="34" charset="-122"/>
                <a:cs typeface="Calibri" pitchFamily="34" charset="-120"/>
              </a:rPr>
              <a:t>THE PROBLEM</a:t>
            </a:r>
            <a:endParaRPr lang="en-US" sz="1400" dirty="0"/>
          </a:p>
        </p:txBody>
      </p:sp>
      <p:sp>
        <p:nvSpPr>
          <p:cNvPr id="4" name="Text 1"/>
          <p:cNvSpPr txBox="1"/>
          <p:nvPr/>
        </p:nvSpPr>
        <p:spPr>
          <a:xfrm>
            <a:off x="566928" y="676656"/>
            <a:ext cx="11057839" cy="658368"/>
          </a:xfrm>
          <a:prstGeom prst="rect">
            <a:avLst/>
          </a:prstGeom>
          <a:noFill/>
          <a:ln/>
        </p:spPr>
        <p:txBody>
          <a:bodyPr wrap="square" lIns="0" tIns="0" rIns="0" bIns="0" rtlCol="0" anchor="ctr"/>
          <a:lstStyle/>
          <a:p>
            <a:pPr marL="0" indent="0">
              <a:buNone/>
            </a:pPr>
            <a:r>
              <a:rPr lang="en-US" sz="3600" b="1" dirty="0">
                <a:solidFill>
                  <a:srgbClr val="EAF2F8"/>
                </a:solidFill>
                <a:latin typeface="Calibri" pitchFamily="34" charset="0"/>
                <a:ea typeface="Calibri" pitchFamily="34" charset="-122"/>
                <a:cs typeface="Calibri" pitchFamily="34" charset="-120"/>
              </a:rPr>
              <a:t>Two failures that look identical</a:t>
            </a:r>
            <a:endParaRPr lang="en-US" sz="3600" dirty="0"/>
          </a:p>
        </p:txBody>
      </p:sp>
      <p:sp>
        <p:nvSpPr>
          <p:cNvPr id="5" name="Text 2"/>
          <p:cNvSpPr txBox="1"/>
          <p:nvPr/>
        </p:nvSpPr>
        <p:spPr>
          <a:xfrm>
            <a:off x="566928" y="1389888"/>
            <a:ext cx="11057839" cy="365760"/>
          </a:xfrm>
          <a:prstGeom prst="rect">
            <a:avLst/>
          </a:prstGeom>
          <a:noFill/>
          <a:ln/>
        </p:spPr>
        <p:txBody>
          <a:bodyPr wrap="square" lIns="0" tIns="0" rIns="0" bIns="0" rtlCol="0" anchor="ctr"/>
          <a:lstStyle/>
          <a:p>
            <a:pPr marL="0" indent="0">
              <a:buNone/>
            </a:pPr>
            <a:r>
              <a:rPr lang="en-US" sz="1800" dirty="0">
                <a:solidFill>
                  <a:srgbClr val="9BB0C4"/>
                </a:solidFill>
                <a:latin typeface="Calibri" pitchFamily="34" charset="0"/>
                <a:ea typeface="Calibri" pitchFamily="34" charset="-122"/>
                <a:cs typeface="Calibri" pitchFamily="34" charset="-120"/>
              </a:rPr>
              <a:t>A normal training system sees one signal: the answer was wrong.</a:t>
            </a:r>
            <a:endParaRPr lang="en-US" sz="1800" dirty="0"/>
          </a:p>
        </p:txBody>
      </p:sp>
      <p:sp>
        <p:nvSpPr>
          <p:cNvPr id="6" name="a1_01b"/>
          <p:cNvSpPr/>
          <p:nvPr/>
        </p:nvSpPr>
        <p:spPr>
          <a:xfrm>
            <a:off x="566928" y="1965960"/>
            <a:ext cx="5486400" cy="1828800"/>
          </a:xfrm>
          <a:prstGeom prst="roundRect">
            <a:avLst>
              <a:gd name="adj" fmla="val 4000"/>
            </a:avLst>
          </a:prstGeom>
          <a:solidFill>
            <a:srgbClr val="152A45"/>
          </a:solidFill>
          <a:ln w="12700">
            <a:solidFill>
              <a:srgbClr val="27425F"/>
            </a:solidFill>
            <a:prstDash val="solid"/>
          </a:ln>
        </p:spPr>
        <p:txBody>
          <a:bodyPr/>
          <a:lstStyle/>
          <a:p>
            <a:endParaRPr lang="en-CA"/>
          </a:p>
        </p:txBody>
      </p:sp>
      <p:sp>
        <p:nvSpPr>
          <p:cNvPr id="7" name="a1_01c"/>
          <p:cNvSpPr/>
          <p:nvPr/>
        </p:nvSpPr>
        <p:spPr>
          <a:xfrm>
            <a:off x="804672" y="2185416"/>
            <a:ext cx="402336" cy="402336"/>
          </a:xfrm>
          <a:prstGeom prst="ellipse">
            <a:avLst/>
          </a:prstGeom>
          <a:solidFill>
            <a:srgbClr val="4ED8E6"/>
          </a:solidFill>
          <a:ln/>
        </p:spPr>
        <p:txBody>
          <a:bodyPr/>
          <a:lstStyle/>
          <a:p>
            <a:endParaRPr lang="en-CA"/>
          </a:p>
        </p:txBody>
      </p:sp>
      <p:sp>
        <p:nvSpPr>
          <p:cNvPr id="8" name="a1_01d"/>
          <p:cNvSpPr txBox="1"/>
          <p:nvPr/>
        </p:nvSpPr>
        <p:spPr>
          <a:xfrm>
            <a:off x="804672" y="2185416"/>
            <a:ext cx="402336" cy="402336"/>
          </a:xfrm>
          <a:prstGeom prst="rect">
            <a:avLst/>
          </a:prstGeom>
          <a:noFill/>
          <a:ln/>
        </p:spPr>
        <p:txBody>
          <a:bodyPr wrap="square" lIns="0" tIns="0" rIns="0" bIns="0" rtlCol="0" anchor="ctr"/>
          <a:lstStyle/>
          <a:p>
            <a:pPr marL="0" indent="0" algn="ctr">
              <a:buNone/>
            </a:pPr>
            <a:r>
              <a:rPr lang="en-US" sz="1700" b="1" dirty="0">
                <a:solidFill>
                  <a:srgbClr val="0A1628"/>
                </a:solidFill>
                <a:latin typeface="Calibri" pitchFamily="34" charset="0"/>
                <a:ea typeface="Calibri" pitchFamily="34" charset="-122"/>
                <a:cs typeface="Calibri" pitchFamily="34" charset="-120"/>
              </a:rPr>
              <a:t>1</a:t>
            </a:r>
            <a:endParaRPr lang="en-US" sz="1700" dirty="0"/>
          </a:p>
        </p:txBody>
      </p:sp>
      <p:sp>
        <p:nvSpPr>
          <p:cNvPr id="9" name="a1_01e"/>
          <p:cNvSpPr txBox="1"/>
          <p:nvPr/>
        </p:nvSpPr>
        <p:spPr>
          <a:xfrm>
            <a:off x="1353312" y="2148840"/>
            <a:ext cx="4425696" cy="457200"/>
          </a:xfrm>
          <a:prstGeom prst="rect">
            <a:avLst/>
          </a:prstGeom>
          <a:noFill/>
          <a:ln/>
        </p:spPr>
        <p:txBody>
          <a:bodyPr wrap="square" lIns="0" tIns="0" rIns="0" bIns="0" rtlCol="0" anchor="ctr"/>
          <a:lstStyle/>
          <a:p>
            <a:pPr marL="0" indent="0">
              <a:buNone/>
            </a:pPr>
            <a:r>
              <a:rPr lang="en-US" sz="1900" b="1" dirty="0">
                <a:solidFill>
                  <a:srgbClr val="4ED8E6"/>
                </a:solidFill>
                <a:latin typeface="Calibri" pitchFamily="34" charset="0"/>
                <a:ea typeface="Calibri" pitchFamily="34" charset="-122"/>
                <a:cs typeface="Calibri" pitchFamily="34" charset="-120"/>
              </a:rPr>
              <a:t>Working memory is full</a:t>
            </a:r>
            <a:endParaRPr lang="en-US" sz="1900" dirty="0"/>
          </a:p>
        </p:txBody>
      </p:sp>
      <p:sp>
        <p:nvSpPr>
          <p:cNvPr id="10" name="a1_01f"/>
          <p:cNvSpPr txBox="1"/>
          <p:nvPr/>
        </p:nvSpPr>
        <p:spPr>
          <a:xfrm>
            <a:off x="841248" y="2752344"/>
            <a:ext cx="4937760" cy="914400"/>
          </a:xfrm>
          <a:prstGeom prst="rect">
            <a:avLst/>
          </a:prstGeom>
          <a:noFill/>
          <a:ln/>
        </p:spPr>
        <p:txBody>
          <a:bodyPr wrap="square" lIns="0" tIns="0" rIns="0" bIns="0" rtlCol="0" anchor="ctr"/>
          <a:lstStyle/>
          <a:p>
            <a:pPr marL="0" indent="0">
              <a:lnSpc>
                <a:spcPct val="115000"/>
              </a:lnSpc>
              <a:buNone/>
            </a:pPr>
            <a:r>
              <a:rPr lang="en-US" sz="1500" dirty="0">
                <a:solidFill>
                  <a:srgbClr val="EAF2F8"/>
                </a:solidFill>
                <a:latin typeface="Calibri" pitchFamily="34" charset="0"/>
                <a:ea typeface="Calibri" pitchFamily="34" charset="-122"/>
                <a:cs typeface="Calibri" pitchFamily="34" charset="-120"/>
              </a:rPr>
              <a:t>Needs LESS information, moved to a sense that is still free.</a:t>
            </a:r>
            <a:endParaRPr lang="en-US" sz="1500" dirty="0"/>
          </a:p>
        </p:txBody>
      </p:sp>
      <p:sp>
        <p:nvSpPr>
          <p:cNvPr id="11" name="a1_02b"/>
          <p:cNvSpPr/>
          <p:nvPr/>
        </p:nvSpPr>
        <p:spPr>
          <a:xfrm>
            <a:off x="6510528" y="1965960"/>
            <a:ext cx="5486400" cy="1828800"/>
          </a:xfrm>
          <a:prstGeom prst="roundRect">
            <a:avLst>
              <a:gd name="adj" fmla="val 4000"/>
            </a:avLst>
          </a:prstGeom>
          <a:solidFill>
            <a:srgbClr val="152A45"/>
          </a:solidFill>
          <a:ln w="12700">
            <a:solidFill>
              <a:srgbClr val="27425F"/>
            </a:solidFill>
            <a:prstDash val="solid"/>
          </a:ln>
        </p:spPr>
        <p:txBody>
          <a:bodyPr/>
          <a:lstStyle/>
          <a:p>
            <a:endParaRPr lang="en-CA"/>
          </a:p>
        </p:txBody>
      </p:sp>
      <p:sp>
        <p:nvSpPr>
          <p:cNvPr id="12" name="a1_02c"/>
          <p:cNvSpPr/>
          <p:nvPr/>
        </p:nvSpPr>
        <p:spPr>
          <a:xfrm>
            <a:off x="6748272" y="2185416"/>
            <a:ext cx="402336" cy="402336"/>
          </a:xfrm>
          <a:prstGeom prst="ellipse">
            <a:avLst/>
          </a:prstGeom>
          <a:solidFill>
            <a:srgbClr val="7FB3FF"/>
          </a:solidFill>
          <a:ln/>
        </p:spPr>
        <p:txBody>
          <a:bodyPr/>
          <a:lstStyle/>
          <a:p>
            <a:endParaRPr lang="en-CA"/>
          </a:p>
        </p:txBody>
      </p:sp>
      <p:sp>
        <p:nvSpPr>
          <p:cNvPr id="13" name="a1_02d"/>
          <p:cNvSpPr txBox="1"/>
          <p:nvPr/>
        </p:nvSpPr>
        <p:spPr>
          <a:xfrm>
            <a:off x="6748272" y="2185416"/>
            <a:ext cx="402336" cy="402336"/>
          </a:xfrm>
          <a:prstGeom prst="rect">
            <a:avLst/>
          </a:prstGeom>
          <a:noFill/>
          <a:ln/>
        </p:spPr>
        <p:txBody>
          <a:bodyPr wrap="square" lIns="0" tIns="0" rIns="0" bIns="0" rtlCol="0" anchor="ctr"/>
          <a:lstStyle/>
          <a:p>
            <a:pPr marL="0" indent="0" algn="ctr">
              <a:buNone/>
            </a:pPr>
            <a:r>
              <a:rPr lang="en-US" sz="1700" b="1" dirty="0">
                <a:solidFill>
                  <a:srgbClr val="0A1628"/>
                </a:solidFill>
                <a:latin typeface="Calibri" pitchFamily="34" charset="0"/>
                <a:ea typeface="Calibri" pitchFamily="34" charset="-122"/>
                <a:cs typeface="Calibri" pitchFamily="34" charset="-120"/>
              </a:rPr>
              <a:t>2</a:t>
            </a:r>
            <a:endParaRPr lang="en-US" sz="1700" dirty="0"/>
          </a:p>
        </p:txBody>
      </p:sp>
      <p:sp>
        <p:nvSpPr>
          <p:cNvPr id="14" name="a1_02e"/>
          <p:cNvSpPr txBox="1"/>
          <p:nvPr/>
        </p:nvSpPr>
        <p:spPr>
          <a:xfrm>
            <a:off x="7296912" y="2148840"/>
            <a:ext cx="4425696" cy="457200"/>
          </a:xfrm>
          <a:prstGeom prst="rect">
            <a:avLst/>
          </a:prstGeom>
          <a:noFill/>
          <a:ln/>
        </p:spPr>
        <p:txBody>
          <a:bodyPr wrap="square" lIns="0" tIns="0" rIns="0" bIns="0" rtlCol="0" anchor="ctr"/>
          <a:lstStyle/>
          <a:p>
            <a:pPr marL="0" indent="0">
              <a:buNone/>
            </a:pPr>
            <a:r>
              <a:rPr lang="en-US" sz="1900" b="1" dirty="0">
                <a:solidFill>
                  <a:srgbClr val="7FB3FF"/>
                </a:solidFill>
                <a:latin typeface="Calibri" pitchFamily="34" charset="0"/>
                <a:ea typeface="Calibri" pitchFamily="34" charset="-122"/>
                <a:cs typeface="Calibri" pitchFamily="34" charset="-120"/>
              </a:rPr>
              <a:t>The procedure was never learned</a:t>
            </a:r>
            <a:endParaRPr lang="en-US" sz="1900" dirty="0"/>
          </a:p>
        </p:txBody>
      </p:sp>
      <p:sp>
        <p:nvSpPr>
          <p:cNvPr id="15" name="a1_02f"/>
          <p:cNvSpPr txBox="1"/>
          <p:nvPr/>
        </p:nvSpPr>
        <p:spPr>
          <a:xfrm>
            <a:off x="6784848" y="2752344"/>
            <a:ext cx="4937760" cy="914400"/>
          </a:xfrm>
          <a:prstGeom prst="rect">
            <a:avLst/>
          </a:prstGeom>
          <a:noFill/>
          <a:ln/>
        </p:spPr>
        <p:txBody>
          <a:bodyPr wrap="square" lIns="0" tIns="0" rIns="0" bIns="0" rtlCol="0" anchor="ctr"/>
          <a:lstStyle/>
          <a:p>
            <a:pPr marL="0" indent="0">
              <a:lnSpc>
                <a:spcPct val="115000"/>
              </a:lnSpc>
              <a:buNone/>
            </a:pPr>
            <a:r>
              <a:rPr lang="en-US" sz="1500" dirty="0">
                <a:solidFill>
                  <a:srgbClr val="EAF2F8"/>
                </a:solidFill>
                <a:latin typeface="Calibri" pitchFamily="34" charset="0"/>
                <a:ea typeface="Calibri" pitchFamily="34" charset="-122"/>
                <a:cs typeface="Calibri" pitchFamily="34" charset="-120"/>
              </a:rPr>
              <a:t>Needs MORE teaching, with support and a review of the basics.</a:t>
            </a:r>
            <a:endParaRPr lang="en-US" sz="1500" dirty="0"/>
          </a:p>
        </p:txBody>
      </p:sp>
      <p:sp>
        <p:nvSpPr>
          <p:cNvPr id="16" name="a2_01b"/>
          <p:cNvSpPr/>
          <p:nvPr/>
        </p:nvSpPr>
        <p:spPr>
          <a:xfrm>
            <a:off x="566928" y="4069080"/>
            <a:ext cx="11057839" cy="1371600"/>
          </a:xfrm>
          <a:prstGeom prst="roundRect">
            <a:avLst>
              <a:gd name="adj" fmla="val 5333"/>
            </a:avLst>
          </a:prstGeom>
          <a:solidFill>
            <a:srgbClr val="152A45"/>
          </a:solidFill>
          <a:ln w="12700">
            <a:solidFill>
              <a:srgbClr val="27425F"/>
            </a:solidFill>
            <a:prstDash val="solid"/>
          </a:ln>
        </p:spPr>
        <p:txBody>
          <a:bodyPr/>
          <a:lstStyle/>
          <a:p>
            <a:endParaRPr lang="en-CA"/>
          </a:p>
        </p:txBody>
      </p:sp>
      <p:sp>
        <p:nvSpPr>
          <p:cNvPr id="17" name="a2_01e"/>
          <p:cNvSpPr txBox="1"/>
          <p:nvPr/>
        </p:nvSpPr>
        <p:spPr>
          <a:xfrm>
            <a:off x="841248" y="4251960"/>
            <a:ext cx="10509199" cy="457200"/>
          </a:xfrm>
          <a:prstGeom prst="rect">
            <a:avLst/>
          </a:prstGeom>
          <a:noFill/>
          <a:ln/>
        </p:spPr>
        <p:txBody>
          <a:bodyPr wrap="square" lIns="0" tIns="0" rIns="0" bIns="0" rtlCol="0" anchor="ctr"/>
          <a:lstStyle/>
          <a:p>
            <a:pPr marL="0" indent="0">
              <a:buNone/>
            </a:pPr>
            <a:r>
              <a:rPr lang="en-US" sz="1900" b="1" dirty="0">
                <a:solidFill>
                  <a:srgbClr val="FF8A5B"/>
                </a:solidFill>
                <a:latin typeface="Calibri" pitchFamily="34" charset="0"/>
                <a:ea typeface="Calibri" pitchFamily="34" charset="-122"/>
                <a:cs typeface="Calibri" pitchFamily="34" charset="-120"/>
              </a:rPr>
              <a:t>The two fixes are opposites</a:t>
            </a:r>
            <a:endParaRPr lang="en-US" sz="1900" dirty="0"/>
          </a:p>
        </p:txBody>
      </p:sp>
      <p:sp>
        <p:nvSpPr>
          <p:cNvPr id="18" name="a2_01f"/>
          <p:cNvSpPr txBox="1"/>
          <p:nvPr/>
        </p:nvSpPr>
        <p:spPr>
          <a:xfrm>
            <a:off x="841248" y="4855464"/>
            <a:ext cx="10509199" cy="457200"/>
          </a:xfrm>
          <a:prstGeom prst="rect">
            <a:avLst/>
          </a:prstGeom>
          <a:noFill/>
          <a:ln/>
        </p:spPr>
        <p:txBody>
          <a:bodyPr wrap="square" lIns="0" tIns="0" rIns="0" bIns="0" rtlCol="0" anchor="ctr"/>
          <a:lstStyle/>
          <a:p>
            <a:pPr marL="0" indent="0">
              <a:lnSpc>
                <a:spcPct val="115000"/>
              </a:lnSpc>
              <a:buNone/>
            </a:pPr>
            <a:r>
              <a:rPr lang="en-US" sz="1500" dirty="0">
                <a:solidFill>
                  <a:srgbClr val="EAF2F8"/>
                </a:solidFill>
                <a:latin typeface="Calibri" pitchFamily="34" charset="0"/>
                <a:ea typeface="Calibri" pitchFamily="34" charset="-122"/>
                <a:cs typeface="Calibri" pitchFamily="34" charset="-120"/>
              </a:rPr>
              <a:t>Give the wrong one and the pilot practises the wrong response, during an engine failure, at takeoff speed.</a:t>
            </a:r>
            <a:endParaRPr lang="en-US" sz="1500" dirty="0"/>
          </a:p>
        </p:txBody>
      </p:sp>
    </p:spTree>
  </p:cSld>
  <p:clrMapOvr>
    <a:masterClrMapping/>
  </p:clrMapOvr>
  <p:transition spd="slow" advClick="0" advTm="30000">
    <p:fade/>
  </p:transition>
  <p:timing>
    <p:tnLst>
      <p:par>
        <p:cTn id="1" dur="indefinite" restart="never" nodeType="tmRoot">
          <p:childTnLst>
            <p:seq concurrent="1" nextAc="seek">
              <p:cTn id="2" dur="indefinite" nodeType="mainSeq">
                <p:childTnLst>
                  <p:par>
                    <p:cTn id="3" fill="hold">
                      <p:stCondLst>
                        <p:cond delay="1200"/>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400"/>
                                        <p:tgtEl>
                                          <p:spTgt spid="7"/>
                                        </p:tgtEl>
                                      </p:cBhvr>
                                    </p:animEffect>
                                  </p:childTnLst>
                                </p:cTn>
                              </p:par>
                              <p:par>
                                <p:cTn id="11" presetID="10"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400"/>
                                        <p:tgtEl>
                                          <p:spTgt spid="8"/>
                                        </p:tgtEl>
                                      </p:cBhvr>
                                    </p:animEffect>
                                  </p:childTnLst>
                                </p:cTn>
                              </p:par>
                              <p:par>
                                <p:cTn id="14" presetID="10" presetClass="entr" presetSubtype="0" fill="hold"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400"/>
                                        <p:tgtEl>
                                          <p:spTgt spid="9"/>
                                        </p:tgtEl>
                                      </p:cBhvr>
                                    </p:animEffect>
                                  </p:childTnLst>
                                </p:cTn>
                              </p:par>
                              <p:par>
                                <p:cTn id="17" presetID="10"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00"/>
                                        <p:tgtEl>
                                          <p:spTgt spid="10"/>
                                        </p:tgtEl>
                                      </p:cBhvr>
                                    </p:animEffect>
                                  </p:childTnLst>
                                </p:cTn>
                              </p:par>
                              <p:par>
                                <p:cTn id="20" presetID="10" presetClass="entr" presetSubtype="0" fill="hold" nodeType="withEffect">
                                  <p:stCondLst>
                                    <p:cond delay="15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par>
                                <p:cTn id="23" presetID="10" presetClass="entr" presetSubtype="0" fill="hold" nodeType="withEffect">
                                  <p:stCondLst>
                                    <p:cond delay="15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400"/>
                                        <p:tgtEl>
                                          <p:spTgt spid="12"/>
                                        </p:tgtEl>
                                      </p:cBhvr>
                                    </p:animEffect>
                                  </p:childTnLst>
                                </p:cTn>
                              </p:par>
                              <p:par>
                                <p:cTn id="26" presetID="10" presetClass="entr" presetSubtype="0" fill="hold" nodeType="withEffect">
                                  <p:stCondLst>
                                    <p:cond delay="15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00"/>
                                        <p:tgtEl>
                                          <p:spTgt spid="13"/>
                                        </p:tgtEl>
                                      </p:cBhvr>
                                    </p:animEffect>
                                  </p:childTnLst>
                                </p:cTn>
                              </p:par>
                              <p:par>
                                <p:cTn id="29" presetID="10" presetClass="entr" presetSubtype="0" fill="hold" nodeType="withEffect">
                                  <p:stCondLst>
                                    <p:cond delay="15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00"/>
                                        <p:tgtEl>
                                          <p:spTgt spid="14"/>
                                        </p:tgtEl>
                                      </p:cBhvr>
                                    </p:animEffect>
                                  </p:childTnLst>
                                </p:cTn>
                              </p:par>
                              <p:par>
                                <p:cTn id="32" presetID="10" presetClass="entr" presetSubtype="0" fill="hold" nodeType="withEffect">
                                  <p:stCondLst>
                                    <p:cond delay="15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00"/>
                                        <p:tgtEl>
                                          <p:spTgt spid="15"/>
                                        </p:tgtEl>
                                      </p:cBhvr>
                                    </p:animEffect>
                                  </p:childTnLst>
                                </p:cTn>
                              </p:par>
                            </p:childTnLst>
                          </p:cTn>
                        </p:par>
                      </p:childTnLst>
                    </p:cTn>
                  </p:par>
                  <p:par>
                    <p:cTn id="35" fill="hold">
                      <p:stCondLst>
                        <p:cond delay="14150"/>
                      </p:stCondLst>
                      <p:childTnLst>
                        <p:par>
                          <p:cTn id="36" fill="hold">
                            <p:stCondLst>
                              <p:cond delay="0"/>
                            </p:stCondLst>
                            <p:childTnLst>
                              <p:par>
                                <p:cTn id="37" presetID="10" presetClass="entr" presetSubtype="0" fill="hold" nodeType="after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400"/>
                                        <p:tgtEl>
                                          <p:spTgt spid="16"/>
                                        </p:tgtEl>
                                      </p:cBhvr>
                                    </p:animEffect>
                                  </p:childTnLst>
                                </p:cTn>
                              </p:par>
                              <p:par>
                                <p:cTn id="40" presetID="10" presetClass="entr" presetSubtype="0" fill="hold" nodeType="with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400"/>
                                        <p:tgtEl>
                                          <p:spTgt spid="17"/>
                                        </p:tgtEl>
                                      </p:cBhvr>
                                    </p:animEffect>
                                  </p:childTnLst>
                                </p:cTn>
                              </p:par>
                              <p:par>
                                <p:cTn id="43" presetID="10" presetClass="entr" presetSubtype="0" fill="hold" nodeType="with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628"/>
        </a:solidFill>
        <a:effectLst/>
      </p:bgPr>
    </p:bg>
    <p:spTree>
      <p:nvGrpSpPr>
        <p:cNvPr id="1" name=""/>
        <p:cNvGrpSpPr/>
        <p:nvPr/>
      </p:nvGrpSpPr>
      <p:grpSpPr>
        <a:xfrm>
          <a:off x="0" y="0"/>
          <a:ext cx="0" cy="0"/>
          <a:chOff x="0" y="0"/>
          <a:chExt cx="0" cy="0"/>
        </a:xfrm>
      </p:grpSpPr>
      <p:sp>
        <p:nvSpPr>
          <p:cNvPr id="3" name="Text 0"/>
          <p:cNvSpPr txBox="1"/>
          <p:nvPr/>
        </p:nvSpPr>
        <p:spPr>
          <a:xfrm>
            <a:off x="566928" y="384048"/>
            <a:ext cx="11057839" cy="274320"/>
          </a:xfrm>
          <a:prstGeom prst="rect">
            <a:avLst/>
          </a:prstGeom>
          <a:noFill/>
          <a:ln/>
        </p:spPr>
        <p:txBody>
          <a:bodyPr wrap="square" lIns="0" tIns="0" rIns="0" bIns="0" rtlCol="0" anchor="ctr"/>
          <a:lstStyle/>
          <a:p>
            <a:pPr marL="0" indent="0">
              <a:buNone/>
            </a:pPr>
            <a:r>
              <a:rPr lang="en-US" sz="1400" b="1" kern="0" spc="300" dirty="0">
                <a:solidFill>
                  <a:srgbClr val="4ED8E6"/>
                </a:solidFill>
                <a:latin typeface="Calibri" pitchFamily="34" charset="0"/>
                <a:ea typeface="Calibri" pitchFamily="34" charset="-122"/>
                <a:cs typeface="Calibri" pitchFamily="34" charset="-120"/>
              </a:rPr>
              <a:t>THE SYSTEM</a:t>
            </a:r>
            <a:endParaRPr lang="en-US" sz="1400" dirty="0"/>
          </a:p>
        </p:txBody>
      </p:sp>
      <p:sp>
        <p:nvSpPr>
          <p:cNvPr id="4" name="Text 1"/>
          <p:cNvSpPr txBox="1"/>
          <p:nvPr/>
        </p:nvSpPr>
        <p:spPr>
          <a:xfrm>
            <a:off x="566928" y="676656"/>
            <a:ext cx="11057839" cy="658368"/>
          </a:xfrm>
          <a:prstGeom prst="rect">
            <a:avLst/>
          </a:prstGeom>
          <a:noFill/>
          <a:ln/>
        </p:spPr>
        <p:txBody>
          <a:bodyPr wrap="square" lIns="0" tIns="0" rIns="0" bIns="0" rtlCol="0" anchor="ctr"/>
          <a:lstStyle/>
          <a:p>
            <a:pPr marL="0" indent="0">
              <a:buNone/>
            </a:pPr>
            <a:r>
              <a:rPr lang="en-US" sz="3600" b="1" dirty="0">
                <a:solidFill>
                  <a:srgbClr val="EAF2F8"/>
                </a:solidFill>
                <a:latin typeface="Calibri" pitchFamily="34" charset="0"/>
                <a:ea typeface="Calibri" pitchFamily="34" charset="-122"/>
                <a:cs typeface="Calibri" pitchFamily="34" charset="-120"/>
              </a:rPr>
              <a:t>Reading the pilot, not just the score</a:t>
            </a:r>
            <a:endParaRPr lang="en-US" sz="3600" dirty="0"/>
          </a:p>
        </p:txBody>
      </p:sp>
      <p:sp>
        <p:nvSpPr>
          <p:cNvPr id="5" name="a1_01b"/>
          <p:cNvSpPr/>
          <p:nvPr/>
        </p:nvSpPr>
        <p:spPr>
          <a:xfrm>
            <a:off x="984935" y="1508760"/>
            <a:ext cx="10221825" cy="4114800"/>
          </a:xfrm>
          <a:prstGeom prst="roundRect">
            <a:avLst>
              <a:gd name="adj" fmla="val 1111"/>
            </a:avLst>
          </a:prstGeom>
          <a:solidFill>
            <a:srgbClr val="FFFFFF"/>
          </a:solidFill>
          <a:ln w="12700">
            <a:solidFill>
              <a:srgbClr val="FFFFFF"/>
            </a:solidFill>
            <a:prstDash val="solid"/>
          </a:ln>
          <a:effectLst>
            <a:outerShdw blurRad="228600" dist="50800" dir="5400000" algn="bl" rotWithShape="0">
              <a:srgbClr val="000000">
                <a:alpha val="45000"/>
              </a:srgbClr>
            </a:outerShdw>
          </a:effectLst>
        </p:spPr>
        <p:txBody>
          <a:bodyPr/>
          <a:lstStyle/>
          <a:p>
            <a:endParaRPr lang="en-CA"/>
          </a:p>
        </p:txBody>
      </p:sp>
      <p:pic>
        <p:nvPicPr>
          <p:cNvPr id="6" name="a1_01i" descr="/home/claude/repo/cognisim/figures/fig2_engine.png"/>
          <p:cNvPicPr>
            <a:picLocks noChangeAspect="1"/>
          </p:cNvPicPr>
          <p:nvPr/>
        </p:nvPicPr>
        <p:blipFill>
          <a:blip r:embed="rId3"/>
          <a:stretch>
            <a:fillRect/>
          </a:stretch>
        </p:blipFill>
        <p:spPr>
          <a:xfrm>
            <a:off x="1076375" y="1600200"/>
            <a:ext cx="10038945" cy="3931920"/>
          </a:xfrm>
          <a:prstGeom prst="rect">
            <a:avLst/>
          </a:prstGeom>
        </p:spPr>
      </p:pic>
      <p:sp>
        <p:nvSpPr>
          <p:cNvPr id="7" name="a2_01"/>
          <p:cNvSpPr txBox="1"/>
          <p:nvPr/>
        </p:nvSpPr>
        <p:spPr>
          <a:xfrm>
            <a:off x="566928" y="6199632"/>
            <a:ext cx="11057839" cy="365760"/>
          </a:xfrm>
          <a:prstGeom prst="rect">
            <a:avLst/>
          </a:prstGeom>
          <a:noFill/>
          <a:ln/>
        </p:spPr>
        <p:txBody>
          <a:bodyPr wrap="square" lIns="0" tIns="0" rIns="0" bIns="0" rtlCol="0" anchor="ctr"/>
          <a:lstStyle/>
          <a:p>
            <a:pPr marL="0" indent="0">
              <a:buNone/>
            </a:pPr>
            <a:r>
              <a:rPr lang="en-US" sz="1400" i="1" dirty="0">
                <a:solidFill>
                  <a:srgbClr val="9BB0C4"/>
                </a:solidFill>
                <a:latin typeface="Calibri" pitchFamily="34" charset="0"/>
                <a:ea typeface="Calibri" pitchFamily="34" charset="-122"/>
                <a:cs typeface="Calibri" pitchFamily="34" charset="-120"/>
              </a:rPr>
              <a:t>Sense, decide, deliver, measure. The loop closes inside the maneuver, not after it.</a:t>
            </a:r>
            <a:endParaRPr lang="en-US" sz="1400" dirty="0"/>
          </a:p>
        </p:txBody>
      </p:sp>
    </p:spTree>
  </p:cSld>
  <p:clrMapOvr>
    <a:masterClrMapping/>
  </p:clrMapOvr>
  <p:transition spd="slow" advClick="0" advTm="20000">
    <p:fade/>
  </p:transition>
  <p:timing>
    <p:tnLst>
      <p:par>
        <p:cTn id="1" dur="indefinite" restart="never" nodeType="tmRoot">
          <p:childTnLst>
            <p:seq concurrent="1" nextAc="seek">
              <p:cTn id="2" dur="indefinite" nodeType="mainSeq">
                <p:childTnLst>
                  <p:par>
                    <p:cTn id="3" fill="hold">
                      <p:stCondLst>
                        <p:cond delay="1200"/>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childTnLst>
                          </p:cTn>
                        </p:par>
                      </p:childTnLst>
                    </p:cTn>
                  </p:par>
                  <p:par>
                    <p:cTn id="11" fill="hold">
                      <p:stCondLst>
                        <p:cond delay="9150"/>
                      </p:stCondLst>
                      <p:childTnLst>
                        <p:par>
                          <p:cTn id="12" fill="hold">
                            <p:stCondLst>
                              <p:cond delay="0"/>
                            </p:stCondLst>
                            <p:childTnLst>
                              <p:par>
                                <p:cTn id="13" presetID="10" presetClass="entr" presetSubtype="0" fill="hold"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628"/>
        </a:solidFill>
        <a:effectLst/>
      </p:bgPr>
    </p:bg>
    <p:spTree>
      <p:nvGrpSpPr>
        <p:cNvPr id="1" name=""/>
        <p:cNvGrpSpPr/>
        <p:nvPr/>
      </p:nvGrpSpPr>
      <p:grpSpPr>
        <a:xfrm>
          <a:off x="0" y="0"/>
          <a:ext cx="0" cy="0"/>
          <a:chOff x="0" y="0"/>
          <a:chExt cx="0" cy="0"/>
        </a:xfrm>
      </p:grpSpPr>
      <p:sp>
        <p:nvSpPr>
          <p:cNvPr id="3" name="Text 0"/>
          <p:cNvSpPr txBox="1"/>
          <p:nvPr/>
        </p:nvSpPr>
        <p:spPr>
          <a:xfrm>
            <a:off x="566928" y="384048"/>
            <a:ext cx="11057839" cy="274320"/>
          </a:xfrm>
          <a:prstGeom prst="rect">
            <a:avLst/>
          </a:prstGeom>
          <a:noFill/>
          <a:ln/>
        </p:spPr>
        <p:txBody>
          <a:bodyPr wrap="square" lIns="0" tIns="0" rIns="0" bIns="0" rtlCol="0" anchor="ctr"/>
          <a:lstStyle/>
          <a:p>
            <a:pPr marL="0" indent="0">
              <a:buNone/>
            </a:pPr>
            <a:r>
              <a:rPr lang="en-US" sz="1400" b="1" kern="0" spc="300" dirty="0">
                <a:solidFill>
                  <a:srgbClr val="4ED8E6"/>
                </a:solidFill>
                <a:latin typeface="Calibri" pitchFamily="34" charset="0"/>
                <a:ea typeface="Calibri" pitchFamily="34" charset="-122"/>
                <a:cs typeface="Calibri" pitchFamily="34" charset="-120"/>
              </a:rPr>
              <a:t>AT THE BOOTH</a:t>
            </a:r>
            <a:endParaRPr lang="en-US" sz="1400" dirty="0"/>
          </a:p>
        </p:txBody>
      </p:sp>
      <p:sp>
        <p:nvSpPr>
          <p:cNvPr id="4" name="Text 1"/>
          <p:cNvSpPr txBox="1"/>
          <p:nvPr/>
        </p:nvSpPr>
        <p:spPr>
          <a:xfrm>
            <a:off x="566928" y="676656"/>
            <a:ext cx="11057839" cy="658368"/>
          </a:xfrm>
          <a:prstGeom prst="rect">
            <a:avLst/>
          </a:prstGeom>
          <a:noFill/>
          <a:ln/>
        </p:spPr>
        <p:txBody>
          <a:bodyPr wrap="square" lIns="0" tIns="0" rIns="0" bIns="0" rtlCol="0" anchor="ctr"/>
          <a:lstStyle/>
          <a:p>
            <a:pPr marL="0" indent="0">
              <a:buNone/>
            </a:pPr>
            <a:r>
              <a:rPr lang="en-US" sz="3600" b="1" dirty="0">
                <a:solidFill>
                  <a:srgbClr val="EAF2F8"/>
                </a:solidFill>
                <a:latin typeface="Calibri" pitchFamily="34" charset="0"/>
                <a:ea typeface="Calibri" pitchFamily="34" charset="-122"/>
                <a:cs typeface="Calibri" pitchFamily="34" charset="-120"/>
              </a:rPr>
              <a:t>Three things a visitor can do</a:t>
            </a:r>
            <a:endParaRPr lang="en-US" sz="3600" dirty="0"/>
          </a:p>
        </p:txBody>
      </p:sp>
      <p:sp>
        <p:nvSpPr>
          <p:cNvPr id="5" name="a1_01b"/>
          <p:cNvSpPr/>
          <p:nvPr/>
        </p:nvSpPr>
        <p:spPr>
          <a:xfrm>
            <a:off x="566928" y="1783080"/>
            <a:ext cx="3566160" cy="3017520"/>
          </a:xfrm>
          <a:prstGeom prst="roundRect">
            <a:avLst>
              <a:gd name="adj" fmla="val 2424"/>
            </a:avLst>
          </a:prstGeom>
          <a:solidFill>
            <a:srgbClr val="152A45"/>
          </a:solidFill>
          <a:ln w="12700">
            <a:solidFill>
              <a:srgbClr val="27425F"/>
            </a:solidFill>
            <a:prstDash val="solid"/>
          </a:ln>
        </p:spPr>
        <p:txBody>
          <a:bodyPr/>
          <a:lstStyle/>
          <a:p>
            <a:endParaRPr lang="en-CA"/>
          </a:p>
        </p:txBody>
      </p:sp>
      <p:sp>
        <p:nvSpPr>
          <p:cNvPr id="6" name="a1_01c"/>
          <p:cNvSpPr/>
          <p:nvPr/>
        </p:nvSpPr>
        <p:spPr>
          <a:xfrm>
            <a:off x="804672" y="2002536"/>
            <a:ext cx="402336" cy="402336"/>
          </a:xfrm>
          <a:prstGeom prst="ellipse">
            <a:avLst/>
          </a:prstGeom>
          <a:solidFill>
            <a:srgbClr val="4ED8E6"/>
          </a:solidFill>
          <a:ln/>
        </p:spPr>
        <p:txBody>
          <a:bodyPr/>
          <a:lstStyle/>
          <a:p>
            <a:endParaRPr lang="en-CA"/>
          </a:p>
        </p:txBody>
      </p:sp>
      <p:sp>
        <p:nvSpPr>
          <p:cNvPr id="7" name="a1_01d"/>
          <p:cNvSpPr txBox="1"/>
          <p:nvPr/>
        </p:nvSpPr>
        <p:spPr>
          <a:xfrm>
            <a:off x="804672" y="2002536"/>
            <a:ext cx="402336" cy="402336"/>
          </a:xfrm>
          <a:prstGeom prst="rect">
            <a:avLst/>
          </a:prstGeom>
          <a:noFill/>
          <a:ln/>
        </p:spPr>
        <p:txBody>
          <a:bodyPr wrap="square" lIns="0" tIns="0" rIns="0" bIns="0" rtlCol="0" anchor="ctr"/>
          <a:lstStyle/>
          <a:p>
            <a:pPr marL="0" indent="0" algn="ctr">
              <a:buNone/>
            </a:pPr>
            <a:r>
              <a:rPr lang="en-US" sz="1700" b="1" dirty="0">
                <a:solidFill>
                  <a:srgbClr val="0A1628"/>
                </a:solidFill>
                <a:latin typeface="Calibri" pitchFamily="34" charset="0"/>
                <a:ea typeface="Calibri" pitchFamily="34" charset="-122"/>
                <a:cs typeface="Calibri" pitchFamily="34" charset="-120"/>
              </a:rPr>
              <a:t>1</a:t>
            </a:r>
            <a:endParaRPr lang="en-US" sz="1700" dirty="0"/>
          </a:p>
        </p:txBody>
      </p:sp>
      <p:sp>
        <p:nvSpPr>
          <p:cNvPr id="8" name="a1_01e"/>
          <p:cNvSpPr txBox="1"/>
          <p:nvPr/>
        </p:nvSpPr>
        <p:spPr>
          <a:xfrm>
            <a:off x="1353312" y="1965960"/>
            <a:ext cx="2505456" cy="457200"/>
          </a:xfrm>
          <a:prstGeom prst="rect">
            <a:avLst/>
          </a:prstGeom>
          <a:noFill/>
          <a:ln/>
        </p:spPr>
        <p:txBody>
          <a:bodyPr wrap="square" lIns="0" tIns="0" rIns="0" bIns="0" rtlCol="0" anchor="ctr"/>
          <a:lstStyle/>
          <a:p>
            <a:pPr marL="0" indent="0">
              <a:buNone/>
            </a:pPr>
            <a:r>
              <a:rPr lang="en-US" sz="1900" b="1" dirty="0">
                <a:solidFill>
                  <a:srgbClr val="4ED8E6"/>
                </a:solidFill>
                <a:latin typeface="Calibri" pitchFamily="34" charset="0"/>
                <a:ea typeface="Calibri" pitchFamily="34" charset="-122"/>
                <a:cs typeface="Calibri" pitchFamily="34" charset="-120"/>
              </a:rPr>
              <a:t>Fly it</a:t>
            </a:r>
            <a:endParaRPr lang="en-US" sz="1900" dirty="0"/>
          </a:p>
        </p:txBody>
      </p:sp>
      <p:sp>
        <p:nvSpPr>
          <p:cNvPr id="9" name="a1_01f"/>
          <p:cNvSpPr txBox="1"/>
          <p:nvPr/>
        </p:nvSpPr>
        <p:spPr>
          <a:xfrm>
            <a:off x="841248" y="2569464"/>
            <a:ext cx="3017520" cy="2103120"/>
          </a:xfrm>
          <a:prstGeom prst="rect">
            <a:avLst/>
          </a:prstGeom>
          <a:noFill/>
          <a:ln/>
        </p:spPr>
        <p:txBody>
          <a:bodyPr wrap="square" lIns="0" tIns="0" rIns="0" bIns="0" rtlCol="0" anchor="ctr"/>
          <a:lstStyle/>
          <a:p>
            <a:pPr marL="0" indent="0">
              <a:lnSpc>
                <a:spcPct val="115000"/>
              </a:lnSpc>
              <a:buNone/>
            </a:pPr>
            <a:r>
              <a:rPr lang="en-US" sz="1500" dirty="0">
                <a:solidFill>
                  <a:srgbClr val="EAF2F8"/>
                </a:solidFill>
                <a:latin typeface="Calibri" pitchFamily="34" charset="0"/>
                <a:ea typeface="Calibri" pitchFamily="34" charset="-122"/>
                <a:cs typeface="Calibri" pitchFamily="34" charset="-120"/>
              </a:rPr>
              <a:t>A Boeing 737 engine failure at takeoff speed, with the system watching your eyes and your heart.</a:t>
            </a:r>
            <a:endParaRPr lang="en-US" sz="1500" dirty="0"/>
          </a:p>
        </p:txBody>
      </p:sp>
      <p:sp>
        <p:nvSpPr>
          <p:cNvPr id="10" name="a2_01b"/>
          <p:cNvSpPr/>
          <p:nvPr/>
        </p:nvSpPr>
        <p:spPr>
          <a:xfrm>
            <a:off x="4334256" y="1783080"/>
            <a:ext cx="3566160" cy="3017520"/>
          </a:xfrm>
          <a:prstGeom prst="roundRect">
            <a:avLst>
              <a:gd name="adj" fmla="val 2424"/>
            </a:avLst>
          </a:prstGeom>
          <a:solidFill>
            <a:srgbClr val="152A45"/>
          </a:solidFill>
          <a:ln w="12700">
            <a:solidFill>
              <a:srgbClr val="27425F"/>
            </a:solidFill>
            <a:prstDash val="solid"/>
          </a:ln>
        </p:spPr>
        <p:txBody>
          <a:bodyPr/>
          <a:lstStyle/>
          <a:p>
            <a:endParaRPr lang="en-CA"/>
          </a:p>
        </p:txBody>
      </p:sp>
      <p:sp>
        <p:nvSpPr>
          <p:cNvPr id="11" name="a2_01c"/>
          <p:cNvSpPr/>
          <p:nvPr/>
        </p:nvSpPr>
        <p:spPr>
          <a:xfrm>
            <a:off x="4572000" y="2002536"/>
            <a:ext cx="402336" cy="402336"/>
          </a:xfrm>
          <a:prstGeom prst="ellipse">
            <a:avLst/>
          </a:prstGeom>
          <a:solidFill>
            <a:srgbClr val="7FB3FF"/>
          </a:solidFill>
          <a:ln/>
        </p:spPr>
        <p:txBody>
          <a:bodyPr/>
          <a:lstStyle/>
          <a:p>
            <a:endParaRPr lang="en-CA"/>
          </a:p>
        </p:txBody>
      </p:sp>
      <p:sp>
        <p:nvSpPr>
          <p:cNvPr id="12" name="a2_01d"/>
          <p:cNvSpPr txBox="1"/>
          <p:nvPr/>
        </p:nvSpPr>
        <p:spPr>
          <a:xfrm>
            <a:off x="4572000" y="2002536"/>
            <a:ext cx="402336" cy="402336"/>
          </a:xfrm>
          <a:prstGeom prst="rect">
            <a:avLst/>
          </a:prstGeom>
          <a:noFill/>
          <a:ln/>
        </p:spPr>
        <p:txBody>
          <a:bodyPr wrap="square" lIns="0" tIns="0" rIns="0" bIns="0" rtlCol="0" anchor="ctr"/>
          <a:lstStyle/>
          <a:p>
            <a:pPr marL="0" indent="0" algn="ctr">
              <a:buNone/>
            </a:pPr>
            <a:r>
              <a:rPr lang="en-US" sz="1700" b="1" dirty="0">
                <a:solidFill>
                  <a:srgbClr val="0A1628"/>
                </a:solidFill>
                <a:latin typeface="Calibri" pitchFamily="34" charset="0"/>
                <a:ea typeface="Calibri" pitchFamily="34" charset="-122"/>
                <a:cs typeface="Calibri" pitchFamily="34" charset="-120"/>
              </a:rPr>
              <a:t>2</a:t>
            </a:r>
            <a:endParaRPr lang="en-US" sz="1700" dirty="0"/>
          </a:p>
        </p:txBody>
      </p:sp>
      <p:sp>
        <p:nvSpPr>
          <p:cNvPr id="13" name="a2_01e"/>
          <p:cNvSpPr txBox="1"/>
          <p:nvPr/>
        </p:nvSpPr>
        <p:spPr>
          <a:xfrm>
            <a:off x="5120640" y="1965960"/>
            <a:ext cx="2505456" cy="457200"/>
          </a:xfrm>
          <a:prstGeom prst="rect">
            <a:avLst/>
          </a:prstGeom>
          <a:noFill/>
          <a:ln/>
        </p:spPr>
        <p:txBody>
          <a:bodyPr wrap="square" lIns="0" tIns="0" rIns="0" bIns="0" rtlCol="0" anchor="ctr"/>
          <a:lstStyle/>
          <a:p>
            <a:pPr marL="0" indent="0">
              <a:buNone/>
            </a:pPr>
            <a:r>
              <a:rPr lang="en-US" sz="1900" b="1" dirty="0">
                <a:solidFill>
                  <a:srgbClr val="7FB3FF"/>
                </a:solidFill>
                <a:latin typeface="Calibri" pitchFamily="34" charset="0"/>
                <a:ea typeface="Calibri" pitchFamily="34" charset="-122"/>
                <a:cs typeface="Calibri" pitchFamily="34" charset="-120"/>
              </a:rPr>
              <a:t>Watch it think</a:t>
            </a:r>
            <a:endParaRPr lang="en-US" sz="1900" dirty="0"/>
          </a:p>
        </p:txBody>
      </p:sp>
      <p:sp>
        <p:nvSpPr>
          <p:cNvPr id="14" name="a2_01f"/>
          <p:cNvSpPr txBox="1"/>
          <p:nvPr/>
        </p:nvSpPr>
        <p:spPr>
          <a:xfrm>
            <a:off x="4608576" y="2569464"/>
            <a:ext cx="3017520" cy="2103120"/>
          </a:xfrm>
          <a:prstGeom prst="rect">
            <a:avLst/>
          </a:prstGeom>
          <a:noFill/>
          <a:ln/>
        </p:spPr>
        <p:txBody>
          <a:bodyPr wrap="square" lIns="0" tIns="0" rIns="0" bIns="0" rtlCol="0" anchor="ctr"/>
          <a:lstStyle/>
          <a:p>
            <a:pPr marL="0" indent="0">
              <a:lnSpc>
                <a:spcPct val="115000"/>
              </a:lnSpc>
              <a:buNone/>
            </a:pPr>
            <a:r>
              <a:rPr lang="en-US" sz="1500" dirty="0">
                <a:solidFill>
                  <a:srgbClr val="EAF2F8"/>
                </a:solidFill>
                <a:latin typeface="Calibri" pitchFamily="34" charset="0"/>
                <a:ea typeface="Calibri" pitchFamily="34" charset="-122"/>
                <a:cs typeface="Calibri" pitchFamily="34" charset="-120"/>
              </a:rPr>
              <a:t>Live load, mastery, the action it chose, and the reading behind it.</a:t>
            </a:r>
            <a:endParaRPr lang="en-US" sz="1500" dirty="0"/>
          </a:p>
        </p:txBody>
      </p:sp>
      <p:sp>
        <p:nvSpPr>
          <p:cNvPr id="15" name="a3_01b"/>
          <p:cNvSpPr/>
          <p:nvPr/>
        </p:nvSpPr>
        <p:spPr>
          <a:xfrm>
            <a:off x="8101584" y="1783080"/>
            <a:ext cx="3566160" cy="3017520"/>
          </a:xfrm>
          <a:prstGeom prst="roundRect">
            <a:avLst>
              <a:gd name="adj" fmla="val 2424"/>
            </a:avLst>
          </a:prstGeom>
          <a:solidFill>
            <a:srgbClr val="152A45"/>
          </a:solidFill>
          <a:ln w="12700">
            <a:solidFill>
              <a:srgbClr val="27425F"/>
            </a:solidFill>
            <a:prstDash val="solid"/>
          </a:ln>
        </p:spPr>
        <p:txBody>
          <a:bodyPr/>
          <a:lstStyle/>
          <a:p>
            <a:endParaRPr lang="en-CA"/>
          </a:p>
        </p:txBody>
      </p:sp>
      <p:sp>
        <p:nvSpPr>
          <p:cNvPr id="16" name="a3_01c"/>
          <p:cNvSpPr/>
          <p:nvPr/>
        </p:nvSpPr>
        <p:spPr>
          <a:xfrm>
            <a:off x="8339328" y="2002536"/>
            <a:ext cx="402336" cy="402336"/>
          </a:xfrm>
          <a:prstGeom prst="ellipse">
            <a:avLst/>
          </a:prstGeom>
          <a:solidFill>
            <a:srgbClr val="FF8A5B"/>
          </a:solidFill>
          <a:ln/>
        </p:spPr>
        <p:txBody>
          <a:bodyPr/>
          <a:lstStyle/>
          <a:p>
            <a:endParaRPr lang="en-CA"/>
          </a:p>
        </p:txBody>
      </p:sp>
      <p:sp>
        <p:nvSpPr>
          <p:cNvPr id="17" name="a3_01d"/>
          <p:cNvSpPr txBox="1"/>
          <p:nvPr/>
        </p:nvSpPr>
        <p:spPr>
          <a:xfrm>
            <a:off x="8339328" y="2002536"/>
            <a:ext cx="402336" cy="402336"/>
          </a:xfrm>
          <a:prstGeom prst="rect">
            <a:avLst/>
          </a:prstGeom>
          <a:noFill/>
          <a:ln/>
        </p:spPr>
        <p:txBody>
          <a:bodyPr wrap="square" lIns="0" tIns="0" rIns="0" bIns="0" rtlCol="0" anchor="ctr"/>
          <a:lstStyle/>
          <a:p>
            <a:pPr marL="0" indent="0" algn="ctr">
              <a:buNone/>
            </a:pPr>
            <a:r>
              <a:rPr lang="en-US" sz="1700" b="1" dirty="0">
                <a:solidFill>
                  <a:srgbClr val="0A1628"/>
                </a:solidFill>
                <a:latin typeface="Calibri" pitchFamily="34" charset="0"/>
                <a:ea typeface="Calibri" pitchFamily="34" charset="-122"/>
                <a:cs typeface="Calibri" pitchFamily="34" charset="-120"/>
              </a:rPr>
              <a:t>3</a:t>
            </a:r>
            <a:endParaRPr lang="en-US" sz="1700" dirty="0"/>
          </a:p>
        </p:txBody>
      </p:sp>
      <p:sp>
        <p:nvSpPr>
          <p:cNvPr id="18" name="a3_01e"/>
          <p:cNvSpPr txBox="1"/>
          <p:nvPr/>
        </p:nvSpPr>
        <p:spPr>
          <a:xfrm>
            <a:off x="8887968" y="1965960"/>
            <a:ext cx="2505456" cy="457200"/>
          </a:xfrm>
          <a:prstGeom prst="rect">
            <a:avLst/>
          </a:prstGeom>
          <a:noFill/>
          <a:ln/>
        </p:spPr>
        <p:txBody>
          <a:bodyPr wrap="square" lIns="0" tIns="0" rIns="0" bIns="0" rtlCol="0" anchor="ctr"/>
          <a:lstStyle/>
          <a:p>
            <a:pPr marL="0" indent="0">
              <a:buNone/>
            </a:pPr>
            <a:r>
              <a:rPr lang="en-US" sz="1900" b="1" dirty="0">
                <a:solidFill>
                  <a:srgbClr val="FF8A5B"/>
                </a:solidFill>
                <a:latin typeface="Calibri" pitchFamily="34" charset="0"/>
                <a:ea typeface="Calibri" pitchFamily="34" charset="-122"/>
                <a:cs typeface="Calibri" pitchFamily="34" charset="-120"/>
              </a:rPr>
              <a:t>Try to break it</a:t>
            </a:r>
            <a:endParaRPr lang="en-US" sz="1900" dirty="0"/>
          </a:p>
        </p:txBody>
      </p:sp>
      <p:sp>
        <p:nvSpPr>
          <p:cNvPr id="19" name="a3_01f"/>
          <p:cNvSpPr txBox="1"/>
          <p:nvPr/>
        </p:nvSpPr>
        <p:spPr>
          <a:xfrm>
            <a:off x="8375904" y="2569464"/>
            <a:ext cx="3017520" cy="2103120"/>
          </a:xfrm>
          <a:prstGeom prst="rect">
            <a:avLst/>
          </a:prstGeom>
          <a:noFill/>
          <a:ln/>
        </p:spPr>
        <p:txBody>
          <a:bodyPr wrap="square" lIns="0" tIns="0" rIns="0" bIns="0" rtlCol="0" anchor="ctr"/>
          <a:lstStyle/>
          <a:p>
            <a:pPr marL="0" indent="0">
              <a:lnSpc>
                <a:spcPct val="115000"/>
              </a:lnSpc>
              <a:buNone/>
            </a:pPr>
            <a:r>
              <a:rPr lang="en-US" sz="1500" dirty="0">
                <a:solidFill>
                  <a:srgbClr val="EAF2F8"/>
                </a:solidFill>
                <a:latin typeface="Calibri" pitchFamily="34" charset="0"/>
                <a:ea typeface="Calibri" pitchFamily="34" charset="-122"/>
                <a:cs typeface="Calibri" pitchFamily="34" charset="-120"/>
              </a:rPr>
              <a:t>Attack the summary a device sends out, with the privacy protection off, then on.</a:t>
            </a:r>
            <a:endParaRPr lang="en-US" sz="1500" dirty="0"/>
          </a:p>
        </p:txBody>
      </p:sp>
      <p:sp>
        <p:nvSpPr>
          <p:cNvPr id="20" name="a3_02"/>
          <p:cNvSpPr txBox="1"/>
          <p:nvPr/>
        </p:nvSpPr>
        <p:spPr>
          <a:xfrm>
            <a:off x="566928" y="6199632"/>
            <a:ext cx="11057839" cy="365760"/>
          </a:xfrm>
          <a:prstGeom prst="rect">
            <a:avLst/>
          </a:prstGeom>
          <a:noFill/>
          <a:ln/>
        </p:spPr>
        <p:txBody>
          <a:bodyPr wrap="square" lIns="0" tIns="0" rIns="0" bIns="0" rtlCol="0" anchor="ctr"/>
          <a:lstStyle/>
          <a:p>
            <a:pPr marL="0" indent="0">
              <a:buNone/>
            </a:pPr>
            <a:r>
              <a:rPr lang="en-US" sz="1400" i="1" dirty="0">
                <a:solidFill>
                  <a:srgbClr val="9BB0C4"/>
                </a:solidFill>
                <a:latin typeface="Calibri" pitchFamily="34" charset="0"/>
                <a:ea typeface="Calibri" pitchFamily="34" charset="-122"/>
                <a:cs typeface="Calibri" pitchFamily="34" charset="-120"/>
              </a:rPr>
              <a:t>Two to four minutes each. No sensors needed if you would rather not wear them.</a:t>
            </a:r>
            <a:endParaRPr lang="en-US" sz="1400" dirty="0"/>
          </a:p>
        </p:txBody>
      </p:sp>
    </p:spTree>
  </p:cSld>
  <p:clrMapOvr>
    <a:masterClrMapping/>
  </p:clrMapOvr>
  <p:transition spd="slow" advClick="0" advTm="15000">
    <p:fade/>
  </p:transition>
  <p:timing>
    <p:tnLst>
      <p:par>
        <p:cTn id="1" dur="indefinite" restart="never" nodeType="tmRoot">
          <p:childTnLst>
            <p:seq concurrent="1" nextAc="seek">
              <p:cTn id="2" dur="indefinite" nodeType="mainSeq">
                <p:childTnLst>
                  <p:par>
                    <p:cTn id="3" fill="hold">
                      <p:stCondLst>
                        <p:cond delay="1200"/>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4150"/>
                      </p:stCondLst>
                      <p:childTnLst>
                        <p:par>
                          <p:cTn id="21" fill="hold">
                            <p:stCondLst>
                              <p:cond delay="0"/>
                            </p:stCondLst>
                            <p:childTnLst>
                              <p:par>
                                <p:cTn id="22" presetID="10" presetClass="entr" presetSubtype="0" fill="hold"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4150"/>
                      </p:stCondLst>
                      <p:childTnLst>
                        <p:par>
                          <p:cTn id="38" fill="hold">
                            <p:stCondLst>
                              <p:cond delay="0"/>
                            </p:stCondLst>
                            <p:childTnLst>
                              <p:par>
                                <p:cTn id="39" presetID="10" presetClass="entr" presetSubtype="0" fill="hold" nodeType="after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par>
                                <p:cTn id="54" presetID="10" presetClass="entr" presetSubtype="0" fill="hold" nodeType="withEffect">
                                  <p:stCondLst>
                                    <p:cond delay="150"/>
                                  </p:stCondLst>
                                  <p:childTnLst>
                                    <p:set>
                                      <p:cBhvr>
                                        <p:cTn id="55" dur="1" fill="hold">
                                          <p:stCondLst>
                                            <p:cond delay="0"/>
                                          </p:stCondLst>
                                        </p:cTn>
                                        <p:tgtEl>
                                          <p:spTgt spid="20"/>
                                        </p:tgtEl>
                                        <p:attrNameLst>
                                          <p:attrName>style.visibility</p:attrName>
                                        </p:attrNameLst>
                                      </p:cBhvr>
                                      <p:to>
                                        <p:strVal val="visible"/>
                                      </p:to>
                                    </p:set>
                                    <p:animEffect transition="in" filter="fade">
                                      <p:cBhvr>
                                        <p:cTn id="56"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628"/>
        </a:solidFill>
        <a:effectLst/>
      </p:bgPr>
    </p:bg>
    <p:spTree>
      <p:nvGrpSpPr>
        <p:cNvPr id="1" name=""/>
        <p:cNvGrpSpPr/>
        <p:nvPr/>
      </p:nvGrpSpPr>
      <p:grpSpPr>
        <a:xfrm>
          <a:off x="0" y="0"/>
          <a:ext cx="0" cy="0"/>
          <a:chOff x="0" y="0"/>
          <a:chExt cx="0" cy="0"/>
        </a:xfrm>
      </p:grpSpPr>
      <p:sp>
        <p:nvSpPr>
          <p:cNvPr id="3" name="Text 0"/>
          <p:cNvSpPr txBox="1"/>
          <p:nvPr/>
        </p:nvSpPr>
        <p:spPr>
          <a:xfrm>
            <a:off x="566928" y="384048"/>
            <a:ext cx="11057839" cy="274320"/>
          </a:xfrm>
          <a:prstGeom prst="rect">
            <a:avLst/>
          </a:prstGeom>
          <a:noFill/>
          <a:ln/>
        </p:spPr>
        <p:txBody>
          <a:bodyPr wrap="square" lIns="0" tIns="0" rIns="0" bIns="0" rtlCol="0" anchor="ctr"/>
          <a:lstStyle/>
          <a:p>
            <a:pPr marL="0" indent="0">
              <a:buNone/>
            </a:pPr>
            <a:r>
              <a:rPr lang="en-US" sz="1400" b="1" kern="0" spc="300" dirty="0">
                <a:solidFill>
                  <a:srgbClr val="4ED8E6"/>
                </a:solidFill>
                <a:latin typeface="Calibri" pitchFamily="34" charset="0"/>
                <a:ea typeface="Calibri" pitchFamily="34" charset="-122"/>
                <a:cs typeface="Calibri" pitchFamily="34" charset="-120"/>
              </a:rPr>
              <a:t>PART 1 · WHAT THE SENSORS SEE</a:t>
            </a:r>
            <a:endParaRPr lang="en-US" sz="1400" dirty="0"/>
          </a:p>
        </p:txBody>
      </p:sp>
      <p:sp>
        <p:nvSpPr>
          <p:cNvPr id="4" name="Text 1"/>
          <p:cNvSpPr txBox="1"/>
          <p:nvPr/>
        </p:nvSpPr>
        <p:spPr>
          <a:xfrm>
            <a:off x="566928" y="676656"/>
            <a:ext cx="11057839" cy="658368"/>
          </a:xfrm>
          <a:prstGeom prst="rect">
            <a:avLst/>
          </a:prstGeom>
          <a:noFill/>
          <a:ln/>
        </p:spPr>
        <p:txBody>
          <a:bodyPr wrap="square" lIns="0" tIns="0" rIns="0" bIns="0" rtlCol="0" anchor="ctr"/>
          <a:lstStyle/>
          <a:p>
            <a:pPr marL="0" indent="0">
              <a:buNone/>
            </a:pPr>
            <a:r>
              <a:rPr lang="en-US" sz="3600" b="1" dirty="0">
                <a:solidFill>
                  <a:srgbClr val="EAF2F8"/>
                </a:solidFill>
                <a:latin typeface="Calibri" pitchFamily="34" charset="0"/>
                <a:ea typeface="Calibri" pitchFamily="34" charset="-122"/>
                <a:cs typeface="Calibri" pitchFamily="34" charset="-120"/>
              </a:rPr>
              <a:t>Four streams, one reading</a:t>
            </a:r>
            <a:endParaRPr lang="en-US" sz="3600" dirty="0"/>
          </a:p>
        </p:txBody>
      </p:sp>
      <p:sp>
        <p:nvSpPr>
          <p:cNvPr id="5" name="a1_01b"/>
          <p:cNvSpPr/>
          <p:nvPr/>
        </p:nvSpPr>
        <p:spPr>
          <a:xfrm>
            <a:off x="566928" y="1755648"/>
            <a:ext cx="4114800" cy="402336"/>
          </a:xfrm>
          <a:prstGeom prst="roundRect">
            <a:avLst>
              <a:gd name="adj" fmla="val 50000"/>
            </a:avLst>
          </a:prstGeom>
          <a:solidFill>
            <a:srgbClr val="12314A"/>
          </a:solidFill>
          <a:ln w="12700">
            <a:solidFill>
              <a:srgbClr val="2F6577"/>
            </a:solidFill>
            <a:prstDash val="solid"/>
          </a:ln>
        </p:spPr>
        <p:txBody>
          <a:bodyPr/>
          <a:lstStyle/>
          <a:p>
            <a:endParaRPr lang="en-CA"/>
          </a:p>
        </p:txBody>
      </p:sp>
      <p:sp>
        <p:nvSpPr>
          <p:cNvPr id="6" name="a1_01t"/>
          <p:cNvSpPr txBox="1"/>
          <p:nvPr/>
        </p:nvSpPr>
        <p:spPr>
          <a:xfrm>
            <a:off x="566928" y="1755648"/>
            <a:ext cx="4114800" cy="402336"/>
          </a:xfrm>
          <a:prstGeom prst="rect">
            <a:avLst/>
          </a:prstGeom>
          <a:noFill/>
          <a:ln/>
        </p:spPr>
        <p:txBody>
          <a:bodyPr wrap="square" lIns="0" tIns="0" rIns="0" bIns="0" rtlCol="0" anchor="ctr"/>
          <a:lstStyle/>
          <a:p>
            <a:pPr marL="0" indent="0" algn="ctr">
              <a:buNone/>
            </a:pPr>
            <a:r>
              <a:rPr lang="en-US" sz="1400" dirty="0">
                <a:solidFill>
                  <a:srgbClr val="D6F3F8"/>
                </a:solidFill>
                <a:latin typeface="Calibri" pitchFamily="34" charset="0"/>
                <a:ea typeface="Calibri" pitchFamily="34" charset="-122"/>
                <a:cs typeface="Calibri" pitchFamily="34" charset="-120"/>
              </a:rPr>
              <a:t>Eyes and pupil · 60 a second</a:t>
            </a:r>
            <a:endParaRPr lang="en-US" sz="1400" dirty="0"/>
          </a:p>
        </p:txBody>
      </p:sp>
      <p:sp>
        <p:nvSpPr>
          <p:cNvPr id="7" name="a1_02b"/>
          <p:cNvSpPr/>
          <p:nvPr/>
        </p:nvSpPr>
        <p:spPr>
          <a:xfrm>
            <a:off x="566928" y="2432304"/>
            <a:ext cx="4114800" cy="402336"/>
          </a:xfrm>
          <a:prstGeom prst="roundRect">
            <a:avLst>
              <a:gd name="adj" fmla="val 50000"/>
            </a:avLst>
          </a:prstGeom>
          <a:solidFill>
            <a:srgbClr val="12314A"/>
          </a:solidFill>
          <a:ln w="12700">
            <a:solidFill>
              <a:srgbClr val="2F6577"/>
            </a:solidFill>
            <a:prstDash val="solid"/>
          </a:ln>
        </p:spPr>
        <p:txBody>
          <a:bodyPr/>
          <a:lstStyle/>
          <a:p>
            <a:endParaRPr lang="en-CA"/>
          </a:p>
        </p:txBody>
      </p:sp>
      <p:sp>
        <p:nvSpPr>
          <p:cNvPr id="8" name="a1_02t"/>
          <p:cNvSpPr txBox="1"/>
          <p:nvPr/>
        </p:nvSpPr>
        <p:spPr>
          <a:xfrm>
            <a:off x="566928" y="2432304"/>
            <a:ext cx="4114800" cy="402336"/>
          </a:xfrm>
          <a:prstGeom prst="rect">
            <a:avLst/>
          </a:prstGeom>
          <a:noFill/>
          <a:ln/>
        </p:spPr>
        <p:txBody>
          <a:bodyPr wrap="square" lIns="0" tIns="0" rIns="0" bIns="0" rtlCol="0" anchor="ctr"/>
          <a:lstStyle/>
          <a:p>
            <a:pPr marL="0" indent="0" algn="ctr">
              <a:buNone/>
            </a:pPr>
            <a:r>
              <a:rPr lang="en-US" sz="1400" dirty="0">
                <a:solidFill>
                  <a:srgbClr val="D6F3F8"/>
                </a:solidFill>
                <a:latin typeface="Calibri" pitchFamily="34" charset="0"/>
                <a:ea typeface="Calibri" pitchFamily="34" charset="-122"/>
                <a:cs typeface="Calibri" pitchFamily="34" charset="-120"/>
              </a:rPr>
              <a:t>Brain · 250 a second</a:t>
            </a:r>
            <a:endParaRPr lang="en-US" sz="1400" dirty="0"/>
          </a:p>
        </p:txBody>
      </p:sp>
      <p:sp>
        <p:nvSpPr>
          <p:cNvPr id="9" name="a1_03b"/>
          <p:cNvSpPr/>
          <p:nvPr/>
        </p:nvSpPr>
        <p:spPr>
          <a:xfrm>
            <a:off x="566928" y="3108960"/>
            <a:ext cx="4114800" cy="402336"/>
          </a:xfrm>
          <a:prstGeom prst="roundRect">
            <a:avLst>
              <a:gd name="adj" fmla="val 50000"/>
            </a:avLst>
          </a:prstGeom>
          <a:solidFill>
            <a:srgbClr val="12314A"/>
          </a:solidFill>
          <a:ln w="12700">
            <a:solidFill>
              <a:srgbClr val="2F6577"/>
            </a:solidFill>
            <a:prstDash val="solid"/>
          </a:ln>
        </p:spPr>
        <p:txBody>
          <a:bodyPr/>
          <a:lstStyle/>
          <a:p>
            <a:endParaRPr lang="en-CA"/>
          </a:p>
        </p:txBody>
      </p:sp>
      <p:sp>
        <p:nvSpPr>
          <p:cNvPr id="10" name="a1_03t"/>
          <p:cNvSpPr txBox="1"/>
          <p:nvPr/>
        </p:nvSpPr>
        <p:spPr>
          <a:xfrm>
            <a:off x="566928" y="3108960"/>
            <a:ext cx="4114800" cy="402336"/>
          </a:xfrm>
          <a:prstGeom prst="rect">
            <a:avLst/>
          </a:prstGeom>
          <a:noFill/>
          <a:ln/>
        </p:spPr>
        <p:txBody>
          <a:bodyPr wrap="square" lIns="0" tIns="0" rIns="0" bIns="0" rtlCol="0" anchor="ctr"/>
          <a:lstStyle/>
          <a:p>
            <a:pPr marL="0" indent="0" algn="ctr">
              <a:buNone/>
            </a:pPr>
            <a:r>
              <a:rPr lang="en-US" sz="1400" dirty="0">
                <a:solidFill>
                  <a:srgbClr val="D6F3F8"/>
                </a:solidFill>
                <a:latin typeface="Calibri" pitchFamily="34" charset="0"/>
                <a:ea typeface="Calibri" pitchFamily="34" charset="-122"/>
                <a:cs typeface="Calibri" pitchFamily="34" charset="-120"/>
              </a:rPr>
              <a:t>Heart · once a second</a:t>
            </a:r>
            <a:endParaRPr lang="en-US" sz="1400" dirty="0"/>
          </a:p>
        </p:txBody>
      </p:sp>
      <p:sp>
        <p:nvSpPr>
          <p:cNvPr id="11" name="a1_04b"/>
          <p:cNvSpPr/>
          <p:nvPr/>
        </p:nvSpPr>
        <p:spPr>
          <a:xfrm>
            <a:off x="566928" y="3785616"/>
            <a:ext cx="4114800" cy="402336"/>
          </a:xfrm>
          <a:prstGeom prst="roundRect">
            <a:avLst>
              <a:gd name="adj" fmla="val 50000"/>
            </a:avLst>
          </a:prstGeom>
          <a:solidFill>
            <a:srgbClr val="12314A"/>
          </a:solidFill>
          <a:ln w="12700">
            <a:solidFill>
              <a:srgbClr val="2F6577"/>
            </a:solidFill>
            <a:prstDash val="solid"/>
          </a:ln>
        </p:spPr>
        <p:txBody>
          <a:bodyPr/>
          <a:lstStyle/>
          <a:p>
            <a:endParaRPr lang="en-CA"/>
          </a:p>
        </p:txBody>
      </p:sp>
      <p:sp>
        <p:nvSpPr>
          <p:cNvPr id="12" name="a1_04t"/>
          <p:cNvSpPr txBox="1"/>
          <p:nvPr/>
        </p:nvSpPr>
        <p:spPr>
          <a:xfrm>
            <a:off x="566928" y="3785616"/>
            <a:ext cx="4114800" cy="402336"/>
          </a:xfrm>
          <a:prstGeom prst="rect">
            <a:avLst/>
          </a:prstGeom>
          <a:noFill/>
          <a:ln/>
        </p:spPr>
        <p:txBody>
          <a:bodyPr wrap="square" lIns="0" tIns="0" rIns="0" bIns="0" rtlCol="0" anchor="ctr"/>
          <a:lstStyle/>
          <a:p>
            <a:pPr marL="0" indent="0" algn="ctr">
              <a:buNone/>
            </a:pPr>
            <a:r>
              <a:rPr lang="en-US" sz="1400" dirty="0">
                <a:solidFill>
                  <a:srgbClr val="D6F3F8"/>
                </a:solidFill>
                <a:latin typeface="Calibri" pitchFamily="34" charset="0"/>
                <a:ea typeface="Calibri" pitchFamily="34" charset="-122"/>
                <a:cs typeface="Calibri" pitchFamily="34" charset="-120"/>
              </a:rPr>
              <a:t>Flight data · 120 a second</a:t>
            </a:r>
            <a:endParaRPr lang="en-US" sz="1400" dirty="0"/>
          </a:p>
        </p:txBody>
      </p:sp>
      <p:sp>
        <p:nvSpPr>
          <p:cNvPr id="13" name="a2_01b"/>
          <p:cNvSpPr/>
          <p:nvPr/>
        </p:nvSpPr>
        <p:spPr>
          <a:xfrm>
            <a:off x="566928" y="4736592"/>
            <a:ext cx="4114800" cy="402336"/>
          </a:xfrm>
          <a:prstGeom prst="roundRect">
            <a:avLst>
              <a:gd name="adj" fmla="val 50000"/>
            </a:avLst>
          </a:prstGeom>
          <a:solidFill>
            <a:srgbClr val="3A2018"/>
          </a:solidFill>
          <a:ln w="12700">
            <a:solidFill>
              <a:srgbClr val="8A4A32"/>
            </a:solidFill>
            <a:prstDash val="solid"/>
          </a:ln>
        </p:spPr>
        <p:txBody>
          <a:bodyPr/>
          <a:lstStyle/>
          <a:p>
            <a:endParaRPr lang="en-CA"/>
          </a:p>
        </p:txBody>
      </p:sp>
      <p:sp>
        <p:nvSpPr>
          <p:cNvPr id="14" name="a2_01t"/>
          <p:cNvSpPr txBox="1"/>
          <p:nvPr/>
        </p:nvSpPr>
        <p:spPr>
          <a:xfrm>
            <a:off x="566928" y="4736592"/>
            <a:ext cx="4114800" cy="402336"/>
          </a:xfrm>
          <a:prstGeom prst="rect">
            <a:avLst/>
          </a:prstGeom>
          <a:noFill/>
          <a:ln/>
        </p:spPr>
        <p:txBody>
          <a:bodyPr wrap="square" lIns="0" tIns="0" rIns="0" bIns="0" rtlCol="0" anchor="ctr"/>
          <a:lstStyle/>
          <a:p>
            <a:pPr marL="0" indent="0" algn="ctr">
              <a:buNone/>
            </a:pPr>
            <a:r>
              <a:rPr lang="en-US" sz="1400" dirty="0">
                <a:solidFill>
                  <a:srgbClr val="FFD2BC"/>
                </a:solidFill>
                <a:latin typeface="Calibri" pitchFamily="34" charset="0"/>
                <a:ea typeface="Calibri" pitchFamily="34" charset="-122"/>
                <a:cs typeface="Calibri" pitchFamily="34" charset="-120"/>
              </a:rPr>
              <a:t>Event to decision: under 700 ms</a:t>
            </a:r>
            <a:endParaRPr lang="en-US" sz="1400" dirty="0"/>
          </a:p>
        </p:txBody>
      </p:sp>
      <p:sp>
        <p:nvSpPr>
          <p:cNvPr id="15" name="a2_02b"/>
          <p:cNvSpPr/>
          <p:nvPr/>
        </p:nvSpPr>
        <p:spPr>
          <a:xfrm>
            <a:off x="5093208" y="1664208"/>
            <a:ext cx="6629400" cy="3502838"/>
          </a:xfrm>
          <a:prstGeom prst="roundRect">
            <a:avLst>
              <a:gd name="adj" fmla="val 1305"/>
            </a:avLst>
          </a:prstGeom>
          <a:solidFill>
            <a:srgbClr val="FFFFFF"/>
          </a:solidFill>
          <a:ln w="12700">
            <a:solidFill>
              <a:srgbClr val="FFFFFF"/>
            </a:solidFill>
            <a:prstDash val="solid"/>
          </a:ln>
          <a:effectLst>
            <a:outerShdw blurRad="228600" dist="50800" dir="5400000" algn="bl" rotWithShape="0">
              <a:srgbClr val="000000">
                <a:alpha val="45000"/>
              </a:srgbClr>
            </a:outerShdw>
          </a:effectLst>
        </p:spPr>
        <p:txBody>
          <a:bodyPr/>
          <a:lstStyle/>
          <a:p>
            <a:endParaRPr lang="en-CA"/>
          </a:p>
        </p:txBody>
      </p:sp>
      <p:pic>
        <p:nvPicPr>
          <p:cNvPr id="16" name="a2_02i" descr="/home/claude/repo/cognisim/figures/fig6_biometric.png"/>
          <p:cNvPicPr>
            <a:picLocks noChangeAspect="1"/>
          </p:cNvPicPr>
          <p:nvPr/>
        </p:nvPicPr>
        <p:blipFill>
          <a:blip r:embed="rId3"/>
          <a:stretch>
            <a:fillRect/>
          </a:stretch>
        </p:blipFill>
        <p:spPr>
          <a:xfrm>
            <a:off x="5184648" y="1755648"/>
            <a:ext cx="6446520" cy="3319958"/>
          </a:xfrm>
          <a:prstGeom prst="rect">
            <a:avLst/>
          </a:prstGeom>
        </p:spPr>
      </p:pic>
      <p:sp>
        <p:nvSpPr>
          <p:cNvPr id="17" name="a2_03"/>
          <p:cNvSpPr txBox="1"/>
          <p:nvPr/>
        </p:nvSpPr>
        <p:spPr>
          <a:xfrm>
            <a:off x="566928" y="6199632"/>
            <a:ext cx="11057839" cy="365760"/>
          </a:xfrm>
          <a:prstGeom prst="rect">
            <a:avLst/>
          </a:prstGeom>
          <a:noFill/>
          <a:ln/>
        </p:spPr>
        <p:txBody>
          <a:bodyPr wrap="square" lIns="0" tIns="0" rIns="0" bIns="0" rtlCol="0" anchor="ctr"/>
          <a:lstStyle/>
          <a:p>
            <a:pPr marL="0" indent="0">
              <a:buNone/>
            </a:pPr>
            <a:r>
              <a:rPr lang="en-US" sz="1400" i="1" dirty="0">
                <a:solidFill>
                  <a:srgbClr val="9BB0C4"/>
                </a:solidFill>
                <a:latin typeface="Calibri" pitchFamily="34" charset="0"/>
                <a:ea typeface="Calibri" pitchFamily="34" charset="-122"/>
                <a:cs typeface="Calibri" pitchFamily="34" charset="-120"/>
              </a:rPr>
              <a:t>Individual differences are large, so every trainee is measured against their own quiet baseline first.</a:t>
            </a:r>
            <a:endParaRPr lang="en-US" sz="1400" dirty="0"/>
          </a:p>
        </p:txBody>
      </p:sp>
    </p:spTree>
  </p:cSld>
  <p:clrMapOvr>
    <a:masterClrMapping/>
  </p:clrMapOvr>
  <p:transition spd="slow" advClick="0" advTm="25000">
    <p:fade/>
  </p:transition>
  <p:timing>
    <p:tnLst>
      <p:par>
        <p:cTn id="1" dur="indefinite" restart="never" nodeType="tmRoot">
          <p:childTnLst>
            <p:seq concurrent="1" nextAc="seek">
              <p:cTn id="2" dur="indefinite" nodeType="mainSeq">
                <p:childTnLst>
                  <p:par>
                    <p:cTn id="3" fill="hold">
                      <p:stCondLst>
                        <p:cond delay="1200"/>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nodeType="withEffect">
                                  <p:stCondLst>
                                    <p:cond delay="15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nodeType="withEffect">
                                  <p:stCondLst>
                                    <p:cond delay="15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nodeType="withEffect">
                                  <p:stCondLst>
                                    <p:cond delay="30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par>
                                <p:cTn id="20" presetID="10" presetClass="entr" presetSubtype="0" fill="hold" nodeType="withEffect">
                                  <p:stCondLst>
                                    <p:cond delay="30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400"/>
                                        <p:tgtEl>
                                          <p:spTgt spid="10"/>
                                        </p:tgtEl>
                                      </p:cBhvr>
                                    </p:animEffect>
                                  </p:childTnLst>
                                </p:cTn>
                              </p:par>
                              <p:par>
                                <p:cTn id="23" presetID="10" presetClass="entr" presetSubtype="0" fill="hold" nodeType="withEffect">
                                  <p:stCondLst>
                                    <p:cond delay="45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400"/>
                                        <p:tgtEl>
                                          <p:spTgt spid="11"/>
                                        </p:tgtEl>
                                      </p:cBhvr>
                                    </p:animEffect>
                                  </p:childTnLst>
                                </p:cTn>
                              </p:par>
                              <p:par>
                                <p:cTn id="26" presetID="10" presetClass="entr" presetSubtype="0" fill="hold" nodeType="withEffect">
                                  <p:stCondLst>
                                    <p:cond delay="45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400"/>
                                        <p:tgtEl>
                                          <p:spTgt spid="12"/>
                                        </p:tgtEl>
                                      </p:cBhvr>
                                    </p:animEffect>
                                  </p:childTnLst>
                                </p:cTn>
                              </p:par>
                            </p:childTnLst>
                          </p:cTn>
                        </p:par>
                      </p:childTnLst>
                    </p:cTn>
                  </p:par>
                  <p:par>
                    <p:cTn id="29" fill="hold">
                      <p:stCondLst>
                        <p:cond delay="11650"/>
                      </p:stCondLst>
                      <p:childTnLst>
                        <p:par>
                          <p:cTn id="30" fill="hold">
                            <p:stCondLst>
                              <p:cond delay="0"/>
                            </p:stCondLst>
                            <p:childTnLst>
                              <p:par>
                                <p:cTn id="31" presetID="10" presetClass="entr" presetSubtype="0" fill="hold" nodeType="after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par>
                                <p:cTn id="37" presetID="10" presetClass="entr" presetSubtype="0" fill="hold" nodeType="withEffect">
                                  <p:stCondLst>
                                    <p:cond delay="15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400"/>
                                        <p:tgtEl>
                                          <p:spTgt spid="15"/>
                                        </p:tgtEl>
                                      </p:cBhvr>
                                    </p:animEffect>
                                  </p:childTnLst>
                                </p:cTn>
                              </p:par>
                              <p:par>
                                <p:cTn id="40" presetID="10" presetClass="entr" presetSubtype="0" fill="hold" nodeType="withEffect">
                                  <p:stCondLst>
                                    <p:cond delay="15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400"/>
                                        <p:tgtEl>
                                          <p:spTgt spid="16"/>
                                        </p:tgtEl>
                                      </p:cBhvr>
                                    </p:animEffect>
                                  </p:childTnLst>
                                </p:cTn>
                              </p:par>
                              <p:par>
                                <p:cTn id="43" presetID="10" presetClass="entr" presetSubtype="0" fill="hold" nodeType="withEffect">
                                  <p:stCondLst>
                                    <p:cond delay="30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628"/>
        </a:solidFill>
        <a:effectLst/>
      </p:bgPr>
    </p:bg>
    <p:spTree>
      <p:nvGrpSpPr>
        <p:cNvPr id="1" name=""/>
        <p:cNvGrpSpPr/>
        <p:nvPr/>
      </p:nvGrpSpPr>
      <p:grpSpPr>
        <a:xfrm>
          <a:off x="0" y="0"/>
          <a:ext cx="0" cy="0"/>
          <a:chOff x="0" y="0"/>
          <a:chExt cx="0" cy="0"/>
        </a:xfrm>
      </p:grpSpPr>
      <p:sp>
        <p:nvSpPr>
          <p:cNvPr id="3" name="Text 0"/>
          <p:cNvSpPr txBox="1"/>
          <p:nvPr/>
        </p:nvSpPr>
        <p:spPr>
          <a:xfrm>
            <a:off x="566928" y="384048"/>
            <a:ext cx="11057839" cy="274320"/>
          </a:xfrm>
          <a:prstGeom prst="rect">
            <a:avLst/>
          </a:prstGeom>
          <a:noFill/>
          <a:ln/>
        </p:spPr>
        <p:txBody>
          <a:bodyPr wrap="square" lIns="0" tIns="0" rIns="0" bIns="0" rtlCol="0" anchor="ctr"/>
          <a:lstStyle/>
          <a:p>
            <a:pPr marL="0" indent="0">
              <a:buNone/>
            </a:pPr>
            <a:r>
              <a:rPr lang="en-US" sz="1400" b="1" kern="0" spc="300" dirty="0">
                <a:solidFill>
                  <a:srgbClr val="4ED8E6"/>
                </a:solidFill>
                <a:latin typeface="Calibri" pitchFamily="34" charset="0"/>
                <a:ea typeface="Calibri" pitchFamily="34" charset="-122"/>
                <a:cs typeface="Calibri" pitchFamily="34" charset="-120"/>
              </a:rPr>
              <a:t>PART 2 · HOW IT DECIDES</a:t>
            </a:r>
            <a:endParaRPr lang="en-US" sz="1400" dirty="0"/>
          </a:p>
        </p:txBody>
      </p:sp>
      <p:sp>
        <p:nvSpPr>
          <p:cNvPr id="4" name="Text 1"/>
          <p:cNvSpPr txBox="1"/>
          <p:nvPr/>
        </p:nvSpPr>
        <p:spPr>
          <a:xfrm>
            <a:off x="566928" y="676656"/>
            <a:ext cx="11057839" cy="658368"/>
          </a:xfrm>
          <a:prstGeom prst="rect">
            <a:avLst/>
          </a:prstGeom>
          <a:noFill/>
          <a:ln/>
        </p:spPr>
        <p:txBody>
          <a:bodyPr wrap="square" lIns="0" tIns="0" rIns="0" bIns="0" rtlCol="0" anchor="ctr"/>
          <a:lstStyle/>
          <a:p>
            <a:pPr marL="0" indent="0">
              <a:buNone/>
            </a:pPr>
            <a:r>
              <a:rPr lang="en-US" sz="3600" b="1" dirty="0">
                <a:solidFill>
                  <a:srgbClr val="EAF2F8"/>
                </a:solidFill>
                <a:latin typeface="Calibri" pitchFamily="34" charset="0"/>
                <a:ea typeface="Calibri" pitchFamily="34" charset="-122"/>
                <a:cs typeface="Calibri" pitchFamily="34" charset="-120"/>
              </a:rPr>
              <a:t>When a sense is full, take something away</a:t>
            </a:r>
            <a:endParaRPr lang="en-US" sz="3600" dirty="0"/>
          </a:p>
        </p:txBody>
      </p:sp>
      <p:sp>
        <p:nvSpPr>
          <p:cNvPr id="5" name="a1_01b"/>
          <p:cNvSpPr/>
          <p:nvPr/>
        </p:nvSpPr>
        <p:spPr>
          <a:xfrm>
            <a:off x="1014992" y="1463040"/>
            <a:ext cx="10161710" cy="4069080"/>
          </a:xfrm>
          <a:prstGeom prst="roundRect">
            <a:avLst>
              <a:gd name="adj" fmla="val 1124"/>
            </a:avLst>
          </a:prstGeom>
          <a:solidFill>
            <a:srgbClr val="FFFFFF"/>
          </a:solidFill>
          <a:ln w="12700">
            <a:solidFill>
              <a:srgbClr val="FFFFFF"/>
            </a:solidFill>
            <a:prstDash val="solid"/>
          </a:ln>
          <a:effectLst>
            <a:outerShdw blurRad="228600" dist="50800" dir="5400000" algn="bl" rotWithShape="0">
              <a:srgbClr val="000000">
                <a:alpha val="45000"/>
              </a:srgbClr>
            </a:outerShdw>
          </a:effectLst>
        </p:spPr>
        <p:txBody>
          <a:bodyPr/>
          <a:lstStyle/>
          <a:p>
            <a:endParaRPr lang="en-CA"/>
          </a:p>
        </p:txBody>
      </p:sp>
      <p:pic>
        <p:nvPicPr>
          <p:cNvPr id="6" name="a1_01i" descr="/home/claude/repo/cognisim/figures/fig5_cogload.png"/>
          <p:cNvPicPr>
            <a:picLocks noChangeAspect="1"/>
          </p:cNvPicPr>
          <p:nvPr/>
        </p:nvPicPr>
        <p:blipFill>
          <a:blip r:embed="rId3"/>
          <a:stretch>
            <a:fillRect/>
          </a:stretch>
        </p:blipFill>
        <p:spPr>
          <a:xfrm>
            <a:off x="1106432" y="1554480"/>
            <a:ext cx="9978830" cy="3886200"/>
          </a:xfrm>
          <a:prstGeom prst="rect">
            <a:avLst/>
          </a:prstGeom>
        </p:spPr>
      </p:pic>
      <p:sp>
        <p:nvSpPr>
          <p:cNvPr id="7" name="a2_01"/>
          <p:cNvSpPr txBox="1"/>
          <p:nvPr/>
        </p:nvSpPr>
        <p:spPr>
          <a:xfrm>
            <a:off x="566928" y="6199632"/>
            <a:ext cx="11057839" cy="365760"/>
          </a:xfrm>
          <a:prstGeom prst="rect">
            <a:avLst/>
          </a:prstGeom>
          <a:noFill/>
          <a:ln/>
        </p:spPr>
        <p:txBody>
          <a:bodyPr wrap="square" lIns="0" tIns="0" rIns="0" bIns="0" rtlCol="0" anchor="ctr"/>
          <a:lstStyle/>
          <a:p>
            <a:pPr marL="0" indent="0">
              <a:buNone/>
            </a:pPr>
            <a:r>
              <a:rPr lang="en-US" sz="1400" i="1" dirty="0">
                <a:solidFill>
                  <a:srgbClr val="9BB0C4"/>
                </a:solidFill>
                <a:latin typeface="Calibri" pitchFamily="34" charset="0"/>
                <a:ea typeface="Calibri" pitchFamily="34" charset="-122"/>
                <a:cs typeface="Calibri" pitchFamily="34" charset="-120"/>
              </a:rPr>
              <a:t>Three levers: difficulty, content, pace. Plus a fourth move, taking the clutter away.</a:t>
            </a:r>
            <a:endParaRPr lang="en-US" sz="1400" dirty="0"/>
          </a:p>
        </p:txBody>
      </p:sp>
    </p:spTree>
  </p:cSld>
  <p:clrMapOvr>
    <a:masterClrMapping/>
  </p:clrMapOvr>
  <p:transition spd="slow" advClick="0" advTm="25000">
    <p:fade/>
  </p:transition>
  <p:timing>
    <p:tnLst>
      <p:par>
        <p:cTn id="1" dur="indefinite" restart="never" nodeType="tmRoot">
          <p:childTnLst>
            <p:seq concurrent="1" nextAc="seek">
              <p:cTn id="2" dur="indefinite" nodeType="mainSeq">
                <p:childTnLst>
                  <p:par>
                    <p:cTn id="3" fill="hold">
                      <p:stCondLst>
                        <p:cond delay="1200"/>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childTnLst>
                          </p:cTn>
                        </p:par>
                      </p:childTnLst>
                    </p:cTn>
                  </p:par>
                  <p:par>
                    <p:cTn id="11" fill="hold">
                      <p:stCondLst>
                        <p:cond delay="11650"/>
                      </p:stCondLst>
                      <p:childTnLst>
                        <p:par>
                          <p:cTn id="12" fill="hold">
                            <p:stCondLst>
                              <p:cond delay="0"/>
                            </p:stCondLst>
                            <p:childTnLst>
                              <p:par>
                                <p:cTn id="13" presetID="10" presetClass="entr" presetSubtype="0" fill="hold"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628"/>
        </a:solidFill>
        <a:effectLst/>
      </p:bgPr>
    </p:bg>
    <p:spTree>
      <p:nvGrpSpPr>
        <p:cNvPr id="1" name=""/>
        <p:cNvGrpSpPr/>
        <p:nvPr/>
      </p:nvGrpSpPr>
      <p:grpSpPr>
        <a:xfrm>
          <a:off x="0" y="0"/>
          <a:ext cx="0" cy="0"/>
          <a:chOff x="0" y="0"/>
          <a:chExt cx="0" cy="0"/>
        </a:xfrm>
      </p:grpSpPr>
      <p:sp>
        <p:nvSpPr>
          <p:cNvPr id="3" name="Text 0"/>
          <p:cNvSpPr txBox="1"/>
          <p:nvPr/>
        </p:nvSpPr>
        <p:spPr>
          <a:xfrm>
            <a:off x="566928" y="384048"/>
            <a:ext cx="11057839" cy="274320"/>
          </a:xfrm>
          <a:prstGeom prst="rect">
            <a:avLst/>
          </a:prstGeom>
          <a:noFill/>
          <a:ln/>
        </p:spPr>
        <p:txBody>
          <a:bodyPr wrap="square" lIns="0" tIns="0" rIns="0" bIns="0" rtlCol="0" anchor="ctr"/>
          <a:lstStyle/>
          <a:p>
            <a:pPr marL="0" indent="0">
              <a:buNone/>
            </a:pPr>
            <a:r>
              <a:rPr lang="en-US" sz="1400" b="1" kern="0" spc="300" dirty="0">
                <a:solidFill>
                  <a:srgbClr val="4ED8E6"/>
                </a:solidFill>
                <a:latin typeface="Calibri" pitchFamily="34" charset="0"/>
                <a:ea typeface="Calibri" pitchFamily="34" charset="-122"/>
                <a:cs typeface="Calibri" pitchFamily="34" charset="-120"/>
              </a:rPr>
              <a:t>PART 3 · HOW IT SPEAKS</a:t>
            </a:r>
            <a:endParaRPr lang="en-US" sz="1400" dirty="0"/>
          </a:p>
        </p:txBody>
      </p:sp>
      <p:sp>
        <p:nvSpPr>
          <p:cNvPr id="4" name="Text 1"/>
          <p:cNvSpPr txBox="1"/>
          <p:nvPr/>
        </p:nvSpPr>
        <p:spPr>
          <a:xfrm>
            <a:off x="566928" y="676656"/>
            <a:ext cx="11057839" cy="658368"/>
          </a:xfrm>
          <a:prstGeom prst="rect">
            <a:avLst/>
          </a:prstGeom>
          <a:noFill/>
          <a:ln/>
        </p:spPr>
        <p:txBody>
          <a:bodyPr wrap="square" lIns="0" tIns="0" rIns="0" bIns="0" rtlCol="0" anchor="ctr"/>
          <a:lstStyle/>
          <a:p>
            <a:pPr marL="0" indent="0">
              <a:buNone/>
            </a:pPr>
            <a:r>
              <a:rPr lang="en-US" sz="3600" b="1" dirty="0">
                <a:solidFill>
                  <a:srgbClr val="EAF2F8"/>
                </a:solidFill>
                <a:latin typeface="Calibri" pitchFamily="34" charset="0"/>
                <a:ea typeface="Calibri" pitchFamily="34" charset="-122"/>
                <a:cs typeface="Calibri" pitchFamily="34" charset="-120"/>
              </a:rPr>
              <a:t>Help that never stops the flight</a:t>
            </a:r>
            <a:endParaRPr lang="en-US" sz="3600" dirty="0"/>
          </a:p>
        </p:txBody>
      </p:sp>
      <p:sp>
        <p:nvSpPr>
          <p:cNvPr id="5" name="a1_01b"/>
          <p:cNvSpPr/>
          <p:nvPr/>
        </p:nvSpPr>
        <p:spPr>
          <a:xfrm>
            <a:off x="566928" y="1600200"/>
            <a:ext cx="5669280" cy="1783080"/>
          </a:xfrm>
          <a:prstGeom prst="roundRect">
            <a:avLst>
              <a:gd name="adj" fmla="val 4103"/>
            </a:avLst>
          </a:prstGeom>
          <a:solidFill>
            <a:srgbClr val="12314A"/>
          </a:solidFill>
          <a:ln w="12700">
            <a:solidFill>
              <a:srgbClr val="2F6577"/>
            </a:solidFill>
            <a:prstDash val="solid"/>
          </a:ln>
        </p:spPr>
        <p:txBody>
          <a:bodyPr/>
          <a:lstStyle/>
          <a:p>
            <a:endParaRPr lang="en-CA"/>
          </a:p>
        </p:txBody>
      </p:sp>
      <p:sp>
        <p:nvSpPr>
          <p:cNvPr id="6" name="a1_01"/>
          <p:cNvSpPr txBox="1"/>
          <p:nvPr/>
        </p:nvSpPr>
        <p:spPr>
          <a:xfrm>
            <a:off x="886968" y="1783080"/>
            <a:ext cx="5029200" cy="1097280"/>
          </a:xfrm>
          <a:prstGeom prst="rect">
            <a:avLst/>
          </a:prstGeom>
          <a:noFill/>
          <a:ln/>
        </p:spPr>
        <p:txBody>
          <a:bodyPr wrap="square" lIns="0" tIns="0" rIns="0" bIns="0" rtlCol="0" anchor="ctr"/>
          <a:lstStyle/>
          <a:p>
            <a:pPr marL="0" indent="0">
              <a:lnSpc>
                <a:spcPct val="120000"/>
              </a:lnSpc>
              <a:buNone/>
            </a:pPr>
            <a:r>
              <a:rPr lang="en-US" sz="2100" i="1" dirty="0">
                <a:solidFill>
                  <a:srgbClr val="EAF2F8"/>
                </a:solidFill>
                <a:latin typeface="Calibri" pitchFamily="34" charset="0"/>
                <a:ea typeface="Calibri" pitchFamily="34" charset="-122"/>
                <a:cs typeface="Calibri" pitchFamily="34" charset="-120"/>
              </a:rPr>
              <a:t>“I have the radios; you fly the aircraft.</a:t>
            </a:r>
            <a:endParaRPr lang="en-US" sz="2100" dirty="0"/>
          </a:p>
          <a:p>
            <a:pPr marL="0" indent="0">
              <a:lnSpc>
                <a:spcPct val="120000"/>
              </a:lnSpc>
              <a:buNone/>
            </a:pPr>
            <a:r>
              <a:rPr lang="en-US" sz="2100" i="1" dirty="0">
                <a:solidFill>
                  <a:srgbClr val="EAF2F8"/>
                </a:solidFill>
                <a:latin typeface="Calibri" pitchFamily="34" charset="0"/>
                <a:ea typeface="Calibri" pitchFamily="34" charset="-122"/>
                <a:cs typeface="Calibri" pitchFamily="34" charset="-120"/>
              </a:rPr>
              <a:t>Positive rate, gear up.”</a:t>
            </a:r>
            <a:endParaRPr lang="en-US" sz="2100" dirty="0"/>
          </a:p>
        </p:txBody>
      </p:sp>
      <p:sp>
        <p:nvSpPr>
          <p:cNvPr id="7" name="a1_02"/>
          <p:cNvSpPr txBox="1"/>
          <p:nvPr/>
        </p:nvSpPr>
        <p:spPr>
          <a:xfrm>
            <a:off x="886968" y="2907792"/>
            <a:ext cx="5029200" cy="292608"/>
          </a:xfrm>
          <a:prstGeom prst="rect">
            <a:avLst/>
          </a:prstGeom>
          <a:noFill/>
          <a:ln/>
        </p:spPr>
        <p:txBody>
          <a:bodyPr wrap="square" lIns="0" tIns="0" rIns="0" bIns="0" rtlCol="0" anchor="ctr"/>
          <a:lstStyle/>
          <a:p>
            <a:pPr marL="0" indent="0">
              <a:buNone/>
            </a:pPr>
            <a:r>
              <a:rPr lang="en-US" sz="1400" dirty="0">
                <a:solidFill>
                  <a:srgbClr val="9BB0C4"/>
                </a:solidFill>
                <a:latin typeface="Calibri" pitchFamily="34" charset="0"/>
                <a:ea typeface="Calibri" pitchFamily="34" charset="-122"/>
                <a:cs typeface="Calibri" pitchFamily="34" charset="-120"/>
              </a:rPr>
              <a:t>the virtual first officer, staying in character</a:t>
            </a:r>
            <a:endParaRPr lang="en-US" sz="1400" dirty="0"/>
          </a:p>
        </p:txBody>
      </p:sp>
      <p:sp>
        <p:nvSpPr>
          <p:cNvPr id="8" name="a2_01b"/>
          <p:cNvSpPr/>
          <p:nvPr/>
        </p:nvSpPr>
        <p:spPr>
          <a:xfrm>
            <a:off x="566928" y="3611880"/>
            <a:ext cx="5669280" cy="1737360"/>
          </a:xfrm>
          <a:prstGeom prst="roundRect">
            <a:avLst>
              <a:gd name="adj" fmla="val 4211"/>
            </a:avLst>
          </a:prstGeom>
          <a:solidFill>
            <a:srgbClr val="152A45"/>
          </a:solidFill>
          <a:ln w="12700">
            <a:solidFill>
              <a:srgbClr val="27425F"/>
            </a:solidFill>
            <a:prstDash val="solid"/>
          </a:ln>
        </p:spPr>
        <p:txBody>
          <a:bodyPr/>
          <a:lstStyle/>
          <a:p>
            <a:endParaRPr lang="en-CA"/>
          </a:p>
        </p:txBody>
      </p:sp>
      <p:sp>
        <p:nvSpPr>
          <p:cNvPr id="9" name="a2_01e"/>
          <p:cNvSpPr txBox="1"/>
          <p:nvPr/>
        </p:nvSpPr>
        <p:spPr>
          <a:xfrm>
            <a:off x="841248" y="3794760"/>
            <a:ext cx="5120640" cy="457200"/>
          </a:xfrm>
          <a:prstGeom prst="rect">
            <a:avLst/>
          </a:prstGeom>
          <a:noFill/>
          <a:ln/>
        </p:spPr>
        <p:txBody>
          <a:bodyPr wrap="square" lIns="0" tIns="0" rIns="0" bIns="0" rtlCol="0" anchor="ctr"/>
          <a:lstStyle/>
          <a:p>
            <a:pPr marL="0" indent="0">
              <a:buNone/>
            </a:pPr>
            <a:r>
              <a:rPr lang="en-US" sz="1900" b="1" dirty="0">
                <a:solidFill>
                  <a:srgbClr val="4ED8E6"/>
                </a:solidFill>
                <a:latin typeface="Calibri" pitchFamily="34" charset="0"/>
                <a:ea typeface="Calibri" pitchFamily="34" charset="-122"/>
                <a:cs typeface="Calibri" pitchFamily="34" charset="-120"/>
              </a:rPr>
              <a:t>Nothing is paused</a:t>
            </a:r>
            <a:endParaRPr lang="en-US" sz="1900" dirty="0"/>
          </a:p>
        </p:txBody>
      </p:sp>
      <p:sp>
        <p:nvSpPr>
          <p:cNvPr id="10" name="a2_01f"/>
          <p:cNvSpPr txBox="1"/>
          <p:nvPr/>
        </p:nvSpPr>
        <p:spPr>
          <a:xfrm>
            <a:off x="841248" y="4398264"/>
            <a:ext cx="5120640" cy="822960"/>
          </a:xfrm>
          <a:prstGeom prst="rect">
            <a:avLst/>
          </a:prstGeom>
          <a:noFill/>
          <a:ln/>
        </p:spPr>
        <p:txBody>
          <a:bodyPr wrap="square" lIns="0" tIns="0" rIns="0" bIns="0" rtlCol="0" anchor="ctr"/>
          <a:lstStyle/>
          <a:p>
            <a:pPr marL="0" indent="0">
              <a:lnSpc>
                <a:spcPct val="115000"/>
              </a:lnSpc>
              <a:buNone/>
            </a:pPr>
            <a:r>
              <a:rPr lang="en-US" sz="1500" dirty="0">
                <a:solidFill>
                  <a:srgbClr val="EAF2F8"/>
                </a:solidFill>
                <a:latin typeface="Calibri" pitchFamily="34" charset="0"/>
                <a:ea typeface="Calibri" pitchFamily="34" charset="-122"/>
                <a:cs typeface="Calibri" pitchFamily="34" charset="-120"/>
              </a:rPr>
              <a:t>The coaching is part of the flight, so crew coordination is trained rather than interrupted.</a:t>
            </a:r>
            <a:endParaRPr lang="en-US" sz="1500" dirty="0"/>
          </a:p>
        </p:txBody>
      </p:sp>
      <p:sp>
        <p:nvSpPr>
          <p:cNvPr id="11" name="a2_02b"/>
          <p:cNvSpPr/>
          <p:nvPr/>
        </p:nvSpPr>
        <p:spPr>
          <a:xfrm>
            <a:off x="6510528" y="2304288"/>
            <a:ext cx="5166360" cy="2411603"/>
          </a:xfrm>
          <a:prstGeom prst="roundRect">
            <a:avLst>
              <a:gd name="adj" fmla="val 1896"/>
            </a:avLst>
          </a:prstGeom>
          <a:solidFill>
            <a:srgbClr val="FFFFFF"/>
          </a:solidFill>
          <a:ln w="12700">
            <a:solidFill>
              <a:srgbClr val="FFFFFF"/>
            </a:solidFill>
            <a:prstDash val="solid"/>
          </a:ln>
          <a:effectLst>
            <a:outerShdw blurRad="228600" dist="50800" dir="5400000" algn="bl" rotWithShape="0">
              <a:srgbClr val="000000">
                <a:alpha val="45000"/>
              </a:srgbClr>
            </a:outerShdw>
          </a:effectLst>
        </p:spPr>
        <p:txBody>
          <a:bodyPr/>
          <a:lstStyle/>
          <a:p>
            <a:endParaRPr lang="en-CA"/>
          </a:p>
        </p:txBody>
      </p:sp>
      <p:pic>
        <p:nvPicPr>
          <p:cNvPr id="12" name="a2_02i" descr="/home/claude/repo/cognisim/figures/fig3_simulation.png"/>
          <p:cNvPicPr>
            <a:picLocks noChangeAspect="1"/>
          </p:cNvPicPr>
          <p:nvPr/>
        </p:nvPicPr>
        <p:blipFill>
          <a:blip r:embed="rId3"/>
          <a:stretch>
            <a:fillRect/>
          </a:stretch>
        </p:blipFill>
        <p:spPr>
          <a:xfrm>
            <a:off x="6601968" y="2395728"/>
            <a:ext cx="4983480" cy="2228723"/>
          </a:xfrm>
          <a:prstGeom prst="rect">
            <a:avLst/>
          </a:prstGeom>
        </p:spPr>
      </p:pic>
    </p:spTree>
  </p:cSld>
  <p:clrMapOvr>
    <a:masterClrMapping/>
  </p:clrMapOvr>
  <p:transition spd="slow" advClick="0" advTm="20000">
    <p:fade/>
  </p:transition>
  <p:timing>
    <p:tnLst>
      <p:par>
        <p:cTn id="1" dur="indefinite" restart="never" nodeType="tmRoot">
          <p:childTnLst>
            <p:seq concurrent="1" nextAc="seek">
              <p:cTn id="2" dur="indefinite" nodeType="mainSeq">
                <p:childTnLst>
                  <p:par>
                    <p:cTn id="3" fill="hold">
                      <p:stCondLst>
                        <p:cond delay="1200"/>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nodeType="withEffect">
                                  <p:stCondLst>
                                    <p:cond delay="15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childTnLst>
                          </p:cTn>
                        </p:par>
                      </p:childTnLst>
                    </p:cTn>
                  </p:par>
                  <p:par>
                    <p:cTn id="14" fill="hold">
                      <p:stCondLst>
                        <p:cond delay="9150"/>
                      </p:stCondLst>
                      <p:childTnLst>
                        <p:par>
                          <p:cTn id="15" fill="hold">
                            <p:stCondLst>
                              <p:cond delay="0"/>
                            </p:stCondLst>
                            <p:childTnLst>
                              <p:par>
                                <p:cTn id="16" presetID="10" presetClass="entr" presetSubtype="0" fill="hold" nodeType="after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400"/>
                                        <p:tgtEl>
                                          <p:spTgt spid="8"/>
                                        </p:tgtEl>
                                      </p:cBhvr>
                                    </p:animEffect>
                                  </p:childTnLst>
                                </p:cTn>
                              </p:par>
                              <p:par>
                                <p:cTn id="19" presetID="10"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nodeType="withEffect">
                                  <p:stCondLst>
                                    <p:cond delay="15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nodeType="withEffect">
                                  <p:stCondLst>
                                    <p:cond delay="15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628"/>
        </a:solidFill>
        <a:effectLst/>
      </p:bgPr>
    </p:bg>
    <p:spTree>
      <p:nvGrpSpPr>
        <p:cNvPr id="1" name=""/>
        <p:cNvGrpSpPr/>
        <p:nvPr/>
      </p:nvGrpSpPr>
      <p:grpSpPr>
        <a:xfrm>
          <a:off x="0" y="0"/>
          <a:ext cx="0" cy="0"/>
          <a:chOff x="0" y="0"/>
          <a:chExt cx="0" cy="0"/>
        </a:xfrm>
      </p:grpSpPr>
      <p:sp>
        <p:nvSpPr>
          <p:cNvPr id="3" name="Text 0"/>
          <p:cNvSpPr txBox="1"/>
          <p:nvPr/>
        </p:nvSpPr>
        <p:spPr>
          <a:xfrm>
            <a:off x="566928" y="384048"/>
            <a:ext cx="11057839" cy="274320"/>
          </a:xfrm>
          <a:prstGeom prst="rect">
            <a:avLst/>
          </a:prstGeom>
          <a:noFill/>
          <a:ln/>
        </p:spPr>
        <p:txBody>
          <a:bodyPr wrap="square" lIns="0" tIns="0" rIns="0" bIns="0" rtlCol="0" anchor="ctr"/>
          <a:lstStyle/>
          <a:p>
            <a:pPr marL="0" indent="0">
              <a:buNone/>
            </a:pPr>
            <a:r>
              <a:rPr lang="en-US" sz="1400" b="1" kern="0" spc="300" dirty="0">
                <a:solidFill>
                  <a:srgbClr val="4ED8E6"/>
                </a:solidFill>
                <a:latin typeface="Calibri" pitchFamily="34" charset="0"/>
                <a:ea typeface="Calibri" pitchFamily="34" charset="-122"/>
                <a:cs typeface="Calibri" pitchFamily="34" charset="-120"/>
              </a:rPr>
              <a:t>PART 4 · WHAT IT RECORDS</a:t>
            </a:r>
            <a:endParaRPr lang="en-US" sz="1400" dirty="0"/>
          </a:p>
        </p:txBody>
      </p:sp>
      <p:sp>
        <p:nvSpPr>
          <p:cNvPr id="4" name="Text 1"/>
          <p:cNvSpPr txBox="1"/>
          <p:nvPr/>
        </p:nvSpPr>
        <p:spPr>
          <a:xfrm>
            <a:off x="566928" y="676656"/>
            <a:ext cx="11057839" cy="658368"/>
          </a:xfrm>
          <a:prstGeom prst="rect">
            <a:avLst/>
          </a:prstGeom>
          <a:noFill/>
          <a:ln/>
        </p:spPr>
        <p:txBody>
          <a:bodyPr wrap="square" lIns="0" tIns="0" rIns="0" bIns="0" rtlCol="0" anchor="ctr"/>
          <a:lstStyle/>
          <a:p>
            <a:pPr marL="0" indent="0">
              <a:buNone/>
            </a:pPr>
            <a:r>
              <a:rPr lang="en-US" sz="3600" b="1" dirty="0">
                <a:solidFill>
                  <a:srgbClr val="EAF2F8"/>
                </a:solidFill>
                <a:latin typeface="Calibri" pitchFamily="34" charset="0"/>
                <a:ea typeface="Calibri" pitchFamily="34" charset="-122"/>
                <a:cs typeface="Calibri" pitchFamily="34" charset="-120"/>
              </a:rPr>
              <a:t>Six measurements, one competency record</a:t>
            </a:r>
            <a:endParaRPr lang="en-US" sz="3600" dirty="0"/>
          </a:p>
        </p:txBody>
      </p:sp>
      <p:sp>
        <p:nvSpPr>
          <p:cNvPr id="5" name="a1_01b"/>
          <p:cNvSpPr/>
          <p:nvPr/>
        </p:nvSpPr>
        <p:spPr>
          <a:xfrm>
            <a:off x="566928" y="1645920"/>
            <a:ext cx="3566160" cy="1691640"/>
          </a:xfrm>
          <a:prstGeom prst="roundRect">
            <a:avLst>
              <a:gd name="adj" fmla="val 4324"/>
            </a:avLst>
          </a:prstGeom>
          <a:solidFill>
            <a:srgbClr val="152A45"/>
          </a:solidFill>
          <a:ln w="12700">
            <a:solidFill>
              <a:srgbClr val="27425F"/>
            </a:solidFill>
            <a:prstDash val="solid"/>
          </a:ln>
        </p:spPr>
        <p:txBody>
          <a:bodyPr/>
          <a:lstStyle/>
          <a:p>
            <a:endParaRPr lang="en-CA"/>
          </a:p>
        </p:txBody>
      </p:sp>
      <p:sp>
        <p:nvSpPr>
          <p:cNvPr id="6" name="a1_01e"/>
          <p:cNvSpPr txBox="1"/>
          <p:nvPr/>
        </p:nvSpPr>
        <p:spPr>
          <a:xfrm>
            <a:off x="841248" y="1828800"/>
            <a:ext cx="3017520" cy="457200"/>
          </a:xfrm>
          <a:prstGeom prst="rect">
            <a:avLst/>
          </a:prstGeom>
          <a:noFill/>
          <a:ln/>
        </p:spPr>
        <p:txBody>
          <a:bodyPr wrap="square" lIns="0" tIns="0" rIns="0" bIns="0" rtlCol="0" anchor="ctr"/>
          <a:lstStyle/>
          <a:p>
            <a:pPr marL="0" indent="0">
              <a:buNone/>
            </a:pPr>
            <a:r>
              <a:rPr lang="en-US" sz="1900" b="1" dirty="0">
                <a:solidFill>
                  <a:srgbClr val="4ED8E6"/>
                </a:solidFill>
                <a:latin typeface="Calibri" pitchFamily="34" charset="0"/>
                <a:ea typeface="Calibri" pitchFamily="34" charset="-122"/>
                <a:cs typeface="Calibri" pitchFamily="34" charset="-120"/>
              </a:rPr>
              <a:t>Time to act</a:t>
            </a:r>
            <a:endParaRPr lang="en-US" sz="1900" dirty="0"/>
          </a:p>
        </p:txBody>
      </p:sp>
      <p:sp>
        <p:nvSpPr>
          <p:cNvPr id="7" name="a1_01f"/>
          <p:cNvSpPr txBox="1"/>
          <p:nvPr/>
        </p:nvSpPr>
        <p:spPr>
          <a:xfrm>
            <a:off x="841248" y="2432304"/>
            <a:ext cx="3017520" cy="777240"/>
          </a:xfrm>
          <a:prstGeom prst="rect">
            <a:avLst/>
          </a:prstGeom>
          <a:noFill/>
          <a:ln/>
        </p:spPr>
        <p:txBody>
          <a:bodyPr wrap="square" lIns="0" tIns="0" rIns="0" bIns="0" rtlCol="0" anchor="ctr"/>
          <a:lstStyle/>
          <a:p>
            <a:pPr marL="0" indent="0">
              <a:lnSpc>
                <a:spcPct val="115000"/>
              </a:lnSpc>
              <a:buNone/>
            </a:pPr>
            <a:r>
              <a:rPr lang="en-US" sz="1500" dirty="0">
                <a:solidFill>
                  <a:srgbClr val="EAF2F8"/>
                </a:solidFill>
                <a:latin typeface="Calibri" pitchFamily="34" charset="0"/>
                <a:ea typeface="Calibri" pitchFamily="34" charset="-122"/>
                <a:cs typeface="Calibri" pitchFamily="34" charset="-120"/>
              </a:rPr>
              <a:t>Between seeing something and doing something.</a:t>
            </a:r>
            <a:endParaRPr lang="en-US" sz="1500" dirty="0"/>
          </a:p>
        </p:txBody>
      </p:sp>
      <p:sp>
        <p:nvSpPr>
          <p:cNvPr id="8" name="a1_02b"/>
          <p:cNvSpPr/>
          <p:nvPr/>
        </p:nvSpPr>
        <p:spPr>
          <a:xfrm>
            <a:off x="4334256" y="1645920"/>
            <a:ext cx="3566160" cy="1691640"/>
          </a:xfrm>
          <a:prstGeom prst="roundRect">
            <a:avLst>
              <a:gd name="adj" fmla="val 4324"/>
            </a:avLst>
          </a:prstGeom>
          <a:solidFill>
            <a:srgbClr val="152A45"/>
          </a:solidFill>
          <a:ln w="12700">
            <a:solidFill>
              <a:srgbClr val="27425F"/>
            </a:solidFill>
            <a:prstDash val="solid"/>
          </a:ln>
        </p:spPr>
        <p:txBody>
          <a:bodyPr/>
          <a:lstStyle/>
          <a:p>
            <a:endParaRPr lang="en-CA"/>
          </a:p>
        </p:txBody>
      </p:sp>
      <p:sp>
        <p:nvSpPr>
          <p:cNvPr id="9" name="a1_02e"/>
          <p:cNvSpPr txBox="1"/>
          <p:nvPr/>
        </p:nvSpPr>
        <p:spPr>
          <a:xfrm>
            <a:off x="4608576" y="1828800"/>
            <a:ext cx="3017520" cy="457200"/>
          </a:xfrm>
          <a:prstGeom prst="rect">
            <a:avLst/>
          </a:prstGeom>
          <a:noFill/>
          <a:ln/>
        </p:spPr>
        <p:txBody>
          <a:bodyPr wrap="square" lIns="0" tIns="0" rIns="0" bIns="0" rtlCol="0" anchor="ctr"/>
          <a:lstStyle/>
          <a:p>
            <a:pPr marL="0" indent="0">
              <a:buNone/>
            </a:pPr>
            <a:r>
              <a:rPr lang="en-US" sz="1900" b="1" dirty="0">
                <a:solidFill>
                  <a:srgbClr val="4ED8E6"/>
                </a:solidFill>
                <a:latin typeface="Calibri" pitchFamily="34" charset="0"/>
                <a:ea typeface="Calibri" pitchFamily="34" charset="-122"/>
                <a:cs typeface="Calibri" pitchFamily="34" charset="-120"/>
              </a:rPr>
              <a:t>Recovery</a:t>
            </a:r>
            <a:endParaRPr lang="en-US" sz="1900" dirty="0"/>
          </a:p>
        </p:txBody>
      </p:sp>
      <p:sp>
        <p:nvSpPr>
          <p:cNvPr id="10" name="a1_02f"/>
          <p:cNvSpPr txBox="1"/>
          <p:nvPr/>
        </p:nvSpPr>
        <p:spPr>
          <a:xfrm>
            <a:off x="4608576" y="2432304"/>
            <a:ext cx="3017520" cy="777240"/>
          </a:xfrm>
          <a:prstGeom prst="rect">
            <a:avLst/>
          </a:prstGeom>
          <a:noFill/>
          <a:ln/>
        </p:spPr>
        <p:txBody>
          <a:bodyPr wrap="square" lIns="0" tIns="0" rIns="0" bIns="0" rtlCol="0" anchor="ctr"/>
          <a:lstStyle/>
          <a:p>
            <a:pPr marL="0" indent="0">
              <a:lnSpc>
                <a:spcPct val="115000"/>
              </a:lnSpc>
              <a:buNone/>
            </a:pPr>
            <a:r>
              <a:rPr lang="en-US" sz="1500" dirty="0">
                <a:solidFill>
                  <a:srgbClr val="EAF2F8"/>
                </a:solidFill>
                <a:latin typeface="Calibri" pitchFamily="34" charset="0"/>
                <a:ea typeface="Calibri" pitchFamily="34" charset="-122"/>
                <a:cs typeface="Calibri" pitchFamily="34" charset="-120"/>
              </a:rPr>
              <a:t>How fast the pilot came back once help arrived.</a:t>
            </a:r>
            <a:endParaRPr lang="en-US" sz="1500" dirty="0"/>
          </a:p>
        </p:txBody>
      </p:sp>
      <p:sp>
        <p:nvSpPr>
          <p:cNvPr id="11" name="a1_03b"/>
          <p:cNvSpPr/>
          <p:nvPr/>
        </p:nvSpPr>
        <p:spPr>
          <a:xfrm>
            <a:off x="8101584" y="1645920"/>
            <a:ext cx="3566160" cy="1691640"/>
          </a:xfrm>
          <a:prstGeom prst="roundRect">
            <a:avLst>
              <a:gd name="adj" fmla="val 4324"/>
            </a:avLst>
          </a:prstGeom>
          <a:solidFill>
            <a:srgbClr val="152A45"/>
          </a:solidFill>
          <a:ln w="12700">
            <a:solidFill>
              <a:srgbClr val="27425F"/>
            </a:solidFill>
            <a:prstDash val="solid"/>
          </a:ln>
        </p:spPr>
        <p:txBody>
          <a:bodyPr/>
          <a:lstStyle/>
          <a:p>
            <a:endParaRPr lang="en-CA"/>
          </a:p>
        </p:txBody>
      </p:sp>
      <p:sp>
        <p:nvSpPr>
          <p:cNvPr id="12" name="a1_03e"/>
          <p:cNvSpPr txBox="1"/>
          <p:nvPr/>
        </p:nvSpPr>
        <p:spPr>
          <a:xfrm>
            <a:off x="8375904" y="1828800"/>
            <a:ext cx="3017520" cy="457200"/>
          </a:xfrm>
          <a:prstGeom prst="rect">
            <a:avLst/>
          </a:prstGeom>
          <a:noFill/>
          <a:ln/>
        </p:spPr>
        <p:txBody>
          <a:bodyPr wrap="square" lIns="0" tIns="0" rIns="0" bIns="0" rtlCol="0" anchor="ctr"/>
          <a:lstStyle/>
          <a:p>
            <a:pPr marL="0" indent="0">
              <a:buNone/>
            </a:pPr>
            <a:r>
              <a:rPr lang="en-US" sz="1900" b="1" dirty="0">
                <a:solidFill>
                  <a:srgbClr val="4ED8E6"/>
                </a:solidFill>
                <a:latin typeface="Calibri" pitchFamily="34" charset="0"/>
                <a:ea typeface="Calibri" pitchFamily="34" charset="-122"/>
                <a:cs typeface="Calibri" pitchFamily="34" charset="-120"/>
              </a:rPr>
              <a:t>Steadiness</a:t>
            </a:r>
            <a:endParaRPr lang="en-US" sz="1900" dirty="0"/>
          </a:p>
        </p:txBody>
      </p:sp>
      <p:sp>
        <p:nvSpPr>
          <p:cNvPr id="13" name="a1_03f"/>
          <p:cNvSpPr txBox="1"/>
          <p:nvPr/>
        </p:nvSpPr>
        <p:spPr>
          <a:xfrm>
            <a:off x="8375904" y="2432304"/>
            <a:ext cx="3017520" cy="777240"/>
          </a:xfrm>
          <a:prstGeom prst="rect">
            <a:avLst/>
          </a:prstGeom>
          <a:noFill/>
          <a:ln/>
        </p:spPr>
        <p:txBody>
          <a:bodyPr wrap="square" lIns="0" tIns="0" rIns="0" bIns="0" rtlCol="0" anchor="ctr"/>
          <a:lstStyle/>
          <a:p>
            <a:pPr marL="0" indent="0">
              <a:lnSpc>
                <a:spcPct val="115000"/>
              </a:lnSpc>
              <a:buNone/>
            </a:pPr>
            <a:r>
              <a:rPr lang="en-US" sz="1500" dirty="0">
                <a:solidFill>
                  <a:srgbClr val="EAF2F8"/>
                </a:solidFill>
                <a:latin typeface="Calibri" pitchFamily="34" charset="0"/>
                <a:ea typeface="Calibri" pitchFamily="34" charset="-122"/>
                <a:cs typeface="Calibri" pitchFamily="34" charset="-120"/>
              </a:rPr>
              <a:t>Heart, skin and pupil, read together.</a:t>
            </a:r>
            <a:endParaRPr lang="en-US" sz="1500" dirty="0"/>
          </a:p>
        </p:txBody>
      </p:sp>
      <p:sp>
        <p:nvSpPr>
          <p:cNvPr id="14" name="a2_01b"/>
          <p:cNvSpPr/>
          <p:nvPr/>
        </p:nvSpPr>
        <p:spPr>
          <a:xfrm>
            <a:off x="566928" y="3520440"/>
            <a:ext cx="3566160" cy="1691640"/>
          </a:xfrm>
          <a:prstGeom prst="roundRect">
            <a:avLst>
              <a:gd name="adj" fmla="val 4324"/>
            </a:avLst>
          </a:prstGeom>
          <a:solidFill>
            <a:srgbClr val="152A45"/>
          </a:solidFill>
          <a:ln w="12700">
            <a:solidFill>
              <a:srgbClr val="27425F"/>
            </a:solidFill>
            <a:prstDash val="solid"/>
          </a:ln>
        </p:spPr>
        <p:txBody>
          <a:bodyPr/>
          <a:lstStyle/>
          <a:p>
            <a:endParaRPr lang="en-CA"/>
          </a:p>
        </p:txBody>
      </p:sp>
      <p:sp>
        <p:nvSpPr>
          <p:cNvPr id="15" name="a2_01e"/>
          <p:cNvSpPr txBox="1"/>
          <p:nvPr/>
        </p:nvSpPr>
        <p:spPr>
          <a:xfrm>
            <a:off x="841248" y="3703320"/>
            <a:ext cx="3017520" cy="457200"/>
          </a:xfrm>
          <a:prstGeom prst="rect">
            <a:avLst/>
          </a:prstGeom>
          <a:noFill/>
          <a:ln/>
        </p:spPr>
        <p:txBody>
          <a:bodyPr wrap="square" lIns="0" tIns="0" rIns="0" bIns="0" rtlCol="0" anchor="ctr"/>
          <a:lstStyle/>
          <a:p>
            <a:pPr marL="0" indent="0">
              <a:buNone/>
            </a:pPr>
            <a:r>
              <a:rPr lang="en-US" sz="1900" b="1" dirty="0">
                <a:solidFill>
                  <a:srgbClr val="7FB3FF"/>
                </a:solidFill>
                <a:latin typeface="Calibri" pitchFamily="34" charset="0"/>
                <a:ea typeface="Calibri" pitchFamily="34" charset="-122"/>
                <a:cs typeface="Calibri" pitchFamily="34" charset="-120"/>
              </a:rPr>
              <a:t>Scan quality</a:t>
            </a:r>
            <a:endParaRPr lang="en-US" sz="1900" dirty="0"/>
          </a:p>
        </p:txBody>
      </p:sp>
      <p:sp>
        <p:nvSpPr>
          <p:cNvPr id="16" name="a2_01f"/>
          <p:cNvSpPr txBox="1"/>
          <p:nvPr/>
        </p:nvSpPr>
        <p:spPr>
          <a:xfrm>
            <a:off x="841248" y="4306824"/>
            <a:ext cx="3017520" cy="777240"/>
          </a:xfrm>
          <a:prstGeom prst="rect">
            <a:avLst/>
          </a:prstGeom>
          <a:noFill/>
          <a:ln/>
        </p:spPr>
        <p:txBody>
          <a:bodyPr wrap="square" lIns="0" tIns="0" rIns="0" bIns="0" rtlCol="0" anchor="ctr"/>
          <a:lstStyle/>
          <a:p>
            <a:pPr marL="0" indent="0">
              <a:lnSpc>
                <a:spcPct val="115000"/>
              </a:lnSpc>
              <a:buNone/>
            </a:pPr>
            <a:r>
              <a:rPr lang="en-US" sz="1500" dirty="0">
                <a:solidFill>
                  <a:srgbClr val="EAF2F8"/>
                </a:solidFill>
                <a:latin typeface="Calibri" pitchFamily="34" charset="0"/>
                <a:ea typeface="Calibri" pitchFamily="34" charset="-122"/>
                <a:cs typeface="Calibri" pitchFamily="34" charset="-120"/>
              </a:rPr>
              <a:t>How closely the eye pattern matched the ideal.</a:t>
            </a:r>
            <a:endParaRPr lang="en-US" sz="1500" dirty="0"/>
          </a:p>
        </p:txBody>
      </p:sp>
      <p:sp>
        <p:nvSpPr>
          <p:cNvPr id="17" name="a2_02b"/>
          <p:cNvSpPr/>
          <p:nvPr/>
        </p:nvSpPr>
        <p:spPr>
          <a:xfrm>
            <a:off x="4334256" y="3520440"/>
            <a:ext cx="3566160" cy="1691640"/>
          </a:xfrm>
          <a:prstGeom prst="roundRect">
            <a:avLst>
              <a:gd name="adj" fmla="val 4324"/>
            </a:avLst>
          </a:prstGeom>
          <a:solidFill>
            <a:srgbClr val="152A45"/>
          </a:solidFill>
          <a:ln w="12700">
            <a:solidFill>
              <a:srgbClr val="27425F"/>
            </a:solidFill>
            <a:prstDash val="solid"/>
          </a:ln>
        </p:spPr>
        <p:txBody>
          <a:bodyPr/>
          <a:lstStyle/>
          <a:p>
            <a:endParaRPr lang="en-CA"/>
          </a:p>
        </p:txBody>
      </p:sp>
      <p:sp>
        <p:nvSpPr>
          <p:cNvPr id="18" name="a2_02e"/>
          <p:cNvSpPr txBox="1"/>
          <p:nvPr/>
        </p:nvSpPr>
        <p:spPr>
          <a:xfrm>
            <a:off x="4608576" y="3703320"/>
            <a:ext cx="3017520" cy="457200"/>
          </a:xfrm>
          <a:prstGeom prst="rect">
            <a:avLst/>
          </a:prstGeom>
          <a:noFill/>
          <a:ln/>
        </p:spPr>
        <p:txBody>
          <a:bodyPr wrap="square" lIns="0" tIns="0" rIns="0" bIns="0" rtlCol="0" anchor="ctr"/>
          <a:lstStyle/>
          <a:p>
            <a:pPr marL="0" indent="0">
              <a:buNone/>
            </a:pPr>
            <a:r>
              <a:rPr lang="en-US" sz="1900" b="1" dirty="0">
                <a:solidFill>
                  <a:srgbClr val="7FB3FF"/>
                </a:solidFill>
                <a:latin typeface="Calibri" pitchFamily="34" charset="0"/>
                <a:ea typeface="Calibri" pitchFamily="34" charset="-122"/>
                <a:cs typeface="Calibri" pitchFamily="34" charset="-120"/>
              </a:rPr>
              <a:t>Voice strain</a:t>
            </a:r>
            <a:endParaRPr lang="en-US" sz="1900" dirty="0"/>
          </a:p>
        </p:txBody>
      </p:sp>
      <p:sp>
        <p:nvSpPr>
          <p:cNvPr id="19" name="a2_02f"/>
          <p:cNvSpPr txBox="1"/>
          <p:nvPr/>
        </p:nvSpPr>
        <p:spPr>
          <a:xfrm>
            <a:off x="4608576" y="4306824"/>
            <a:ext cx="3017520" cy="777240"/>
          </a:xfrm>
          <a:prstGeom prst="rect">
            <a:avLst/>
          </a:prstGeom>
          <a:noFill/>
          <a:ln/>
        </p:spPr>
        <p:txBody>
          <a:bodyPr wrap="square" lIns="0" tIns="0" rIns="0" bIns="0" rtlCol="0" anchor="ctr"/>
          <a:lstStyle/>
          <a:p>
            <a:pPr marL="0" indent="0">
              <a:lnSpc>
                <a:spcPct val="115000"/>
              </a:lnSpc>
              <a:buNone/>
            </a:pPr>
            <a:r>
              <a:rPr lang="en-US" sz="1500" dirty="0">
                <a:solidFill>
                  <a:srgbClr val="EAF2F8"/>
                </a:solidFill>
                <a:latin typeface="Calibri" pitchFamily="34" charset="0"/>
                <a:ea typeface="Calibri" pitchFamily="34" charset="-122"/>
                <a:cs typeface="Calibri" pitchFamily="34" charset="-120"/>
              </a:rPr>
              <a:t>How much stress showed in the callouts.</a:t>
            </a:r>
            <a:endParaRPr lang="en-US" sz="1500" dirty="0"/>
          </a:p>
        </p:txBody>
      </p:sp>
      <p:sp>
        <p:nvSpPr>
          <p:cNvPr id="20" name="a2_03b"/>
          <p:cNvSpPr/>
          <p:nvPr/>
        </p:nvSpPr>
        <p:spPr>
          <a:xfrm>
            <a:off x="8101584" y="3520440"/>
            <a:ext cx="3566160" cy="1691640"/>
          </a:xfrm>
          <a:prstGeom prst="roundRect">
            <a:avLst>
              <a:gd name="adj" fmla="val 4324"/>
            </a:avLst>
          </a:prstGeom>
          <a:solidFill>
            <a:srgbClr val="152A45"/>
          </a:solidFill>
          <a:ln w="12700">
            <a:solidFill>
              <a:srgbClr val="27425F"/>
            </a:solidFill>
            <a:prstDash val="solid"/>
          </a:ln>
        </p:spPr>
        <p:txBody>
          <a:bodyPr/>
          <a:lstStyle/>
          <a:p>
            <a:endParaRPr lang="en-CA"/>
          </a:p>
        </p:txBody>
      </p:sp>
      <p:sp>
        <p:nvSpPr>
          <p:cNvPr id="21" name="a2_03e"/>
          <p:cNvSpPr txBox="1"/>
          <p:nvPr/>
        </p:nvSpPr>
        <p:spPr>
          <a:xfrm>
            <a:off x="8375904" y="3703320"/>
            <a:ext cx="3017520" cy="457200"/>
          </a:xfrm>
          <a:prstGeom prst="rect">
            <a:avLst/>
          </a:prstGeom>
          <a:noFill/>
          <a:ln/>
        </p:spPr>
        <p:txBody>
          <a:bodyPr wrap="square" lIns="0" tIns="0" rIns="0" bIns="0" rtlCol="0" anchor="ctr"/>
          <a:lstStyle/>
          <a:p>
            <a:pPr marL="0" indent="0">
              <a:buNone/>
            </a:pPr>
            <a:r>
              <a:rPr lang="en-US" sz="1900" b="1" dirty="0">
                <a:solidFill>
                  <a:srgbClr val="7FB3FF"/>
                </a:solidFill>
                <a:latin typeface="Calibri" pitchFamily="34" charset="0"/>
                <a:ea typeface="Calibri" pitchFamily="34" charset="-122"/>
                <a:cs typeface="Calibri" pitchFamily="34" charset="-120"/>
              </a:rPr>
              <a:t>Procedure</a:t>
            </a:r>
            <a:endParaRPr lang="en-US" sz="1900" dirty="0"/>
          </a:p>
        </p:txBody>
      </p:sp>
      <p:sp>
        <p:nvSpPr>
          <p:cNvPr id="22" name="a2_03f"/>
          <p:cNvSpPr txBox="1"/>
          <p:nvPr/>
        </p:nvSpPr>
        <p:spPr>
          <a:xfrm>
            <a:off x="8375904" y="4306824"/>
            <a:ext cx="3017520" cy="777240"/>
          </a:xfrm>
          <a:prstGeom prst="rect">
            <a:avLst/>
          </a:prstGeom>
          <a:noFill/>
          <a:ln/>
        </p:spPr>
        <p:txBody>
          <a:bodyPr wrap="square" lIns="0" tIns="0" rIns="0" bIns="0" rtlCol="0" anchor="ctr"/>
          <a:lstStyle/>
          <a:p>
            <a:pPr marL="0" indent="0">
              <a:lnSpc>
                <a:spcPct val="115000"/>
              </a:lnSpc>
              <a:buNone/>
            </a:pPr>
            <a:r>
              <a:rPr lang="en-US" sz="1500" dirty="0">
                <a:solidFill>
                  <a:srgbClr val="EAF2F8"/>
                </a:solidFill>
                <a:latin typeface="Calibri" pitchFamily="34" charset="0"/>
                <a:ea typeface="Calibri" pitchFamily="34" charset="-122"/>
                <a:cs typeface="Calibri" pitchFamily="34" charset="-120"/>
              </a:rPr>
              <a:t>Scored by software, so grading is consistent.</a:t>
            </a:r>
            <a:endParaRPr lang="en-US" sz="1500" dirty="0"/>
          </a:p>
        </p:txBody>
      </p:sp>
      <p:sp>
        <p:nvSpPr>
          <p:cNvPr id="23" name="a2_04"/>
          <p:cNvSpPr txBox="1"/>
          <p:nvPr/>
        </p:nvSpPr>
        <p:spPr>
          <a:xfrm>
            <a:off x="566928" y="6199632"/>
            <a:ext cx="11057839" cy="365760"/>
          </a:xfrm>
          <a:prstGeom prst="rect">
            <a:avLst/>
          </a:prstGeom>
          <a:noFill/>
          <a:ln/>
        </p:spPr>
        <p:txBody>
          <a:bodyPr wrap="square" lIns="0" tIns="0" rIns="0" bIns="0" rtlCol="0" anchor="ctr"/>
          <a:lstStyle/>
          <a:p>
            <a:pPr marL="0" indent="0">
              <a:buNone/>
            </a:pPr>
            <a:r>
              <a:rPr lang="en-US" sz="1400" i="1" dirty="0">
                <a:solidFill>
                  <a:srgbClr val="9BB0C4"/>
                </a:solidFill>
                <a:latin typeface="Calibri" pitchFamily="34" charset="0"/>
                <a:ea typeface="Calibri" pitchFamily="34" charset="-122"/>
                <a:cs typeface="Calibri" pitchFamily="34" charset="-120"/>
              </a:rPr>
              <a:t>Every change the system made is stored next to the reading that caused it.</a:t>
            </a:r>
            <a:endParaRPr lang="en-US" sz="1400" dirty="0"/>
          </a:p>
        </p:txBody>
      </p:sp>
    </p:spTree>
  </p:cSld>
  <p:clrMapOvr>
    <a:masterClrMapping/>
  </p:clrMapOvr>
  <p:transition spd="slow" advClick="0" advTm="15000">
    <p:fade/>
  </p:transition>
  <p:timing>
    <p:tnLst>
      <p:par>
        <p:cTn id="1" dur="indefinite" restart="never" nodeType="tmRoot">
          <p:childTnLst>
            <p:seq concurrent="1" nextAc="seek">
              <p:cTn id="2" dur="indefinite" nodeType="mainSeq">
                <p:childTnLst>
                  <p:par>
                    <p:cTn id="3" fill="hold">
                      <p:stCondLst>
                        <p:cond delay="1200"/>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nodeType="withEffect">
                                  <p:stCondLst>
                                    <p:cond delay="15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nodeType="withEffect">
                                  <p:stCondLst>
                                    <p:cond delay="15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par>
                                <p:cTn id="20" presetID="10" presetClass="entr" presetSubtype="0" fill="hold" nodeType="withEffect">
                                  <p:stCondLst>
                                    <p:cond delay="15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400"/>
                                        <p:tgtEl>
                                          <p:spTgt spid="10"/>
                                        </p:tgtEl>
                                      </p:cBhvr>
                                    </p:animEffect>
                                  </p:childTnLst>
                                </p:cTn>
                              </p:par>
                              <p:par>
                                <p:cTn id="23" presetID="10" presetClass="entr" presetSubtype="0" fill="hold" nodeType="withEffect">
                                  <p:stCondLst>
                                    <p:cond delay="30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400"/>
                                        <p:tgtEl>
                                          <p:spTgt spid="11"/>
                                        </p:tgtEl>
                                      </p:cBhvr>
                                    </p:animEffect>
                                  </p:childTnLst>
                                </p:cTn>
                              </p:par>
                              <p:par>
                                <p:cTn id="26" presetID="10" presetClass="entr" presetSubtype="0" fill="hold" nodeType="withEffect">
                                  <p:stCondLst>
                                    <p:cond delay="30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400"/>
                                        <p:tgtEl>
                                          <p:spTgt spid="12"/>
                                        </p:tgtEl>
                                      </p:cBhvr>
                                    </p:animEffect>
                                  </p:childTnLst>
                                </p:cTn>
                              </p:par>
                              <p:par>
                                <p:cTn id="29" presetID="10" presetClass="entr" presetSubtype="0" fill="hold" nodeType="withEffect">
                                  <p:stCondLst>
                                    <p:cond delay="30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400"/>
                                        <p:tgtEl>
                                          <p:spTgt spid="13"/>
                                        </p:tgtEl>
                                      </p:cBhvr>
                                    </p:animEffect>
                                  </p:childTnLst>
                                </p:cTn>
                              </p:par>
                            </p:childTnLst>
                          </p:cTn>
                        </p:par>
                      </p:childTnLst>
                    </p:cTn>
                  </p:par>
                  <p:par>
                    <p:cTn id="32" fill="hold">
                      <p:stCondLst>
                        <p:cond delay="6650"/>
                      </p:stCondLst>
                      <p:childTnLst>
                        <p:par>
                          <p:cTn id="33" fill="hold">
                            <p:stCondLst>
                              <p:cond delay="0"/>
                            </p:stCondLst>
                            <p:childTnLst>
                              <p:par>
                                <p:cTn id="34" presetID="10" presetClass="entr" presetSubtype="0" fill="hold" nodeType="after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par>
                                <p:cTn id="37" presetID="10" presetClass="entr" presetSubtype="0" fill="hold" nodeType="with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400"/>
                                        <p:tgtEl>
                                          <p:spTgt spid="15"/>
                                        </p:tgtEl>
                                      </p:cBhvr>
                                    </p:animEffect>
                                  </p:childTnLst>
                                </p:cTn>
                              </p:par>
                              <p:par>
                                <p:cTn id="40" presetID="10" presetClass="entr" presetSubtype="0" fill="hold" nodeType="with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400"/>
                                        <p:tgtEl>
                                          <p:spTgt spid="16"/>
                                        </p:tgtEl>
                                      </p:cBhvr>
                                    </p:animEffect>
                                  </p:childTnLst>
                                </p:cTn>
                              </p:par>
                              <p:par>
                                <p:cTn id="43" presetID="10" presetClass="entr" presetSubtype="0" fill="hold" nodeType="withEffect">
                                  <p:stCondLst>
                                    <p:cond delay="15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400"/>
                                        <p:tgtEl>
                                          <p:spTgt spid="17"/>
                                        </p:tgtEl>
                                      </p:cBhvr>
                                    </p:animEffect>
                                  </p:childTnLst>
                                </p:cTn>
                              </p:par>
                              <p:par>
                                <p:cTn id="46" presetID="10" presetClass="entr" presetSubtype="0" fill="hold" nodeType="withEffect">
                                  <p:stCondLst>
                                    <p:cond delay="150"/>
                                  </p:stCondLst>
                                  <p:childTnLst>
                                    <p:set>
                                      <p:cBhvr>
                                        <p:cTn id="47" dur="1" fill="hold">
                                          <p:stCondLst>
                                            <p:cond delay="0"/>
                                          </p:stCondLst>
                                        </p:cTn>
                                        <p:tgtEl>
                                          <p:spTgt spid="18"/>
                                        </p:tgtEl>
                                        <p:attrNameLst>
                                          <p:attrName>style.visibility</p:attrName>
                                        </p:attrNameLst>
                                      </p:cBhvr>
                                      <p:to>
                                        <p:strVal val="visible"/>
                                      </p:to>
                                    </p:set>
                                    <p:animEffect transition="in" filter="fade">
                                      <p:cBhvr>
                                        <p:cTn id="48" dur="400"/>
                                        <p:tgtEl>
                                          <p:spTgt spid="18"/>
                                        </p:tgtEl>
                                      </p:cBhvr>
                                    </p:animEffect>
                                  </p:childTnLst>
                                </p:cTn>
                              </p:par>
                              <p:par>
                                <p:cTn id="49" presetID="10" presetClass="entr" presetSubtype="0" fill="hold" nodeType="withEffect">
                                  <p:stCondLst>
                                    <p:cond delay="15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400"/>
                                        <p:tgtEl>
                                          <p:spTgt spid="19"/>
                                        </p:tgtEl>
                                      </p:cBhvr>
                                    </p:animEffect>
                                  </p:childTnLst>
                                </p:cTn>
                              </p:par>
                              <p:par>
                                <p:cTn id="52" presetID="10" presetClass="entr" presetSubtype="0" fill="hold" nodeType="withEffect">
                                  <p:stCondLst>
                                    <p:cond delay="30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400"/>
                                        <p:tgtEl>
                                          <p:spTgt spid="20"/>
                                        </p:tgtEl>
                                      </p:cBhvr>
                                    </p:animEffect>
                                  </p:childTnLst>
                                </p:cTn>
                              </p:par>
                              <p:par>
                                <p:cTn id="55" presetID="10" presetClass="entr" presetSubtype="0" fill="hold" nodeType="withEffect">
                                  <p:stCondLst>
                                    <p:cond delay="300"/>
                                  </p:stCondLst>
                                  <p:childTnLst>
                                    <p:set>
                                      <p:cBhvr>
                                        <p:cTn id="56" dur="1" fill="hold">
                                          <p:stCondLst>
                                            <p:cond delay="0"/>
                                          </p:stCondLst>
                                        </p:cTn>
                                        <p:tgtEl>
                                          <p:spTgt spid="21"/>
                                        </p:tgtEl>
                                        <p:attrNameLst>
                                          <p:attrName>style.visibility</p:attrName>
                                        </p:attrNameLst>
                                      </p:cBhvr>
                                      <p:to>
                                        <p:strVal val="visible"/>
                                      </p:to>
                                    </p:set>
                                    <p:animEffect transition="in" filter="fade">
                                      <p:cBhvr>
                                        <p:cTn id="57" dur="400"/>
                                        <p:tgtEl>
                                          <p:spTgt spid="21"/>
                                        </p:tgtEl>
                                      </p:cBhvr>
                                    </p:animEffect>
                                  </p:childTnLst>
                                </p:cTn>
                              </p:par>
                              <p:par>
                                <p:cTn id="58" presetID="10" presetClass="entr" presetSubtype="0" fill="hold" nodeType="withEffect">
                                  <p:stCondLst>
                                    <p:cond delay="300"/>
                                  </p:stCondLst>
                                  <p:childTnLst>
                                    <p:set>
                                      <p:cBhvr>
                                        <p:cTn id="59" dur="1" fill="hold">
                                          <p:stCondLst>
                                            <p:cond delay="0"/>
                                          </p:stCondLst>
                                        </p:cTn>
                                        <p:tgtEl>
                                          <p:spTgt spid="22"/>
                                        </p:tgtEl>
                                        <p:attrNameLst>
                                          <p:attrName>style.visibility</p:attrName>
                                        </p:attrNameLst>
                                      </p:cBhvr>
                                      <p:to>
                                        <p:strVal val="visible"/>
                                      </p:to>
                                    </p:set>
                                    <p:animEffect transition="in" filter="fade">
                                      <p:cBhvr>
                                        <p:cTn id="60" dur="400"/>
                                        <p:tgtEl>
                                          <p:spTgt spid="22"/>
                                        </p:tgtEl>
                                      </p:cBhvr>
                                    </p:animEffect>
                                  </p:childTnLst>
                                </p:cTn>
                              </p:par>
                              <p:par>
                                <p:cTn id="61" presetID="10" presetClass="entr" presetSubtype="0" fill="hold" nodeType="withEffect">
                                  <p:stCondLst>
                                    <p:cond delay="450"/>
                                  </p:stCondLst>
                                  <p:childTnLst>
                                    <p:set>
                                      <p:cBhvr>
                                        <p:cTn id="62" dur="1" fill="hold">
                                          <p:stCondLst>
                                            <p:cond delay="0"/>
                                          </p:stCondLst>
                                        </p:cTn>
                                        <p:tgtEl>
                                          <p:spTgt spid="23"/>
                                        </p:tgtEl>
                                        <p:attrNameLst>
                                          <p:attrName>style.visibility</p:attrName>
                                        </p:attrNameLst>
                                      </p:cBhvr>
                                      <p:to>
                                        <p:strVal val="visible"/>
                                      </p:to>
                                    </p:set>
                                    <p:animEffect transition="in" filter="fade">
                                      <p:cBhvr>
                                        <p:cTn id="63"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628"/>
        </a:solidFill>
        <a:effectLst/>
      </p:bgPr>
    </p:bg>
    <p:spTree>
      <p:nvGrpSpPr>
        <p:cNvPr id="1" name=""/>
        <p:cNvGrpSpPr/>
        <p:nvPr/>
      </p:nvGrpSpPr>
      <p:grpSpPr>
        <a:xfrm>
          <a:off x="0" y="0"/>
          <a:ext cx="0" cy="0"/>
          <a:chOff x="0" y="0"/>
          <a:chExt cx="0" cy="0"/>
        </a:xfrm>
      </p:grpSpPr>
      <p:sp>
        <p:nvSpPr>
          <p:cNvPr id="3" name="Text 0"/>
          <p:cNvSpPr txBox="1"/>
          <p:nvPr/>
        </p:nvSpPr>
        <p:spPr>
          <a:xfrm>
            <a:off x="566928" y="384048"/>
            <a:ext cx="11057839" cy="274320"/>
          </a:xfrm>
          <a:prstGeom prst="rect">
            <a:avLst/>
          </a:prstGeom>
          <a:noFill/>
          <a:ln/>
        </p:spPr>
        <p:txBody>
          <a:bodyPr wrap="square" lIns="0" tIns="0" rIns="0" bIns="0" rtlCol="0" anchor="ctr"/>
          <a:lstStyle/>
          <a:p>
            <a:pPr marL="0" indent="0">
              <a:buNone/>
            </a:pPr>
            <a:r>
              <a:rPr lang="en-US" sz="1400" b="1" kern="0" spc="300" dirty="0">
                <a:solidFill>
                  <a:srgbClr val="4ED8E6"/>
                </a:solidFill>
                <a:latin typeface="Calibri" pitchFamily="34" charset="0"/>
                <a:ea typeface="Calibri" pitchFamily="34" charset="-122"/>
                <a:cs typeface="Calibri" pitchFamily="34" charset="-120"/>
              </a:rPr>
              <a:t>ACTIVITY 1</a:t>
            </a:r>
            <a:endParaRPr lang="en-US" sz="1400" dirty="0"/>
          </a:p>
        </p:txBody>
      </p:sp>
      <p:sp>
        <p:nvSpPr>
          <p:cNvPr id="4" name="Text 1"/>
          <p:cNvSpPr txBox="1"/>
          <p:nvPr/>
        </p:nvSpPr>
        <p:spPr>
          <a:xfrm>
            <a:off x="566928" y="676656"/>
            <a:ext cx="11057839" cy="658368"/>
          </a:xfrm>
          <a:prstGeom prst="rect">
            <a:avLst/>
          </a:prstGeom>
          <a:noFill/>
          <a:ln/>
        </p:spPr>
        <p:txBody>
          <a:bodyPr wrap="square" lIns="0" tIns="0" rIns="0" bIns="0" rtlCol="0" anchor="ctr"/>
          <a:lstStyle/>
          <a:p>
            <a:pPr marL="0" indent="0">
              <a:buNone/>
            </a:pPr>
            <a:r>
              <a:rPr lang="en-US" sz="3600" b="1" dirty="0">
                <a:solidFill>
                  <a:srgbClr val="EAF2F8"/>
                </a:solidFill>
                <a:latin typeface="Calibri" pitchFamily="34" charset="0"/>
                <a:ea typeface="Calibri" pitchFamily="34" charset="-122"/>
                <a:cs typeface="Calibri" pitchFamily="34" charset="-120"/>
              </a:rPr>
              <a:t>Fly it</a:t>
            </a:r>
            <a:endParaRPr lang="en-US" sz="3600" dirty="0"/>
          </a:p>
        </p:txBody>
      </p:sp>
      <p:sp>
        <p:nvSpPr>
          <p:cNvPr id="5" name="a1_01b"/>
          <p:cNvSpPr/>
          <p:nvPr/>
        </p:nvSpPr>
        <p:spPr>
          <a:xfrm>
            <a:off x="566928" y="1737360"/>
            <a:ext cx="3566160" cy="2651760"/>
          </a:xfrm>
          <a:prstGeom prst="roundRect">
            <a:avLst>
              <a:gd name="adj" fmla="val 2759"/>
            </a:avLst>
          </a:prstGeom>
          <a:solidFill>
            <a:srgbClr val="152A45"/>
          </a:solidFill>
          <a:ln w="12700">
            <a:solidFill>
              <a:srgbClr val="27425F"/>
            </a:solidFill>
            <a:prstDash val="solid"/>
          </a:ln>
        </p:spPr>
        <p:txBody>
          <a:bodyPr/>
          <a:lstStyle/>
          <a:p>
            <a:endParaRPr lang="en-CA"/>
          </a:p>
        </p:txBody>
      </p:sp>
      <p:sp>
        <p:nvSpPr>
          <p:cNvPr id="6" name="a1_01c"/>
          <p:cNvSpPr/>
          <p:nvPr/>
        </p:nvSpPr>
        <p:spPr>
          <a:xfrm>
            <a:off x="804672" y="1956816"/>
            <a:ext cx="402336" cy="402336"/>
          </a:xfrm>
          <a:prstGeom prst="ellipse">
            <a:avLst/>
          </a:prstGeom>
          <a:solidFill>
            <a:srgbClr val="4ED8E6"/>
          </a:solidFill>
          <a:ln/>
        </p:spPr>
        <p:txBody>
          <a:bodyPr/>
          <a:lstStyle/>
          <a:p>
            <a:endParaRPr lang="en-CA"/>
          </a:p>
        </p:txBody>
      </p:sp>
      <p:sp>
        <p:nvSpPr>
          <p:cNvPr id="7" name="a1_01d"/>
          <p:cNvSpPr txBox="1"/>
          <p:nvPr/>
        </p:nvSpPr>
        <p:spPr>
          <a:xfrm>
            <a:off x="804672" y="1956816"/>
            <a:ext cx="402336" cy="402336"/>
          </a:xfrm>
          <a:prstGeom prst="rect">
            <a:avLst/>
          </a:prstGeom>
          <a:noFill/>
          <a:ln/>
        </p:spPr>
        <p:txBody>
          <a:bodyPr wrap="square" lIns="0" tIns="0" rIns="0" bIns="0" rtlCol="0" anchor="ctr"/>
          <a:lstStyle/>
          <a:p>
            <a:pPr marL="0" indent="0" algn="ctr">
              <a:buNone/>
            </a:pPr>
            <a:r>
              <a:rPr lang="en-US" sz="1700" b="1" dirty="0">
                <a:solidFill>
                  <a:srgbClr val="0A1628"/>
                </a:solidFill>
                <a:latin typeface="Calibri" pitchFamily="34" charset="0"/>
                <a:ea typeface="Calibri" pitchFamily="34" charset="-122"/>
                <a:cs typeface="Calibri" pitchFamily="34" charset="-120"/>
              </a:rPr>
              <a:t>1</a:t>
            </a:r>
            <a:endParaRPr lang="en-US" sz="1700" dirty="0"/>
          </a:p>
        </p:txBody>
      </p:sp>
      <p:sp>
        <p:nvSpPr>
          <p:cNvPr id="8" name="a1_01e"/>
          <p:cNvSpPr txBox="1"/>
          <p:nvPr/>
        </p:nvSpPr>
        <p:spPr>
          <a:xfrm>
            <a:off x="1353312" y="1920240"/>
            <a:ext cx="2505456" cy="457200"/>
          </a:xfrm>
          <a:prstGeom prst="rect">
            <a:avLst/>
          </a:prstGeom>
          <a:noFill/>
          <a:ln/>
        </p:spPr>
        <p:txBody>
          <a:bodyPr wrap="square" lIns="0" tIns="0" rIns="0" bIns="0" rtlCol="0" anchor="ctr"/>
          <a:lstStyle/>
          <a:p>
            <a:pPr marL="0" indent="0">
              <a:buNone/>
            </a:pPr>
            <a:r>
              <a:rPr lang="en-US" sz="1900" b="1" dirty="0">
                <a:solidFill>
                  <a:srgbClr val="4ED8E6"/>
                </a:solidFill>
                <a:latin typeface="Calibri" pitchFamily="34" charset="0"/>
                <a:ea typeface="Calibri" pitchFamily="34" charset="-122"/>
                <a:cs typeface="Calibri" pitchFamily="34" charset="-120"/>
              </a:rPr>
              <a:t>The aircraft</a:t>
            </a:r>
            <a:endParaRPr lang="en-US" sz="1900" dirty="0"/>
          </a:p>
        </p:txBody>
      </p:sp>
      <p:sp>
        <p:nvSpPr>
          <p:cNvPr id="9" name="a1_01f"/>
          <p:cNvSpPr txBox="1"/>
          <p:nvPr/>
        </p:nvSpPr>
        <p:spPr>
          <a:xfrm>
            <a:off x="841248" y="2523744"/>
            <a:ext cx="3017520" cy="1737360"/>
          </a:xfrm>
          <a:prstGeom prst="rect">
            <a:avLst/>
          </a:prstGeom>
          <a:noFill/>
          <a:ln/>
        </p:spPr>
        <p:txBody>
          <a:bodyPr wrap="square" lIns="0" tIns="0" rIns="0" bIns="0" rtlCol="0" anchor="ctr"/>
          <a:lstStyle/>
          <a:p>
            <a:pPr marL="0" indent="0">
              <a:lnSpc>
                <a:spcPct val="115000"/>
              </a:lnSpc>
              <a:buNone/>
            </a:pPr>
            <a:r>
              <a:rPr lang="en-US" sz="1500" dirty="0">
                <a:solidFill>
                  <a:srgbClr val="EAF2F8"/>
                </a:solidFill>
                <a:latin typeface="Calibri" pitchFamily="34" charset="0"/>
                <a:ea typeface="Calibri" pitchFamily="34" charset="-122"/>
                <a:cs typeface="Calibri" pitchFamily="34" charset="-120"/>
              </a:rPr>
              <a:t>A Boeing 737, taking off from a runway with standing water on it.</a:t>
            </a:r>
            <a:endParaRPr lang="en-US" sz="1500" dirty="0"/>
          </a:p>
        </p:txBody>
      </p:sp>
      <p:sp>
        <p:nvSpPr>
          <p:cNvPr id="10" name="a1_02b"/>
          <p:cNvSpPr/>
          <p:nvPr/>
        </p:nvSpPr>
        <p:spPr>
          <a:xfrm>
            <a:off x="4334256" y="1737360"/>
            <a:ext cx="3566160" cy="2651760"/>
          </a:xfrm>
          <a:prstGeom prst="roundRect">
            <a:avLst>
              <a:gd name="adj" fmla="val 2759"/>
            </a:avLst>
          </a:prstGeom>
          <a:solidFill>
            <a:srgbClr val="152A45"/>
          </a:solidFill>
          <a:ln w="12700">
            <a:solidFill>
              <a:srgbClr val="27425F"/>
            </a:solidFill>
            <a:prstDash val="solid"/>
          </a:ln>
        </p:spPr>
        <p:txBody>
          <a:bodyPr/>
          <a:lstStyle/>
          <a:p>
            <a:endParaRPr lang="en-CA"/>
          </a:p>
        </p:txBody>
      </p:sp>
      <p:sp>
        <p:nvSpPr>
          <p:cNvPr id="11" name="a1_02c"/>
          <p:cNvSpPr/>
          <p:nvPr/>
        </p:nvSpPr>
        <p:spPr>
          <a:xfrm>
            <a:off x="4572000" y="1956816"/>
            <a:ext cx="402336" cy="402336"/>
          </a:xfrm>
          <a:prstGeom prst="ellipse">
            <a:avLst/>
          </a:prstGeom>
          <a:solidFill>
            <a:srgbClr val="FF8A5B"/>
          </a:solidFill>
          <a:ln/>
        </p:spPr>
        <p:txBody>
          <a:bodyPr/>
          <a:lstStyle/>
          <a:p>
            <a:endParaRPr lang="en-CA"/>
          </a:p>
        </p:txBody>
      </p:sp>
      <p:sp>
        <p:nvSpPr>
          <p:cNvPr id="12" name="a1_02d"/>
          <p:cNvSpPr txBox="1"/>
          <p:nvPr/>
        </p:nvSpPr>
        <p:spPr>
          <a:xfrm>
            <a:off x="4572000" y="1956816"/>
            <a:ext cx="402336" cy="402336"/>
          </a:xfrm>
          <a:prstGeom prst="rect">
            <a:avLst/>
          </a:prstGeom>
          <a:noFill/>
          <a:ln/>
        </p:spPr>
        <p:txBody>
          <a:bodyPr wrap="square" lIns="0" tIns="0" rIns="0" bIns="0" rtlCol="0" anchor="ctr"/>
          <a:lstStyle/>
          <a:p>
            <a:pPr marL="0" indent="0" algn="ctr">
              <a:buNone/>
            </a:pPr>
            <a:r>
              <a:rPr lang="en-US" sz="1700" b="1" dirty="0">
                <a:solidFill>
                  <a:srgbClr val="0A1628"/>
                </a:solidFill>
                <a:latin typeface="Calibri" pitchFamily="34" charset="0"/>
                <a:ea typeface="Calibri" pitchFamily="34" charset="-122"/>
                <a:cs typeface="Calibri" pitchFamily="34" charset="-120"/>
              </a:rPr>
              <a:t>2</a:t>
            </a:r>
            <a:endParaRPr lang="en-US" sz="1700" dirty="0"/>
          </a:p>
        </p:txBody>
      </p:sp>
      <p:sp>
        <p:nvSpPr>
          <p:cNvPr id="13" name="a1_02e"/>
          <p:cNvSpPr txBox="1"/>
          <p:nvPr/>
        </p:nvSpPr>
        <p:spPr>
          <a:xfrm>
            <a:off x="5120640" y="1920240"/>
            <a:ext cx="2505456" cy="457200"/>
          </a:xfrm>
          <a:prstGeom prst="rect">
            <a:avLst/>
          </a:prstGeom>
          <a:noFill/>
          <a:ln/>
        </p:spPr>
        <p:txBody>
          <a:bodyPr wrap="square" lIns="0" tIns="0" rIns="0" bIns="0" rtlCol="0" anchor="ctr"/>
          <a:lstStyle/>
          <a:p>
            <a:pPr marL="0" indent="0">
              <a:buNone/>
            </a:pPr>
            <a:r>
              <a:rPr lang="en-US" sz="1900" b="1" dirty="0">
                <a:solidFill>
                  <a:srgbClr val="FF8A5B"/>
                </a:solidFill>
                <a:latin typeface="Calibri" pitchFamily="34" charset="0"/>
                <a:ea typeface="Calibri" pitchFamily="34" charset="-122"/>
                <a:cs typeface="Calibri" pitchFamily="34" charset="-120"/>
              </a:rPr>
              <a:t>The failure</a:t>
            </a:r>
            <a:endParaRPr lang="en-US" sz="1900" dirty="0"/>
          </a:p>
        </p:txBody>
      </p:sp>
      <p:sp>
        <p:nvSpPr>
          <p:cNvPr id="14" name="a1_02f"/>
          <p:cNvSpPr txBox="1"/>
          <p:nvPr/>
        </p:nvSpPr>
        <p:spPr>
          <a:xfrm>
            <a:off x="4608576" y="2523744"/>
            <a:ext cx="3017520" cy="1737360"/>
          </a:xfrm>
          <a:prstGeom prst="rect">
            <a:avLst/>
          </a:prstGeom>
          <a:noFill/>
          <a:ln/>
        </p:spPr>
        <p:txBody>
          <a:bodyPr wrap="square" lIns="0" tIns="0" rIns="0" bIns="0" rtlCol="0" anchor="ctr"/>
          <a:lstStyle/>
          <a:p>
            <a:pPr marL="0" indent="0">
              <a:lnSpc>
                <a:spcPct val="115000"/>
              </a:lnSpc>
              <a:buNone/>
            </a:pPr>
            <a:r>
              <a:rPr lang="en-US" sz="1500" dirty="0">
                <a:solidFill>
                  <a:srgbClr val="EAF2F8"/>
                </a:solidFill>
                <a:latin typeface="Calibri" pitchFamily="34" charset="0"/>
                <a:ea typeface="Calibri" pitchFamily="34" charset="-122"/>
                <a:cs typeface="Calibri" pitchFamily="34" charset="-120"/>
              </a:rPr>
              <a:t>An engine quits half a second past the speed where stopping is no longer an option.</a:t>
            </a:r>
            <a:endParaRPr lang="en-US" sz="1500" dirty="0"/>
          </a:p>
        </p:txBody>
      </p:sp>
      <p:sp>
        <p:nvSpPr>
          <p:cNvPr id="15" name="a1_03b"/>
          <p:cNvSpPr/>
          <p:nvPr/>
        </p:nvSpPr>
        <p:spPr>
          <a:xfrm>
            <a:off x="8101584" y="1737360"/>
            <a:ext cx="3566160" cy="2651760"/>
          </a:xfrm>
          <a:prstGeom prst="roundRect">
            <a:avLst>
              <a:gd name="adj" fmla="val 2759"/>
            </a:avLst>
          </a:prstGeom>
          <a:solidFill>
            <a:srgbClr val="152A45"/>
          </a:solidFill>
          <a:ln w="12700">
            <a:solidFill>
              <a:srgbClr val="27425F"/>
            </a:solidFill>
            <a:prstDash val="solid"/>
          </a:ln>
        </p:spPr>
        <p:txBody>
          <a:bodyPr/>
          <a:lstStyle/>
          <a:p>
            <a:endParaRPr lang="en-CA"/>
          </a:p>
        </p:txBody>
      </p:sp>
      <p:sp>
        <p:nvSpPr>
          <p:cNvPr id="16" name="a1_03c"/>
          <p:cNvSpPr/>
          <p:nvPr/>
        </p:nvSpPr>
        <p:spPr>
          <a:xfrm>
            <a:off x="8339328" y="1956816"/>
            <a:ext cx="402336" cy="402336"/>
          </a:xfrm>
          <a:prstGeom prst="ellipse">
            <a:avLst/>
          </a:prstGeom>
          <a:solidFill>
            <a:srgbClr val="7FB3FF"/>
          </a:solidFill>
          <a:ln/>
        </p:spPr>
        <p:txBody>
          <a:bodyPr/>
          <a:lstStyle/>
          <a:p>
            <a:endParaRPr lang="en-CA"/>
          </a:p>
        </p:txBody>
      </p:sp>
      <p:sp>
        <p:nvSpPr>
          <p:cNvPr id="17" name="a1_03d"/>
          <p:cNvSpPr txBox="1"/>
          <p:nvPr/>
        </p:nvSpPr>
        <p:spPr>
          <a:xfrm>
            <a:off x="8339328" y="1956816"/>
            <a:ext cx="402336" cy="402336"/>
          </a:xfrm>
          <a:prstGeom prst="rect">
            <a:avLst/>
          </a:prstGeom>
          <a:noFill/>
          <a:ln/>
        </p:spPr>
        <p:txBody>
          <a:bodyPr wrap="square" lIns="0" tIns="0" rIns="0" bIns="0" rtlCol="0" anchor="ctr"/>
          <a:lstStyle/>
          <a:p>
            <a:pPr marL="0" indent="0" algn="ctr">
              <a:buNone/>
            </a:pPr>
            <a:r>
              <a:rPr lang="en-US" sz="1700" b="1" dirty="0">
                <a:solidFill>
                  <a:srgbClr val="0A1628"/>
                </a:solidFill>
                <a:latin typeface="Calibri" pitchFamily="34" charset="0"/>
                <a:ea typeface="Calibri" pitchFamily="34" charset="-122"/>
                <a:cs typeface="Calibri" pitchFamily="34" charset="-120"/>
              </a:rPr>
              <a:t>3</a:t>
            </a:r>
            <a:endParaRPr lang="en-US" sz="1700" dirty="0"/>
          </a:p>
        </p:txBody>
      </p:sp>
      <p:sp>
        <p:nvSpPr>
          <p:cNvPr id="18" name="a1_03e"/>
          <p:cNvSpPr txBox="1"/>
          <p:nvPr/>
        </p:nvSpPr>
        <p:spPr>
          <a:xfrm>
            <a:off x="8887968" y="1920240"/>
            <a:ext cx="2505456" cy="457200"/>
          </a:xfrm>
          <a:prstGeom prst="rect">
            <a:avLst/>
          </a:prstGeom>
          <a:noFill/>
          <a:ln/>
        </p:spPr>
        <p:txBody>
          <a:bodyPr wrap="square" lIns="0" tIns="0" rIns="0" bIns="0" rtlCol="0" anchor="ctr"/>
          <a:lstStyle/>
          <a:p>
            <a:pPr marL="0" indent="0">
              <a:buNone/>
            </a:pPr>
            <a:r>
              <a:rPr lang="en-US" sz="1900" b="1" dirty="0">
                <a:solidFill>
                  <a:srgbClr val="7FB3FF"/>
                </a:solidFill>
                <a:latin typeface="Calibri" pitchFamily="34" charset="0"/>
                <a:ea typeface="Calibri" pitchFamily="34" charset="-122"/>
                <a:cs typeface="Calibri" pitchFamily="34" charset="-120"/>
              </a:rPr>
              <a:t>The weather</a:t>
            </a:r>
            <a:endParaRPr lang="en-US" sz="1900" dirty="0"/>
          </a:p>
        </p:txBody>
      </p:sp>
      <p:sp>
        <p:nvSpPr>
          <p:cNvPr id="19" name="a1_03f"/>
          <p:cNvSpPr txBox="1"/>
          <p:nvPr/>
        </p:nvSpPr>
        <p:spPr>
          <a:xfrm>
            <a:off x="8375904" y="2523744"/>
            <a:ext cx="3017520" cy="1737360"/>
          </a:xfrm>
          <a:prstGeom prst="rect">
            <a:avLst/>
          </a:prstGeom>
          <a:noFill/>
          <a:ln/>
        </p:spPr>
        <p:txBody>
          <a:bodyPr wrap="square" lIns="0" tIns="0" rIns="0" bIns="0" rtlCol="0" anchor="ctr"/>
          <a:lstStyle/>
          <a:p>
            <a:pPr marL="0" indent="0">
              <a:lnSpc>
                <a:spcPct val="115000"/>
              </a:lnSpc>
              <a:buNone/>
            </a:pPr>
            <a:r>
              <a:rPr lang="en-US" sz="1500" dirty="0">
                <a:solidFill>
                  <a:srgbClr val="EAF2F8"/>
                </a:solidFill>
                <a:latin typeface="Calibri" pitchFamily="34" charset="0"/>
                <a:ea typeface="Calibri" pitchFamily="34" charset="-122"/>
                <a:cs typeface="Calibri" pitchFamily="34" charset="-120"/>
              </a:rPr>
              <a:t>A crosswind of 15 knots gusting 22, at 40 degrees off the runway.</a:t>
            </a:r>
            <a:endParaRPr lang="en-US" sz="1500" dirty="0"/>
          </a:p>
        </p:txBody>
      </p:sp>
      <p:sp>
        <p:nvSpPr>
          <p:cNvPr id="20" name="a2_01b"/>
          <p:cNvSpPr/>
          <p:nvPr/>
        </p:nvSpPr>
        <p:spPr>
          <a:xfrm>
            <a:off x="566928" y="4663440"/>
            <a:ext cx="11057839" cy="1371600"/>
          </a:xfrm>
          <a:prstGeom prst="roundRect">
            <a:avLst>
              <a:gd name="adj" fmla="val 5333"/>
            </a:avLst>
          </a:prstGeom>
          <a:solidFill>
            <a:srgbClr val="152A45"/>
          </a:solidFill>
          <a:ln w="12700">
            <a:solidFill>
              <a:srgbClr val="27425F"/>
            </a:solidFill>
            <a:prstDash val="solid"/>
          </a:ln>
        </p:spPr>
        <p:txBody>
          <a:bodyPr/>
          <a:lstStyle/>
          <a:p>
            <a:endParaRPr lang="en-CA"/>
          </a:p>
        </p:txBody>
      </p:sp>
      <p:sp>
        <p:nvSpPr>
          <p:cNvPr id="21" name="a2_01e"/>
          <p:cNvSpPr txBox="1"/>
          <p:nvPr/>
        </p:nvSpPr>
        <p:spPr>
          <a:xfrm>
            <a:off x="841248" y="4846320"/>
            <a:ext cx="10509199" cy="457200"/>
          </a:xfrm>
          <a:prstGeom prst="rect">
            <a:avLst/>
          </a:prstGeom>
          <a:noFill/>
          <a:ln/>
        </p:spPr>
        <p:txBody>
          <a:bodyPr wrap="square" lIns="0" tIns="0" rIns="0" bIns="0" rtlCol="0" anchor="ctr"/>
          <a:lstStyle/>
          <a:p>
            <a:pPr marL="0" indent="0">
              <a:buNone/>
            </a:pPr>
            <a:r>
              <a:rPr lang="en-US" sz="1900" b="1" dirty="0">
                <a:solidFill>
                  <a:srgbClr val="4ED8E6"/>
                </a:solidFill>
                <a:latin typeface="Calibri" pitchFamily="34" charset="0"/>
                <a:ea typeface="Calibri" pitchFamily="34" charset="-122"/>
                <a:cs typeface="Calibri" pitchFamily="34" charset="-120"/>
              </a:rPr>
              <a:t>And the sensors are running the whole time</a:t>
            </a:r>
            <a:endParaRPr lang="en-US" sz="1900" dirty="0"/>
          </a:p>
        </p:txBody>
      </p:sp>
      <p:sp>
        <p:nvSpPr>
          <p:cNvPr id="22" name="a2_01f"/>
          <p:cNvSpPr txBox="1"/>
          <p:nvPr/>
        </p:nvSpPr>
        <p:spPr>
          <a:xfrm>
            <a:off x="841248" y="5449824"/>
            <a:ext cx="10509199" cy="457200"/>
          </a:xfrm>
          <a:prstGeom prst="rect">
            <a:avLst/>
          </a:prstGeom>
          <a:noFill/>
          <a:ln/>
        </p:spPr>
        <p:txBody>
          <a:bodyPr wrap="square" lIns="0" tIns="0" rIns="0" bIns="0" rtlCol="0" anchor="ctr"/>
          <a:lstStyle/>
          <a:p>
            <a:pPr marL="0" indent="0">
              <a:lnSpc>
                <a:spcPct val="115000"/>
              </a:lnSpc>
              <a:buNone/>
            </a:pPr>
            <a:r>
              <a:rPr lang="en-US" sz="1500" dirty="0">
                <a:solidFill>
                  <a:srgbClr val="EAF2F8"/>
                </a:solidFill>
                <a:latin typeface="Calibri" pitchFamily="34" charset="0"/>
                <a:ea typeface="Calibri" pitchFamily="34" charset="-122"/>
                <a:cs typeface="Calibri" pitchFamily="34" charset="-120"/>
              </a:rPr>
              <a:t>Eyes, pupil, brain, heart, and the flight data itself. Nothing is asked of the pilot except to fly.</a:t>
            </a:r>
            <a:endParaRPr lang="en-US" sz="1500" dirty="0"/>
          </a:p>
        </p:txBody>
      </p:sp>
    </p:spTree>
  </p:cSld>
  <p:clrMapOvr>
    <a:masterClrMapping/>
  </p:clrMapOvr>
  <p:transition spd="slow" advClick="0" advTm="15000">
    <p:fade/>
  </p:transition>
  <p:timing>
    <p:tnLst>
      <p:par>
        <p:cTn id="1" dur="indefinite" restart="never" nodeType="tmRoot">
          <p:childTnLst>
            <p:seq concurrent="1" nextAc="seek">
              <p:cTn id="2" dur="indefinite" nodeType="mainSeq">
                <p:childTnLst>
                  <p:par>
                    <p:cTn id="3" fill="hold">
                      <p:stCondLst>
                        <p:cond delay="1200"/>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par>
                                <p:cTn id="20" presetID="10" presetClass="entr" presetSubtype="0" fill="hold" nodeType="withEffect">
                                  <p:stCondLst>
                                    <p:cond delay="15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400"/>
                                        <p:tgtEl>
                                          <p:spTgt spid="10"/>
                                        </p:tgtEl>
                                      </p:cBhvr>
                                    </p:animEffect>
                                  </p:childTnLst>
                                </p:cTn>
                              </p:par>
                              <p:par>
                                <p:cTn id="23" presetID="10" presetClass="entr" presetSubtype="0" fill="hold" nodeType="withEffect">
                                  <p:stCondLst>
                                    <p:cond delay="15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400"/>
                                        <p:tgtEl>
                                          <p:spTgt spid="11"/>
                                        </p:tgtEl>
                                      </p:cBhvr>
                                    </p:animEffect>
                                  </p:childTnLst>
                                </p:cTn>
                              </p:par>
                              <p:par>
                                <p:cTn id="26" presetID="10" presetClass="entr" presetSubtype="0" fill="hold" nodeType="withEffect">
                                  <p:stCondLst>
                                    <p:cond delay="15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400"/>
                                        <p:tgtEl>
                                          <p:spTgt spid="12"/>
                                        </p:tgtEl>
                                      </p:cBhvr>
                                    </p:animEffect>
                                  </p:childTnLst>
                                </p:cTn>
                              </p:par>
                              <p:par>
                                <p:cTn id="29" presetID="10" presetClass="entr" presetSubtype="0" fill="hold" nodeType="withEffect">
                                  <p:stCondLst>
                                    <p:cond delay="15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400"/>
                                        <p:tgtEl>
                                          <p:spTgt spid="13"/>
                                        </p:tgtEl>
                                      </p:cBhvr>
                                    </p:animEffect>
                                  </p:childTnLst>
                                </p:cTn>
                              </p:par>
                              <p:par>
                                <p:cTn id="32" presetID="10" presetClass="entr" presetSubtype="0" fill="hold" nodeType="withEffect">
                                  <p:stCondLst>
                                    <p:cond delay="15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par>
                                <p:cTn id="35" presetID="10" presetClass="entr" presetSubtype="0" fill="hold" nodeType="withEffect">
                                  <p:stCondLst>
                                    <p:cond delay="30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400"/>
                                        <p:tgtEl>
                                          <p:spTgt spid="15"/>
                                        </p:tgtEl>
                                      </p:cBhvr>
                                    </p:animEffect>
                                  </p:childTnLst>
                                </p:cTn>
                              </p:par>
                              <p:par>
                                <p:cTn id="38" presetID="10" presetClass="entr" presetSubtype="0" fill="hold" nodeType="withEffect">
                                  <p:stCondLst>
                                    <p:cond delay="30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400"/>
                                        <p:tgtEl>
                                          <p:spTgt spid="16"/>
                                        </p:tgtEl>
                                      </p:cBhvr>
                                    </p:animEffect>
                                  </p:childTnLst>
                                </p:cTn>
                              </p:par>
                              <p:par>
                                <p:cTn id="41" presetID="10" presetClass="entr" presetSubtype="0" fill="hold" nodeType="withEffect">
                                  <p:stCondLst>
                                    <p:cond delay="30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400"/>
                                        <p:tgtEl>
                                          <p:spTgt spid="17"/>
                                        </p:tgtEl>
                                      </p:cBhvr>
                                    </p:animEffect>
                                  </p:childTnLst>
                                </p:cTn>
                              </p:par>
                              <p:par>
                                <p:cTn id="44" presetID="10" presetClass="entr" presetSubtype="0" fill="hold" nodeType="withEffect">
                                  <p:stCondLst>
                                    <p:cond delay="30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400"/>
                                        <p:tgtEl>
                                          <p:spTgt spid="18"/>
                                        </p:tgtEl>
                                      </p:cBhvr>
                                    </p:animEffect>
                                  </p:childTnLst>
                                </p:cTn>
                              </p:par>
                              <p:par>
                                <p:cTn id="47" presetID="10" presetClass="entr" presetSubtype="0" fill="hold" nodeType="withEffect">
                                  <p:stCondLst>
                                    <p:cond delay="30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400"/>
                                        <p:tgtEl>
                                          <p:spTgt spid="19"/>
                                        </p:tgtEl>
                                      </p:cBhvr>
                                    </p:animEffect>
                                  </p:childTnLst>
                                </p:cTn>
                              </p:par>
                            </p:childTnLst>
                          </p:cTn>
                        </p:par>
                      </p:childTnLst>
                    </p:cTn>
                  </p:par>
                  <p:par>
                    <p:cTn id="50" fill="hold">
                      <p:stCondLst>
                        <p:cond delay="6650"/>
                      </p:stCondLst>
                      <p:childTnLst>
                        <p:par>
                          <p:cTn id="51" fill="hold">
                            <p:stCondLst>
                              <p:cond delay="0"/>
                            </p:stCondLst>
                            <p:childTnLst>
                              <p:par>
                                <p:cTn id="52" presetID="10" presetClass="entr" presetSubtype="0" fill="hold" nodeType="after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400"/>
                                        <p:tgtEl>
                                          <p:spTgt spid="20"/>
                                        </p:tgtEl>
                                      </p:cBhvr>
                                    </p:animEffect>
                                  </p:childTnLst>
                                </p:cTn>
                              </p:par>
                              <p:par>
                                <p:cTn id="55" presetID="10" presetClass="entr" presetSubtype="0" fill="hold" nodeType="with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fade">
                                      <p:cBhvr>
                                        <p:cTn id="57" dur="400"/>
                                        <p:tgtEl>
                                          <p:spTgt spid="21"/>
                                        </p:tgtEl>
                                      </p:cBhvr>
                                    </p:animEffect>
                                  </p:childTnLst>
                                </p:cTn>
                              </p:par>
                              <p:par>
                                <p:cTn id="58" presetID="10" presetClass="entr" presetSubtype="0" fill="hold" nodeType="withEffect">
                                  <p:stCondLst>
                                    <p:cond delay="0"/>
                                  </p:stCondLst>
                                  <p:childTnLst>
                                    <p:set>
                                      <p:cBhvr>
                                        <p:cTn id="59" dur="1" fill="hold">
                                          <p:stCondLst>
                                            <p:cond delay="0"/>
                                          </p:stCondLst>
                                        </p:cTn>
                                        <p:tgtEl>
                                          <p:spTgt spid="22"/>
                                        </p:tgtEl>
                                        <p:attrNameLst>
                                          <p:attrName>style.visibility</p:attrName>
                                        </p:attrNameLst>
                                      </p:cBhvr>
                                      <p:to>
                                        <p:strVal val="visible"/>
                                      </p:to>
                                    </p:set>
                                    <p:animEffect transition="in" filter="fade">
                                      <p:cBhvr>
                                        <p:cTn id="60"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628"/>
        </a:solidFill>
        <a:effectLst/>
      </p:bgPr>
    </p:bg>
    <p:spTree>
      <p:nvGrpSpPr>
        <p:cNvPr id="1" name=""/>
        <p:cNvGrpSpPr/>
        <p:nvPr/>
      </p:nvGrpSpPr>
      <p:grpSpPr>
        <a:xfrm>
          <a:off x="0" y="0"/>
          <a:ext cx="0" cy="0"/>
          <a:chOff x="0" y="0"/>
          <a:chExt cx="0" cy="0"/>
        </a:xfrm>
      </p:grpSpPr>
      <p:sp>
        <p:nvSpPr>
          <p:cNvPr id="3" name="Text 0"/>
          <p:cNvSpPr txBox="1"/>
          <p:nvPr/>
        </p:nvSpPr>
        <p:spPr>
          <a:xfrm>
            <a:off x="566928" y="384048"/>
            <a:ext cx="11057839" cy="274320"/>
          </a:xfrm>
          <a:prstGeom prst="rect">
            <a:avLst/>
          </a:prstGeom>
          <a:noFill/>
          <a:ln/>
        </p:spPr>
        <p:txBody>
          <a:bodyPr wrap="square" lIns="0" tIns="0" rIns="0" bIns="0" rtlCol="0" anchor="ctr"/>
          <a:lstStyle/>
          <a:p>
            <a:pPr marL="0" indent="0">
              <a:buNone/>
            </a:pPr>
            <a:r>
              <a:rPr lang="en-US" sz="1400" b="1" kern="0" spc="300" dirty="0">
                <a:solidFill>
                  <a:srgbClr val="4ED8E6"/>
                </a:solidFill>
                <a:latin typeface="Calibri" pitchFamily="34" charset="0"/>
                <a:ea typeface="Calibri" pitchFamily="34" charset="-122"/>
                <a:cs typeface="Calibri" pitchFamily="34" charset="-120"/>
              </a:rPr>
              <a:t>ACTIVITY 1 · WHAT THE SYSTEM SAW</a:t>
            </a:r>
            <a:endParaRPr lang="en-US" sz="1400" dirty="0"/>
          </a:p>
        </p:txBody>
      </p:sp>
      <p:sp>
        <p:nvSpPr>
          <p:cNvPr id="4" name="Text 1"/>
          <p:cNvSpPr txBox="1"/>
          <p:nvPr/>
        </p:nvSpPr>
        <p:spPr>
          <a:xfrm>
            <a:off x="566928" y="676656"/>
            <a:ext cx="11057839" cy="658368"/>
          </a:xfrm>
          <a:prstGeom prst="rect">
            <a:avLst/>
          </a:prstGeom>
          <a:noFill/>
          <a:ln/>
        </p:spPr>
        <p:txBody>
          <a:bodyPr wrap="square" lIns="0" tIns="0" rIns="0" bIns="0" rtlCol="0" anchor="ctr"/>
          <a:lstStyle/>
          <a:p>
            <a:pPr marL="0" indent="0">
              <a:buNone/>
            </a:pPr>
            <a:r>
              <a:rPr lang="en-US" sz="3600" b="1" dirty="0">
                <a:solidFill>
                  <a:srgbClr val="EAF2F8"/>
                </a:solidFill>
                <a:latin typeface="Calibri" pitchFamily="34" charset="0"/>
                <a:ea typeface="Calibri" pitchFamily="34" charset="-122"/>
                <a:cs typeface="Calibri" pitchFamily="34" charset="-120"/>
              </a:rPr>
              <a:t>620 milliseconds after the engine quit</a:t>
            </a:r>
            <a:endParaRPr lang="en-US" sz="3600" dirty="0"/>
          </a:p>
        </p:txBody>
      </p:sp>
      <p:sp>
        <p:nvSpPr>
          <p:cNvPr id="5" name="a1_90"/>
          <p:cNvSpPr/>
          <p:nvPr/>
        </p:nvSpPr>
        <p:spPr>
          <a:xfrm>
            <a:off x="749808" y="1572768"/>
            <a:ext cx="201168" cy="201168"/>
          </a:xfrm>
          <a:prstGeom prst="ellipse">
            <a:avLst/>
          </a:prstGeom>
          <a:solidFill>
            <a:srgbClr val="4ED8E6"/>
          </a:solidFill>
          <a:ln w="12700">
            <a:solidFill>
              <a:srgbClr val="0A1628"/>
            </a:solidFill>
            <a:prstDash val="solid"/>
          </a:ln>
        </p:spPr>
        <p:txBody>
          <a:bodyPr/>
          <a:lstStyle/>
          <a:p>
            <a:endParaRPr lang="en-CA"/>
          </a:p>
        </p:txBody>
      </p:sp>
      <p:sp>
        <p:nvSpPr>
          <p:cNvPr id="6" name="a1_80"/>
          <p:cNvSpPr txBox="1"/>
          <p:nvPr/>
        </p:nvSpPr>
        <p:spPr>
          <a:xfrm>
            <a:off x="566928" y="1828800"/>
            <a:ext cx="2194560" cy="365760"/>
          </a:xfrm>
          <a:prstGeom prst="rect">
            <a:avLst/>
          </a:prstGeom>
          <a:noFill/>
          <a:ln/>
        </p:spPr>
        <p:txBody>
          <a:bodyPr wrap="square" lIns="0" tIns="0" rIns="0" bIns="0" rtlCol="0" anchor="ctr"/>
          <a:lstStyle/>
          <a:p>
            <a:pPr marL="0" indent="0">
              <a:buNone/>
            </a:pPr>
            <a:r>
              <a:rPr lang="en-US" sz="1300" dirty="0">
                <a:solidFill>
                  <a:srgbClr val="EAF2F8"/>
                </a:solidFill>
                <a:latin typeface="Calibri" pitchFamily="34" charset="0"/>
                <a:ea typeface="Calibri" pitchFamily="34" charset="-122"/>
                <a:cs typeface="Calibri" pitchFamily="34" charset="-120"/>
              </a:rPr>
              <a:t>18.2 s  past V1</a:t>
            </a:r>
            <a:endParaRPr lang="en-US" sz="1300" dirty="0"/>
          </a:p>
        </p:txBody>
      </p:sp>
      <p:sp>
        <p:nvSpPr>
          <p:cNvPr id="7" name="a1_91"/>
          <p:cNvSpPr/>
          <p:nvPr/>
        </p:nvSpPr>
        <p:spPr>
          <a:xfrm>
            <a:off x="3017520" y="1572768"/>
            <a:ext cx="201168" cy="201168"/>
          </a:xfrm>
          <a:prstGeom prst="ellipse">
            <a:avLst/>
          </a:prstGeom>
          <a:solidFill>
            <a:srgbClr val="FF8A5B"/>
          </a:solidFill>
          <a:ln w="12700">
            <a:solidFill>
              <a:srgbClr val="0A1628"/>
            </a:solidFill>
            <a:prstDash val="solid"/>
          </a:ln>
        </p:spPr>
        <p:txBody>
          <a:bodyPr/>
          <a:lstStyle/>
          <a:p>
            <a:endParaRPr lang="en-CA"/>
          </a:p>
        </p:txBody>
      </p:sp>
      <p:sp>
        <p:nvSpPr>
          <p:cNvPr id="8" name="a1_81"/>
          <p:cNvSpPr txBox="1"/>
          <p:nvPr/>
        </p:nvSpPr>
        <p:spPr>
          <a:xfrm>
            <a:off x="2834640" y="1828800"/>
            <a:ext cx="2194560" cy="365760"/>
          </a:xfrm>
          <a:prstGeom prst="rect">
            <a:avLst/>
          </a:prstGeom>
          <a:noFill/>
          <a:ln/>
        </p:spPr>
        <p:txBody>
          <a:bodyPr wrap="square" lIns="0" tIns="0" rIns="0" bIns="0" rtlCol="0" anchor="ctr"/>
          <a:lstStyle/>
          <a:p>
            <a:pPr marL="0" indent="0">
              <a:buNone/>
            </a:pPr>
            <a:r>
              <a:rPr lang="en-US" sz="1300" dirty="0">
                <a:solidFill>
                  <a:srgbClr val="9BB0C4"/>
                </a:solidFill>
                <a:latin typeface="Calibri" pitchFamily="34" charset="0"/>
                <a:ea typeface="Calibri" pitchFamily="34" charset="-122"/>
                <a:cs typeface="Calibri" pitchFamily="34" charset="-120"/>
              </a:rPr>
              <a:t>18.7 s  engine quits</a:t>
            </a:r>
            <a:endParaRPr lang="en-US" sz="1300" dirty="0"/>
          </a:p>
        </p:txBody>
      </p:sp>
      <p:sp>
        <p:nvSpPr>
          <p:cNvPr id="9" name="a2_92"/>
          <p:cNvSpPr/>
          <p:nvPr/>
        </p:nvSpPr>
        <p:spPr>
          <a:xfrm>
            <a:off x="5285232" y="1572768"/>
            <a:ext cx="201168" cy="201168"/>
          </a:xfrm>
          <a:prstGeom prst="ellipse">
            <a:avLst/>
          </a:prstGeom>
          <a:solidFill>
            <a:srgbClr val="FF8A5B"/>
          </a:solidFill>
          <a:ln w="12700">
            <a:solidFill>
              <a:srgbClr val="0A1628"/>
            </a:solidFill>
            <a:prstDash val="solid"/>
          </a:ln>
        </p:spPr>
        <p:txBody>
          <a:bodyPr/>
          <a:lstStyle/>
          <a:p>
            <a:endParaRPr lang="en-CA"/>
          </a:p>
        </p:txBody>
      </p:sp>
      <p:sp>
        <p:nvSpPr>
          <p:cNvPr id="10" name="a2_82"/>
          <p:cNvSpPr txBox="1"/>
          <p:nvPr/>
        </p:nvSpPr>
        <p:spPr>
          <a:xfrm>
            <a:off x="5102352" y="1828800"/>
            <a:ext cx="2194560" cy="365760"/>
          </a:xfrm>
          <a:prstGeom prst="rect">
            <a:avLst/>
          </a:prstGeom>
          <a:noFill/>
          <a:ln/>
        </p:spPr>
        <p:txBody>
          <a:bodyPr wrap="square" lIns="0" tIns="0" rIns="0" bIns="0" rtlCol="0" anchor="ctr"/>
          <a:lstStyle/>
          <a:p>
            <a:pPr marL="0" indent="0">
              <a:buNone/>
            </a:pPr>
            <a:r>
              <a:rPr lang="en-US" sz="1300" dirty="0">
                <a:solidFill>
                  <a:srgbClr val="9BB0C4"/>
                </a:solidFill>
                <a:latin typeface="Calibri" pitchFamily="34" charset="0"/>
                <a:ea typeface="Calibri" pitchFamily="34" charset="-122"/>
                <a:cs typeface="Calibri" pitchFamily="34" charset="-120"/>
              </a:rPr>
              <a:t>19.3 s  locked on one gauge</a:t>
            </a:r>
            <a:endParaRPr lang="en-US" sz="1300" dirty="0"/>
          </a:p>
        </p:txBody>
      </p:sp>
      <p:sp>
        <p:nvSpPr>
          <p:cNvPr id="11" name="a2_93"/>
          <p:cNvSpPr/>
          <p:nvPr/>
        </p:nvSpPr>
        <p:spPr>
          <a:xfrm>
            <a:off x="7552944" y="1572768"/>
            <a:ext cx="201168" cy="201168"/>
          </a:xfrm>
          <a:prstGeom prst="ellipse">
            <a:avLst/>
          </a:prstGeom>
          <a:solidFill>
            <a:srgbClr val="5BE39A"/>
          </a:solidFill>
          <a:ln w="12700">
            <a:solidFill>
              <a:srgbClr val="0A1628"/>
            </a:solidFill>
            <a:prstDash val="solid"/>
          </a:ln>
        </p:spPr>
        <p:txBody>
          <a:bodyPr/>
          <a:lstStyle/>
          <a:p>
            <a:endParaRPr lang="en-CA"/>
          </a:p>
        </p:txBody>
      </p:sp>
      <p:sp>
        <p:nvSpPr>
          <p:cNvPr id="12" name="a2_83"/>
          <p:cNvSpPr txBox="1"/>
          <p:nvPr/>
        </p:nvSpPr>
        <p:spPr>
          <a:xfrm>
            <a:off x="7370064" y="1828800"/>
            <a:ext cx="2194560" cy="365760"/>
          </a:xfrm>
          <a:prstGeom prst="rect">
            <a:avLst/>
          </a:prstGeom>
          <a:noFill/>
          <a:ln/>
        </p:spPr>
        <p:txBody>
          <a:bodyPr wrap="square" lIns="0" tIns="0" rIns="0" bIns="0" rtlCol="0" anchor="ctr"/>
          <a:lstStyle/>
          <a:p>
            <a:pPr marL="0" indent="0">
              <a:buNone/>
            </a:pPr>
            <a:r>
              <a:rPr lang="en-US" sz="1300" dirty="0">
                <a:solidFill>
                  <a:srgbClr val="9BB0C4"/>
                </a:solidFill>
                <a:latin typeface="Calibri" pitchFamily="34" charset="0"/>
                <a:ea typeface="Calibri" pitchFamily="34" charset="-122"/>
                <a:cs typeface="Calibri" pitchFamily="34" charset="-120"/>
              </a:rPr>
              <a:t>19.4 s  clutter dimmed</a:t>
            </a:r>
            <a:endParaRPr lang="en-US" sz="1300" dirty="0"/>
          </a:p>
        </p:txBody>
      </p:sp>
      <p:sp>
        <p:nvSpPr>
          <p:cNvPr id="13" name="a3_94"/>
          <p:cNvSpPr/>
          <p:nvPr/>
        </p:nvSpPr>
        <p:spPr>
          <a:xfrm>
            <a:off x="9820656" y="1572768"/>
            <a:ext cx="201168" cy="201168"/>
          </a:xfrm>
          <a:prstGeom prst="ellipse">
            <a:avLst/>
          </a:prstGeom>
          <a:solidFill>
            <a:srgbClr val="5BE39A"/>
          </a:solidFill>
          <a:ln w="12700">
            <a:solidFill>
              <a:srgbClr val="0A1628"/>
            </a:solidFill>
            <a:prstDash val="solid"/>
          </a:ln>
        </p:spPr>
        <p:txBody>
          <a:bodyPr/>
          <a:lstStyle/>
          <a:p>
            <a:endParaRPr lang="en-CA"/>
          </a:p>
        </p:txBody>
      </p:sp>
      <p:sp>
        <p:nvSpPr>
          <p:cNvPr id="14" name="a3_84"/>
          <p:cNvSpPr txBox="1"/>
          <p:nvPr/>
        </p:nvSpPr>
        <p:spPr>
          <a:xfrm>
            <a:off x="9637776" y="1828800"/>
            <a:ext cx="2194560" cy="365760"/>
          </a:xfrm>
          <a:prstGeom prst="rect">
            <a:avLst/>
          </a:prstGeom>
          <a:noFill/>
          <a:ln/>
        </p:spPr>
        <p:txBody>
          <a:bodyPr wrap="square" lIns="0" tIns="0" rIns="0" bIns="0" rtlCol="0" anchor="ctr"/>
          <a:lstStyle/>
          <a:p>
            <a:pPr marL="0" indent="0">
              <a:buNone/>
            </a:pPr>
            <a:r>
              <a:rPr lang="en-US" sz="1300" dirty="0">
                <a:solidFill>
                  <a:srgbClr val="9BB0C4"/>
                </a:solidFill>
                <a:latin typeface="Calibri" pitchFamily="34" charset="0"/>
                <a:ea typeface="Calibri" pitchFamily="34" charset="-122"/>
                <a:cs typeface="Calibri" pitchFamily="34" charset="-120"/>
              </a:rPr>
              <a:t>21.2 s  scanning again</a:t>
            </a:r>
            <a:endParaRPr lang="en-US" sz="1300" dirty="0"/>
          </a:p>
        </p:txBody>
      </p:sp>
      <p:sp>
        <p:nvSpPr>
          <p:cNvPr id="15" name="a1_01b"/>
          <p:cNvSpPr/>
          <p:nvPr/>
        </p:nvSpPr>
        <p:spPr>
          <a:xfrm>
            <a:off x="566928" y="2331720"/>
            <a:ext cx="3566160" cy="1170432"/>
          </a:xfrm>
          <a:prstGeom prst="roundRect">
            <a:avLst>
              <a:gd name="adj" fmla="val 6250"/>
            </a:avLst>
          </a:prstGeom>
          <a:solidFill>
            <a:srgbClr val="152A45"/>
          </a:solidFill>
          <a:ln w="12700">
            <a:solidFill>
              <a:srgbClr val="27425F"/>
            </a:solidFill>
            <a:prstDash val="solid"/>
          </a:ln>
        </p:spPr>
        <p:txBody>
          <a:bodyPr/>
          <a:lstStyle/>
          <a:p>
            <a:endParaRPr lang="en-CA"/>
          </a:p>
        </p:txBody>
      </p:sp>
      <p:sp>
        <p:nvSpPr>
          <p:cNvPr id="16" name="a1_01l"/>
          <p:cNvSpPr txBox="1"/>
          <p:nvPr/>
        </p:nvSpPr>
        <p:spPr>
          <a:xfrm>
            <a:off x="804672" y="2478024"/>
            <a:ext cx="3108960" cy="237744"/>
          </a:xfrm>
          <a:prstGeom prst="rect">
            <a:avLst/>
          </a:prstGeom>
          <a:noFill/>
          <a:ln/>
        </p:spPr>
        <p:txBody>
          <a:bodyPr wrap="square" lIns="0" tIns="0" rIns="0" bIns="0" rtlCol="0" anchor="ctr"/>
          <a:lstStyle/>
          <a:p>
            <a:pPr marL="0" indent="0">
              <a:buNone/>
            </a:pPr>
            <a:r>
              <a:rPr lang="en-US" sz="1200" kern="0" spc="120" dirty="0">
                <a:solidFill>
                  <a:srgbClr val="9BB0C4"/>
                </a:solidFill>
                <a:latin typeface="Calibri" pitchFamily="34" charset="0"/>
                <a:ea typeface="Calibri" pitchFamily="34" charset="-122"/>
                <a:cs typeface="Calibri" pitchFamily="34" charset="-120"/>
              </a:rPr>
              <a:t>PUPIL</a:t>
            </a:r>
            <a:endParaRPr lang="en-US" sz="1200" dirty="0"/>
          </a:p>
        </p:txBody>
      </p:sp>
      <p:sp>
        <p:nvSpPr>
          <p:cNvPr id="17" name="a1_01v"/>
          <p:cNvSpPr txBox="1"/>
          <p:nvPr/>
        </p:nvSpPr>
        <p:spPr>
          <a:xfrm>
            <a:off x="804672" y="2715768"/>
            <a:ext cx="3108960" cy="420624"/>
          </a:xfrm>
          <a:prstGeom prst="rect">
            <a:avLst/>
          </a:prstGeom>
          <a:noFill/>
          <a:ln/>
        </p:spPr>
        <p:txBody>
          <a:bodyPr wrap="square" lIns="0" tIns="0" rIns="0" bIns="0" rtlCol="0" anchor="ctr"/>
          <a:lstStyle/>
          <a:p>
            <a:pPr marL="0" indent="0">
              <a:buNone/>
            </a:pPr>
            <a:r>
              <a:rPr lang="en-US" sz="2600" b="1" dirty="0">
                <a:solidFill>
                  <a:srgbClr val="5BE39A"/>
                </a:solidFill>
                <a:latin typeface="Calibri" pitchFamily="34" charset="0"/>
                <a:ea typeface="Calibri" pitchFamily="34" charset="-122"/>
                <a:cs typeface="Calibri" pitchFamily="34" charset="-120"/>
              </a:rPr>
              <a:t>4.2 mm</a:t>
            </a:r>
            <a:endParaRPr lang="en-US" sz="2600" dirty="0"/>
          </a:p>
        </p:txBody>
      </p:sp>
      <p:sp>
        <p:nvSpPr>
          <p:cNvPr id="18" name="a1_01t"/>
          <p:cNvSpPr/>
          <p:nvPr/>
        </p:nvSpPr>
        <p:spPr>
          <a:xfrm>
            <a:off x="804672" y="3227832"/>
            <a:ext cx="3090672" cy="109728"/>
          </a:xfrm>
          <a:prstGeom prst="roundRect">
            <a:avLst>
              <a:gd name="adj" fmla="val 50000"/>
            </a:avLst>
          </a:prstGeom>
          <a:solidFill>
            <a:srgbClr val="1F3A57"/>
          </a:solidFill>
          <a:ln w="12700">
            <a:solidFill>
              <a:srgbClr val="1F3A57"/>
            </a:solidFill>
            <a:prstDash val="solid"/>
          </a:ln>
        </p:spPr>
        <p:txBody>
          <a:bodyPr/>
          <a:lstStyle/>
          <a:p>
            <a:endParaRPr lang="en-CA"/>
          </a:p>
        </p:txBody>
      </p:sp>
      <p:sp>
        <p:nvSpPr>
          <p:cNvPr id="19" name="a1_01f"/>
          <p:cNvSpPr/>
          <p:nvPr/>
        </p:nvSpPr>
        <p:spPr>
          <a:xfrm>
            <a:off x="804672" y="3227832"/>
            <a:ext cx="865388" cy="109728"/>
          </a:xfrm>
          <a:prstGeom prst="roundRect">
            <a:avLst>
              <a:gd name="adj" fmla="val 50000"/>
            </a:avLst>
          </a:prstGeom>
          <a:solidFill>
            <a:srgbClr val="5BE39A"/>
          </a:solidFill>
          <a:ln w="12700">
            <a:solidFill>
              <a:srgbClr val="5BE39A"/>
            </a:solidFill>
            <a:prstDash val="solid"/>
          </a:ln>
        </p:spPr>
        <p:txBody>
          <a:bodyPr/>
          <a:lstStyle/>
          <a:p>
            <a:endParaRPr lang="en-CA"/>
          </a:p>
        </p:txBody>
      </p:sp>
      <p:sp>
        <p:nvSpPr>
          <p:cNvPr id="20" name="a1_02b"/>
          <p:cNvSpPr/>
          <p:nvPr/>
        </p:nvSpPr>
        <p:spPr>
          <a:xfrm>
            <a:off x="4334256" y="2331720"/>
            <a:ext cx="3566160" cy="1170432"/>
          </a:xfrm>
          <a:prstGeom prst="roundRect">
            <a:avLst>
              <a:gd name="adj" fmla="val 6250"/>
            </a:avLst>
          </a:prstGeom>
          <a:solidFill>
            <a:srgbClr val="152A45"/>
          </a:solidFill>
          <a:ln w="12700">
            <a:solidFill>
              <a:srgbClr val="27425F"/>
            </a:solidFill>
            <a:prstDash val="solid"/>
          </a:ln>
        </p:spPr>
        <p:txBody>
          <a:bodyPr/>
          <a:lstStyle/>
          <a:p>
            <a:endParaRPr lang="en-CA"/>
          </a:p>
        </p:txBody>
      </p:sp>
      <p:sp>
        <p:nvSpPr>
          <p:cNvPr id="21" name="a1_02l"/>
          <p:cNvSpPr txBox="1"/>
          <p:nvPr/>
        </p:nvSpPr>
        <p:spPr>
          <a:xfrm>
            <a:off x="4572000" y="2478024"/>
            <a:ext cx="3108960" cy="237744"/>
          </a:xfrm>
          <a:prstGeom prst="rect">
            <a:avLst/>
          </a:prstGeom>
          <a:noFill/>
          <a:ln/>
        </p:spPr>
        <p:txBody>
          <a:bodyPr wrap="square" lIns="0" tIns="0" rIns="0" bIns="0" rtlCol="0" anchor="ctr"/>
          <a:lstStyle/>
          <a:p>
            <a:pPr marL="0" indent="0">
              <a:buNone/>
            </a:pPr>
            <a:r>
              <a:rPr lang="en-US" sz="1200" kern="0" spc="120" dirty="0">
                <a:solidFill>
                  <a:srgbClr val="9BB0C4"/>
                </a:solidFill>
                <a:latin typeface="Calibri" pitchFamily="34" charset="0"/>
                <a:ea typeface="Calibri" pitchFamily="34" charset="-122"/>
                <a:cs typeface="Calibri" pitchFamily="34" charset="-120"/>
              </a:rPr>
              <a:t>BRAIN, FRONT</a:t>
            </a:r>
            <a:endParaRPr lang="en-US" sz="1200" dirty="0"/>
          </a:p>
        </p:txBody>
      </p:sp>
      <p:sp>
        <p:nvSpPr>
          <p:cNvPr id="22" name="a1_02v"/>
          <p:cNvSpPr txBox="1"/>
          <p:nvPr/>
        </p:nvSpPr>
        <p:spPr>
          <a:xfrm>
            <a:off x="4572000" y="2715768"/>
            <a:ext cx="3108960" cy="420624"/>
          </a:xfrm>
          <a:prstGeom prst="rect">
            <a:avLst/>
          </a:prstGeom>
          <a:noFill/>
          <a:ln/>
        </p:spPr>
        <p:txBody>
          <a:bodyPr wrap="square" lIns="0" tIns="0" rIns="0" bIns="0" rtlCol="0" anchor="ctr"/>
          <a:lstStyle/>
          <a:p>
            <a:pPr marL="0" indent="0">
              <a:buNone/>
            </a:pPr>
            <a:r>
              <a:rPr lang="en-US" sz="2600" b="1" dirty="0">
                <a:solidFill>
                  <a:srgbClr val="5BE39A"/>
                </a:solidFill>
                <a:latin typeface="Calibri" pitchFamily="34" charset="0"/>
                <a:ea typeface="Calibri" pitchFamily="34" charset="-122"/>
                <a:cs typeface="Calibri" pitchFamily="34" charset="-120"/>
              </a:rPr>
              <a:t>quiet</a:t>
            </a:r>
            <a:endParaRPr lang="en-US" sz="2600" dirty="0"/>
          </a:p>
        </p:txBody>
      </p:sp>
      <p:sp>
        <p:nvSpPr>
          <p:cNvPr id="23" name="a1_02t"/>
          <p:cNvSpPr/>
          <p:nvPr/>
        </p:nvSpPr>
        <p:spPr>
          <a:xfrm>
            <a:off x="4572000" y="3227832"/>
            <a:ext cx="3090672" cy="109728"/>
          </a:xfrm>
          <a:prstGeom prst="roundRect">
            <a:avLst>
              <a:gd name="adj" fmla="val 50000"/>
            </a:avLst>
          </a:prstGeom>
          <a:solidFill>
            <a:srgbClr val="1F3A57"/>
          </a:solidFill>
          <a:ln w="12700">
            <a:solidFill>
              <a:srgbClr val="1F3A57"/>
            </a:solidFill>
            <a:prstDash val="solid"/>
          </a:ln>
        </p:spPr>
        <p:txBody>
          <a:bodyPr/>
          <a:lstStyle/>
          <a:p>
            <a:endParaRPr lang="en-CA"/>
          </a:p>
        </p:txBody>
      </p:sp>
      <p:sp>
        <p:nvSpPr>
          <p:cNvPr id="24" name="a1_02f"/>
          <p:cNvSpPr/>
          <p:nvPr/>
        </p:nvSpPr>
        <p:spPr>
          <a:xfrm>
            <a:off x="4572000" y="3227832"/>
            <a:ext cx="741761" cy="109728"/>
          </a:xfrm>
          <a:prstGeom prst="roundRect">
            <a:avLst>
              <a:gd name="adj" fmla="val 50000"/>
            </a:avLst>
          </a:prstGeom>
          <a:solidFill>
            <a:srgbClr val="5BE39A"/>
          </a:solidFill>
          <a:ln w="12700">
            <a:solidFill>
              <a:srgbClr val="5BE39A"/>
            </a:solidFill>
            <a:prstDash val="solid"/>
          </a:ln>
        </p:spPr>
        <p:txBody>
          <a:bodyPr/>
          <a:lstStyle/>
          <a:p>
            <a:endParaRPr lang="en-CA"/>
          </a:p>
        </p:txBody>
      </p:sp>
      <p:sp>
        <p:nvSpPr>
          <p:cNvPr id="25" name="a1_03b"/>
          <p:cNvSpPr/>
          <p:nvPr/>
        </p:nvSpPr>
        <p:spPr>
          <a:xfrm>
            <a:off x="8101584" y="2331720"/>
            <a:ext cx="3566160" cy="1170432"/>
          </a:xfrm>
          <a:prstGeom prst="roundRect">
            <a:avLst>
              <a:gd name="adj" fmla="val 6250"/>
            </a:avLst>
          </a:prstGeom>
          <a:solidFill>
            <a:srgbClr val="152A45"/>
          </a:solidFill>
          <a:ln w="12700">
            <a:solidFill>
              <a:srgbClr val="27425F"/>
            </a:solidFill>
            <a:prstDash val="solid"/>
          </a:ln>
        </p:spPr>
        <p:txBody>
          <a:bodyPr/>
          <a:lstStyle/>
          <a:p>
            <a:endParaRPr lang="en-CA"/>
          </a:p>
        </p:txBody>
      </p:sp>
      <p:sp>
        <p:nvSpPr>
          <p:cNvPr id="26" name="a1_03l"/>
          <p:cNvSpPr txBox="1"/>
          <p:nvPr/>
        </p:nvSpPr>
        <p:spPr>
          <a:xfrm>
            <a:off x="8339328" y="2478024"/>
            <a:ext cx="3108960" cy="237744"/>
          </a:xfrm>
          <a:prstGeom prst="rect">
            <a:avLst/>
          </a:prstGeom>
          <a:noFill/>
          <a:ln/>
        </p:spPr>
        <p:txBody>
          <a:bodyPr wrap="square" lIns="0" tIns="0" rIns="0" bIns="0" rtlCol="0" anchor="ctr"/>
          <a:lstStyle/>
          <a:p>
            <a:pPr marL="0" indent="0">
              <a:buNone/>
            </a:pPr>
            <a:r>
              <a:rPr lang="en-US" sz="1200" kern="0" spc="120" dirty="0">
                <a:solidFill>
                  <a:srgbClr val="9BB0C4"/>
                </a:solidFill>
                <a:latin typeface="Calibri" pitchFamily="34" charset="0"/>
                <a:ea typeface="Calibri" pitchFamily="34" charset="-122"/>
                <a:cs typeface="Calibri" pitchFamily="34" charset="-120"/>
              </a:rPr>
              <a:t>HEART RATIO</a:t>
            </a:r>
            <a:endParaRPr lang="en-US" sz="1200" dirty="0"/>
          </a:p>
        </p:txBody>
      </p:sp>
      <p:sp>
        <p:nvSpPr>
          <p:cNvPr id="27" name="a1_03v"/>
          <p:cNvSpPr txBox="1"/>
          <p:nvPr/>
        </p:nvSpPr>
        <p:spPr>
          <a:xfrm>
            <a:off x="8339328" y="2715768"/>
            <a:ext cx="3108960" cy="420624"/>
          </a:xfrm>
          <a:prstGeom prst="rect">
            <a:avLst/>
          </a:prstGeom>
          <a:noFill/>
          <a:ln/>
        </p:spPr>
        <p:txBody>
          <a:bodyPr wrap="square" lIns="0" tIns="0" rIns="0" bIns="0" rtlCol="0" anchor="ctr"/>
          <a:lstStyle/>
          <a:p>
            <a:pPr marL="0" indent="0">
              <a:buNone/>
            </a:pPr>
            <a:r>
              <a:rPr lang="en-US" sz="2600" b="1" dirty="0">
                <a:solidFill>
                  <a:srgbClr val="5BE39A"/>
                </a:solidFill>
                <a:latin typeface="Calibri" pitchFamily="34" charset="0"/>
                <a:ea typeface="Calibri" pitchFamily="34" charset="-122"/>
                <a:cs typeface="Calibri" pitchFamily="34" charset="-120"/>
              </a:rPr>
              <a:t>1.2</a:t>
            </a:r>
            <a:endParaRPr lang="en-US" sz="2600" dirty="0"/>
          </a:p>
        </p:txBody>
      </p:sp>
      <p:sp>
        <p:nvSpPr>
          <p:cNvPr id="28" name="a1_03t"/>
          <p:cNvSpPr/>
          <p:nvPr/>
        </p:nvSpPr>
        <p:spPr>
          <a:xfrm>
            <a:off x="8339328" y="3227832"/>
            <a:ext cx="3090672" cy="109728"/>
          </a:xfrm>
          <a:prstGeom prst="roundRect">
            <a:avLst>
              <a:gd name="adj" fmla="val 50000"/>
            </a:avLst>
          </a:prstGeom>
          <a:solidFill>
            <a:srgbClr val="1F3A57"/>
          </a:solidFill>
          <a:ln w="12700">
            <a:solidFill>
              <a:srgbClr val="1F3A57"/>
            </a:solidFill>
            <a:prstDash val="solid"/>
          </a:ln>
        </p:spPr>
        <p:txBody>
          <a:bodyPr/>
          <a:lstStyle/>
          <a:p>
            <a:endParaRPr lang="en-CA"/>
          </a:p>
        </p:txBody>
      </p:sp>
      <p:sp>
        <p:nvSpPr>
          <p:cNvPr id="29" name="a1_03f"/>
          <p:cNvSpPr/>
          <p:nvPr/>
        </p:nvSpPr>
        <p:spPr>
          <a:xfrm>
            <a:off x="8339328" y="3227832"/>
            <a:ext cx="618134" cy="109728"/>
          </a:xfrm>
          <a:prstGeom prst="roundRect">
            <a:avLst>
              <a:gd name="adj" fmla="val 50000"/>
            </a:avLst>
          </a:prstGeom>
          <a:solidFill>
            <a:srgbClr val="5BE39A"/>
          </a:solidFill>
          <a:ln w="12700">
            <a:solidFill>
              <a:srgbClr val="5BE39A"/>
            </a:solidFill>
            <a:prstDash val="solid"/>
          </a:ln>
        </p:spPr>
        <p:txBody>
          <a:bodyPr/>
          <a:lstStyle/>
          <a:p>
            <a:endParaRPr lang="en-CA"/>
          </a:p>
        </p:txBody>
      </p:sp>
      <p:sp>
        <p:nvSpPr>
          <p:cNvPr id="30" name="a2_01b"/>
          <p:cNvSpPr/>
          <p:nvPr/>
        </p:nvSpPr>
        <p:spPr>
          <a:xfrm>
            <a:off x="566928" y="3611880"/>
            <a:ext cx="3566160" cy="1170432"/>
          </a:xfrm>
          <a:prstGeom prst="roundRect">
            <a:avLst>
              <a:gd name="adj" fmla="val 6250"/>
            </a:avLst>
          </a:prstGeom>
          <a:solidFill>
            <a:srgbClr val="152A45"/>
          </a:solidFill>
          <a:ln w="12700">
            <a:solidFill>
              <a:srgbClr val="27425F"/>
            </a:solidFill>
            <a:prstDash val="solid"/>
          </a:ln>
        </p:spPr>
        <p:txBody>
          <a:bodyPr/>
          <a:lstStyle/>
          <a:p>
            <a:endParaRPr lang="en-CA"/>
          </a:p>
        </p:txBody>
      </p:sp>
      <p:sp>
        <p:nvSpPr>
          <p:cNvPr id="31" name="a2_01l"/>
          <p:cNvSpPr txBox="1"/>
          <p:nvPr/>
        </p:nvSpPr>
        <p:spPr>
          <a:xfrm>
            <a:off x="804672" y="3758184"/>
            <a:ext cx="3108960" cy="237744"/>
          </a:xfrm>
          <a:prstGeom prst="rect">
            <a:avLst/>
          </a:prstGeom>
          <a:noFill/>
          <a:ln/>
        </p:spPr>
        <p:txBody>
          <a:bodyPr wrap="square" lIns="0" tIns="0" rIns="0" bIns="0" rtlCol="0" anchor="ctr"/>
          <a:lstStyle/>
          <a:p>
            <a:pPr marL="0" indent="0">
              <a:buNone/>
            </a:pPr>
            <a:r>
              <a:rPr lang="en-US" sz="1200" kern="0" spc="120" dirty="0">
                <a:solidFill>
                  <a:srgbClr val="9BB0C4"/>
                </a:solidFill>
                <a:latin typeface="Calibri" pitchFamily="34" charset="0"/>
                <a:ea typeface="Calibri" pitchFamily="34" charset="-122"/>
                <a:cs typeface="Calibri" pitchFamily="34" charset="-120"/>
              </a:rPr>
              <a:t>PUPIL</a:t>
            </a:r>
            <a:endParaRPr lang="en-US" sz="1200" dirty="0"/>
          </a:p>
        </p:txBody>
      </p:sp>
      <p:sp>
        <p:nvSpPr>
          <p:cNvPr id="32" name="a2_01v"/>
          <p:cNvSpPr txBox="1"/>
          <p:nvPr/>
        </p:nvSpPr>
        <p:spPr>
          <a:xfrm>
            <a:off x="804672" y="3995928"/>
            <a:ext cx="3108960" cy="420624"/>
          </a:xfrm>
          <a:prstGeom prst="rect">
            <a:avLst/>
          </a:prstGeom>
          <a:noFill/>
          <a:ln/>
        </p:spPr>
        <p:txBody>
          <a:bodyPr wrap="square" lIns="0" tIns="0" rIns="0" bIns="0" rtlCol="0" anchor="ctr"/>
          <a:lstStyle/>
          <a:p>
            <a:pPr marL="0" indent="0">
              <a:buNone/>
            </a:pPr>
            <a:r>
              <a:rPr lang="en-US" sz="2600" b="1" dirty="0">
                <a:solidFill>
                  <a:srgbClr val="FF8A5B"/>
                </a:solidFill>
                <a:latin typeface="Calibri" pitchFamily="34" charset="0"/>
                <a:ea typeface="Calibri" pitchFamily="34" charset="-122"/>
                <a:cs typeface="Calibri" pitchFamily="34" charset="-120"/>
              </a:rPr>
              <a:t>6.8 mm</a:t>
            </a:r>
            <a:endParaRPr lang="en-US" sz="2600" dirty="0"/>
          </a:p>
        </p:txBody>
      </p:sp>
      <p:sp>
        <p:nvSpPr>
          <p:cNvPr id="33" name="a2_01t"/>
          <p:cNvSpPr/>
          <p:nvPr/>
        </p:nvSpPr>
        <p:spPr>
          <a:xfrm>
            <a:off x="804672" y="4507992"/>
            <a:ext cx="3090672" cy="109728"/>
          </a:xfrm>
          <a:prstGeom prst="roundRect">
            <a:avLst>
              <a:gd name="adj" fmla="val 50000"/>
            </a:avLst>
          </a:prstGeom>
          <a:solidFill>
            <a:srgbClr val="1F3A57"/>
          </a:solidFill>
          <a:ln w="12700">
            <a:solidFill>
              <a:srgbClr val="1F3A57"/>
            </a:solidFill>
            <a:prstDash val="solid"/>
          </a:ln>
        </p:spPr>
        <p:txBody>
          <a:bodyPr/>
          <a:lstStyle/>
          <a:p>
            <a:endParaRPr lang="en-CA"/>
          </a:p>
        </p:txBody>
      </p:sp>
      <p:sp>
        <p:nvSpPr>
          <p:cNvPr id="34" name="a2_01f"/>
          <p:cNvSpPr/>
          <p:nvPr/>
        </p:nvSpPr>
        <p:spPr>
          <a:xfrm>
            <a:off x="804672" y="4507992"/>
            <a:ext cx="2843418" cy="109728"/>
          </a:xfrm>
          <a:prstGeom prst="roundRect">
            <a:avLst>
              <a:gd name="adj" fmla="val 50000"/>
            </a:avLst>
          </a:prstGeom>
          <a:solidFill>
            <a:srgbClr val="FF8A5B"/>
          </a:solidFill>
          <a:ln w="12700">
            <a:solidFill>
              <a:srgbClr val="FF8A5B"/>
            </a:solidFill>
            <a:prstDash val="solid"/>
          </a:ln>
        </p:spPr>
        <p:txBody>
          <a:bodyPr/>
          <a:lstStyle/>
          <a:p>
            <a:endParaRPr lang="en-CA"/>
          </a:p>
        </p:txBody>
      </p:sp>
      <p:sp>
        <p:nvSpPr>
          <p:cNvPr id="35" name="a2_02b"/>
          <p:cNvSpPr/>
          <p:nvPr/>
        </p:nvSpPr>
        <p:spPr>
          <a:xfrm>
            <a:off x="4334256" y="3611880"/>
            <a:ext cx="3566160" cy="1170432"/>
          </a:xfrm>
          <a:prstGeom prst="roundRect">
            <a:avLst>
              <a:gd name="adj" fmla="val 6250"/>
            </a:avLst>
          </a:prstGeom>
          <a:solidFill>
            <a:srgbClr val="152A45"/>
          </a:solidFill>
          <a:ln w="12700">
            <a:solidFill>
              <a:srgbClr val="27425F"/>
            </a:solidFill>
            <a:prstDash val="solid"/>
          </a:ln>
        </p:spPr>
        <p:txBody>
          <a:bodyPr/>
          <a:lstStyle/>
          <a:p>
            <a:endParaRPr lang="en-CA"/>
          </a:p>
        </p:txBody>
      </p:sp>
      <p:sp>
        <p:nvSpPr>
          <p:cNvPr id="36" name="a2_02l"/>
          <p:cNvSpPr txBox="1"/>
          <p:nvPr/>
        </p:nvSpPr>
        <p:spPr>
          <a:xfrm>
            <a:off x="4572000" y="3758184"/>
            <a:ext cx="3108960" cy="237744"/>
          </a:xfrm>
          <a:prstGeom prst="rect">
            <a:avLst/>
          </a:prstGeom>
          <a:noFill/>
          <a:ln/>
        </p:spPr>
        <p:txBody>
          <a:bodyPr wrap="square" lIns="0" tIns="0" rIns="0" bIns="0" rtlCol="0" anchor="ctr"/>
          <a:lstStyle/>
          <a:p>
            <a:pPr marL="0" indent="0">
              <a:buNone/>
            </a:pPr>
            <a:r>
              <a:rPr lang="en-US" sz="1200" kern="0" spc="120" dirty="0">
                <a:solidFill>
                  <a:srgbClr val="9BB0C4"/>
                </a:solidFill>
                <a:latin typeface="Calibri" pitchFamily="34" charset="0"/>
                <a:ea typeface="Calibri" pitchFamily="34" charset="-122"/>
                <a:cs typeface="Calibri" pitchFamily="34" charset="-120"/>
              </a:rPr>
              <a:t>BRAIN, FRONT</a:t>
            </a:r>
            <a:endParaRPr lang="en-US" sz="1200" dirty="0"/>
          </a:p>
        </p:txBody>
      </p:sp>
      <p:sp>
        <p:nvSpPr>
          <p:cNvPr id="37" name="a2_02v"/>
          <p:cNvSpPr txBox="1"/>
          <p:nvPr/>
        </p:nvSpPr>
        <p:spPr>
          <a:xfrm>
            <a:off x="4572000" y="3995928"/>
            <a:ext cx="3108960" cy="420624"/>
          </a:xfrm>
          <a:prstGeom prst="rect">
            <a:avLst/>
          </a:prstGeom>
          <a:noFill/>
          <a:ln/>
        </p:spPr>
        <p:txBody>
          <a:bodyPr wrap="square" lIns="0" tIns="0" rIns="0" bIns="0" rtlCol="0" anchor="ctr"/>
          <a:lstStyle/>
          <a:p>
            <a:pPr marL="0" indent="0">
              <a:buNone/>
            </a:pPr>
            <a:r>
              <a:rPr lang="en-US" sz="2600" b="1" dirty="0">
                <a:solidFill>
                  <a:srgbClr val="FF8A5B"/>
                </a:solidFill>
                <a:latin typeface="Calibri" pitchFamily="34" charset="0"/>
                <a:ea typeface="Calibri" pitchFamily="34" charset="-122"/>
                <a:cs typeface="Calibri" pitchFamily="34" charset="-120"/>
              </a:rPr>
              <a:t>up 1.8 dB</a:t>
            </a:r>
            <a:endParaRPr lang="en-US" sz="2600" dirty="0"/>
          </a:p>
        </p:txBody>
      </p:sp>
      <p:sp>
        <p:nvSpPr>
          <p:cNvPr id="38" name="a2_02t"/>
          <p:cNvSpPr/>
          <p:nvPr/>
        </p:nvSpPr>
        <p:spPr>
          <a:xfrm>
            <a:off x="4572000" y="4507992"/>
            <a:ext cx="3090672" cy="109728"/>
          </a:xfrm>
          <a:prstGeom prst="roundRect">
            <a:avLst>
              <a:gd name="adj" fmla="val 50000"/>
            </a:avLst>
          </a:prstGeom>
          <a:solidFill>
            <a:srgbClr val="1F3A57"/>
          </a:solidFill>
          <a:ln w="12700">
            <a:solidFill>
              <a:srgbClr val="1F3A57"/>
            </a:solidFill>
            <a:prstDash val="solid"/>
          </a:ln>
        </p:spPr>
        <p:txBody>
          <a:bodyPr/>
          <a:lstStyle/>
          <a:p>
            <a:endParaRPr lang="en-CA"/>
          </a:p>
        </p:txBody>
      </p:sp>
      <p:sp>
        <p:nvSpPr>
          <p:cNvPr id="39" name="a2_02f"/>
          <p:cNvSpPr/>
          <p:nvPr/>
        </p:nvSpPr>
        <p:spPr>
          <a:xfrm>
            <a:off x="4572000" y="4507992"/>
            <a:ext cx="2410724" cy="109728"/>
          </a:xfrm>
          <a:prstGeom prst="roundRect">
            <a:avLst>
              <a:gd name="adj" fmla="val 50000"/>
            </a:avLst>
          </a:prstGeom>
          <a:solidFill>
            <a:srgbClr val="FF8A5B"/>
          </a:solidFill>
          <a:ln w="12700">
            <a:solidFill>
              <a:srgbClr val="FF8A5B"/>
            </a:solidFill>
            <a:prstDash val="solid"/>
          </a:ln>
        </p:spPr>
        <p:txBody>
          <a:bodyPr/>
          <a:lstStyle/>
          <a:p>
            <a:endParaRPr lang="en-CA"/>
          </a:p>
        </p:txBody>
      </p:sp>
      <p:sp>
        <p:nvSpPr>
          <p:cNvPr id="40" name="a2_03b"/>
          <p:cNvSpPr/>
          <p:nvPr/>
        </p:nvSpPr>
        <p:spPr>
          <a:xfrm>
            <a:off x="8101584" y="3611880"/>
            <a:ext cx="3566160" cy="1170432"/>
          </a:xfrm>
          <a:prstGeom prst="roundRect">
            <a:avLst>
              <a:gd name="adj" fmla="val 6250"/>
            </a:avLst>
          </a:prstGeom>
          <a:solidFill>
            <a:srgbClr val="152A45"/>
          </a:solidFill>
          <a:ln w="12700">
            <a:solidFill>
              <a:srgbClr val="27425F"/>
            </a:solidFill>
            <a:prstDash val="solid"/>
          </a:ln>
        </p:spPr>
        <p:txBody>
          <a:bodyPr/>
          <a:lstStyle/>
          <a:p>
            <a:endParaRPr lang="en-CA"/>
          </a:p>
        </p:txBody>
      </p:sp>
      <p:sp>
        <p:nvSpPr>
          <p:cNvPr id="41" name="a2_03l"/>
          <p:cNvSpPr txBox="1"/>
          <p:nvPr/>
        </p:nvSpPr>
        <p:spPr>
          <a:xfrm>
            <a:off x="8339328" y="3758184"/>
            <a:ext cx="3108960" cy="237744"/>
          </a:xfrm>
          <a:prstGeom prst="rect">
            <a:avLst/>
          </a:prstGeom>
          <a:noFill/>
          <a:ln/>
        </p:spPr>
        <p:txBody>
          <a:bodyPr wrap="square" lIns="0" tIns="0" rIns="0" bIns="0" rtlCol="0" anchor="ctr"/>
          <a:lstStyle/>
          <a:p>
            <a:pPr marL="0" indent="0">
              <a:buNone/>
            </a:pPr>
            <a:r>
              <a:rPr lang="en-US" sz="1200" kern="0" spc="120" dirty="0">
                <a:solidFill>
                  <a:srgbClr val="9BB0C4"/>
                </a:solidFill>
                <a:latin typeface="Calibri" pitchFamily="34" charset="0"/>
                <a:ea typeface="Calibri" pitchFamily="34" charset="-122"/>
                <a:cs typeface="Calibri" pitchFamily="34" charset="-120"/>
              </a:rPr>
              <a:t>HEART RATIO</a:t>
            </a:r>
            <a:endParaRPr lang="en-US" sz="1200" dirty="0"/>
          </a:p>
        </p:txBody>
      </p:sp>
      <p:sp>
        <p:nvSpPr>
          <p:cNvPr id="42" name="a2_03v"/>
          <p:cNvSpPr txBox="1"/>
          <p:nvPr/>
        </p:nvSpPr>
        <p:spPr>
          <a:xfrm>
            <a:off x="8339328" y="3995928"/>
            <a:ext cx="3108960" cy="420624"/>
          </a:xfrm>
          <a:prstGeom prst="rect">
            <a:avLst/>
          </a:prstGeom>
          <a:noFill/>
          <a:ln/>
        </p:spPr>
        <p:txBody>
          <a:bodyPr wrap="square" lIns="0" tIns="0" rIns="0" bIns="0" rtlCol="0" anchor="ctr"/>
          <a:lstStyle/>
          <a:p>
            <a:pPr marL="0" indent="0">
              <a:buNone/>
            </a:pPr>
            <a:r>
              <a:rPr lang="en-US" sz="2600" b="1" dirty="0">
                <a:solidFill>
                  <a:srgbClr val="FF8A5B"/>
                </a:solidFill>
                <a:latin typeface="Calibri" pitchFamily="34" charset="0"/>
                <a:ea typeface="Calibri" pitchFamily="34" charset="-122"/>
                <a:cs typeface="Calibri" pitchFamily="34" charset="-120"/>
              </a:rPr>
              <a:t>4.1</a:t>
            </a:r>
            <a:endParaRPr lang="en-US" sz="2600" dirty="0"/>
          </a:p>
        </p:txBody>
      </p:sp>
      <p:sp>
        <p:nvSpPr>
          <p:cNvPr id="43" name="a2_03t"/>
          <p:cNvSpPr/>
          <p:nvPr/>
        </p:nvSpPr>
        <p:spPr>
          <a:xfrm>
            <a:off x="8339328" y="4507992"/>
            <a:ext cx="3090672" cy="109728"/>
          </a:xfrm>
          <a:prstGeom prst="roundRect">
            <a:avLst>
              <a:gd name="adj" fmla="val 50000"/>
            </a:avLst>
          </a:prstGeom>
          <a:solidFill>
            <a:srgbClr val="1F3A57"/>
          </a:solidFill>
          <a:ln w="12700">
            <a:solidFill>
              <a:srgbClr val="1F3A57"/>
            </a:solidFill>
            <a:prstDash val="solid"/>
          </a:ln>
        </p:spPr>
        <p:txBody>
          <a:bodyPr/>
          <a:lstStyle/>
          <a:p>
            <a:endParaRPr lang="en-CA"/>
          </a:p>
        </p:txBody>
      </p:sp>
      <p:sp>
        <p:nvSpPr>
          <p:cNvPr id="44" name="a2_03f"/>
          <p:cNvSpPr/>
          <p:nvPr/>
        </p:nvSpPr>
        <p:spPr>
          <a:xfrm>
            <a:off x="8339328" y="4507992"/>
            <a:ext cx="2657978" cy="109728"/>
          </a:xfrm>
          <a:prstGeom prst="roundRect">
            <a:avLst>
              <a:gd name="adj" fmla="val 50000"/>
            </a:avLst>
          </a:prstGeom>
          <a:solidFill>
            <a:srgbClr val="FF8A5B"/>
          </a:solidFill>
          <a:ln w="12700">
            <a:solidFill>
              <a:srgbClr val="FF8A5B"/>
            </a:solidFill>
            <a:prstDash val="solid"/>
          </a:ln>
        </p:spPr>
        <p:txBody>
          <a:bodyPr/>
          <a:lstStyle/>
          <a:p>
            <a:endParaRPr lang="en-CA"/>
          </a:p>
        </p:txBody>
      </p:sp>
      <p:sp>
        <p:nvSpPr>
          <p:cNvPr id="45" name="a3_01b"/>
          <p:cNvSpPr/>
          <p:nvPr/>
        </p:nvSpPr>
        <p:spPr>
          <a:xfrm>
            <a:off x="566928" y="4937760"/>
            <a:ext cx="11057839" cy="1143000"/>
          </a:xfrm>
          <a:prstGeom prst="roundRect">
            <a:avLst>
              <a:gd name="adj" fmla="val 6400"/>
            </a:avLst>
          </a:prstGeom>
          <a:solidFill>
            <a:srgbClr val="152A45"/>
          </a:solidFill>
          <a:ln w="12700">
            <a:solidFill>
              <a:srgbClr val="27425F"/>
            </a:solidFill>
            <a:prstDash val="solid"/>
          </a:ln>
        </p:spPr>
        <p:txBody>
          <a:bodyPr/>
          <a:lstStyle/>
          <a:p>
            <a:endParaRPr lang="en-CA"/>
          </a:p>
        </p:txBody>
      </p:sp>
      <p:sp>
        <p:nvSpPr>
          <p:cNvPr id="46" name="a3_01e"/>
          <p:cNvSpPr txBox="1"/>
          <p:nvPr/>
        </p:nvSpPr>
        <p:spPr>
          <a:xfrm>
            <a:off x="841248" y="5120640"/>
            <a:ext cx="10509199" cy="457200"/>
          </a:xfrm>
          <a:prstGeom prst="rect">
            <a:avLst/>
          </a:prstGeom>
          <a:noFill/>
          <a:ln/>
        </p:spPr>
        <p:txBody>
          <a:bodyPr wrap="square" lIns="0" tIns="0" rIns="0" bIns="0" rtlCol="0" anchor="ctr"/>
          <a:lstStyle/>
          <a:p>
            <a:pPr marL="0" indent="0">
              <a:buNone/>
            </a:pPr>
            <a:r>
              <a:rPr lang="en-US" sz="1900" b="1" dirty="0">
                <a:solidFill>
                  <a:srgbClr val="5BE39A"/>
                </a:solidFill>
                <a:latin typeface="Calibri" pitchFamily="34" charset="0"/>
                <a:ea typeface="Calibri" pitchFamily="34" charset="-122"/>
                <a:cs typeface="Calibri" pitchFamily="34" charset="-120"/>
              </a:rPr>
              <a:t>The system dims the clutter, the first officer takes the radios</a:t>
            </a:r>
            <a:endParaRPr lang="en-US" sz="1900" dirty="0"/>
          </a:p>
        </p:txBody>
      </p:sp>
      <p:sp>
        <p:nvSpPr>
          <p:cNvPr id="47" name="a3_01f"/>
          <p:cNvSpPr txBox="1"/>
          <p:nvPr/>
        </p:nvSpPr>
        <p:spPr>
          <a:xfrm>
            <a:off x="841248" y="5724144"/>
            <a:ext cx="10509199" cy="228600"/>
          </a:xfrm>
          <a:prstGeom prst="rect">
            <a:avLst/>
          </a:prstGeom>
          <a:noFill/>
          <a:ln/>
        </p:spPr>
        <p:txBody>
          <a:bodyPr wrap="square" lIns="0" tIns="0" rIns="0" bIns="0" rtlCol="0" anchor="ctr"/>
          <a:lstStyle/>
          <a:p>
            <a:pPr marL="0" indent="0">
              <a:lnSpc>
                <a:spcPct val="115000"/>
              </a:lnSpc>
              <a:buNone/>
            </a:pPr>
            <a:r>
              <a:rPr lang="en-US" sz="1500" dirty="0">
                <a:solidFill>
                  <a:srgbClr val="EAF2F8"/>
                </a:solidFill>
                <a:latin typeface="Calibri" pitchFamily="34" charset="0"/>
                <a:ea typeface="Calibri" pitchFamily="34" charset="-122"/>
                <a:cs typeface="Calibri" pitchFamily="34" charset="-120"/>
              </a:rPr>
              <a:t>Back in the scan 3.1 seconds later. Most people notice the help only when they watch the replay.</a:t>
            </a:r>
            <a:endParaRPr lang="en-US" sz="1500" dirty="0"/>
          </a:p>
        </p:txBody>
      </p:sp>
    </p:spTree>
  </p:cSld>
  <p:clrMapOvr>
    <a:masterClrMapping/>
  </p:clrMapOvr>
  <p:transition spd="slow" advClick="0" advTm="35000">
    <p:fade/>
  </p:transition>
  <p:timing>
    <p:tnLst>
      <p:par>
        <p:cTn id="1" dur="indefinite" restart="never" nodeType="tmRoot">
          <p:childTnLst>
            <p:seq concurrent="1" nextAc="seek">
              <p:cTn id="2" dur="indefinite" nodeType="mainSeq">
                <p:childTnLst>
                  <p:par>
                    <p:cTn id="3" fill="hold">
                      <p:stCondLst>
                        <p:cond delay="1200"/>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par>
                                <p:cTn id="8" presetID="10" presetClass="entr" presetSubtype="0"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400"/>
                                        <p:tgtEl>
                                          <p:spTgt spid="16"/>
                                        </p:tgtEl>
                                      </p:cBhvr>
                                    </p:animEffect>
                                  </p:childTnLst>
                                </p:cTn>
                              </p:par>
                              <p:par>
                                <p:cTn id="11" presetID="10" presetClass="entr" presetSubtype="0"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400"/>
                                        <p:tgtEl>
                                          <p:spTgt spid="17"/>
                                        </p:tgtEl>
                                      </p:cBhvr>
                                    </p:animEffect>
                                  </p:childTnLst>
                                </p:cTn>
                              </p:par>
                              <p:par>
                                <p:cTn id="14" presetID="10" presetClass="entr" presetSubtype="0" fill="hold"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400"/>
                                        <p:tgtEl>
                                          <p:spTgt spid="18"/>
                                        </p:tgtEl>
                                      </p:cBhvr>
                                    </p:animEffect>
                                  </p:childTnLst>
                                </p:cTn>
                              </p:par>
                              <p:par>
                                <p:cTn id="17" presetID="10" presetClass="entr" presetSubtype="0" fill="hold"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400"/>
                                        <p:tgtEl>
                                          <p:spTgt spid="19"/>
                                        </p:tgtEl>
                                      </p:cBhvr>
                                    </p:animEffect>
                                  </p:childTnLst>
                                </p:cTn>
                              </p:par>
                              <p:par>
                                <p:cTn id="20" presetID="10" presetClass="entr" presetSubtype="0" fill="hold" nodeType="withEffect">
                                  <p:stCondLst>
                                    <p:cond delay="15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400"/>
                                        <p:tgtEl>
                                          <p:spTgt spid="20"/>
                                        </p:tgtEl>
                                      </p:cBhvr>
                                    </p:animEffect>
                                  </p:childTnLst>
                                </p:cTn>
                              </p:par>
                              <p:par>
                                <p:cTn id="23" presetID="10" presetClass="entr" presetSubtype="0" fill="hold" nodeType="withEffect">
                                  <p:stCondLst>
                                    <p:cond delay="15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400"/>
                                        <p:tgtEl>
                                          <p:spTgt spid="21"/>
                                        </p:tgtEl>
                                      </p:cBhvr>
                                    </p:animEffect>
                                  </p:childTnLst>
                                </p:cTn>
                              </p:par>
                              <p:par>
                                <p:cTn id="26" presetID="10" presetClass="entr" presetSubtype="0" fill="hold" nodeType="withEffect">
                                  <p:stCondLst>
                                    <p:cond delay="15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400"/>
                                        <p:tgtEl>
                                          <p:spTgt spid="22"/>
                                        </p:tgtEl>
                                      </p:cBhvr>
                                    </p:animEffect>
                                  </p:childTnLst>
                                </p:cTn>
                              </p:par>
                              <p:par>
                                <p:cTn id="29" presetID="10" presetClass="entr" presetSubtype="0" fill="hold" nodeType="withEffect">
                                  <p:stCondLst>
                                    <p:cond delay="15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400"/>
                                        <p:tgtEl>
                                          <p:spTgt spid="23"/>
                                        </p:tgtEl>
                                      </p:cBhvr>
                                    </p:animEffect>
                                  </p:childTnLst>
                                </p:cTn>
                              </p:par>
                              <p:par>
                                <p:cTn id="32" presetID="10" presetClass="entr" presetSubtype="0" fill="hold" nodeType="withEffect">
                                  <p:stCondLst>
                                    <p:cond delay="150"/>
                                  </p:stCondLst>
                                  <p:childTnLst>
                                    <p:set>
                                      <p:cBhvr>
                                        <p:cTn id="33" dur="1" fill="hold">
                                          <p:stCondLst>
                                            <p:cond delay="0"/>
                                          </p:stCondLst>
                                        </p:cTn>
                                        <p:tgtEl>
                                          <p:spTgt spid="24"/>
                                        </p:tgtEl>
                                        <p:attrNameLst>
                                          <p:attrName>style.visibility</p:attrName>
                                        </p:attrNameLst>
                                      </p:cBhvr>
                                      <p:to>
                                        <p:strVal val="visible"/>
                                      </p:to>
                                    </p:set>
                                    <p:animEffect transition="in" filter="fade">
                                      <p:cBhvr>
                                        <p:cTn id="34" dur="400"/>
                                        <p:tgtEl>
                                          <p:spTgt spid="24"/>
                                        </p:tgtEl>
                                      </p:cBhvr>
                                    </p:animEffect>
                                  </p:childTnLst>
                                </p:cTn>
                              </p:par>
                              <p:par>
                                <p:cTn id="35" presetID="10" presetClass="entr" presetSubtype="0" fill="hold" nodeType="withEffect">
                                  <p:stCondLst>
                                    <p:cond delay="300"/>
                                  </p:stCondLst>
                                  <p:childTnLst>
                                    <p:set>
                                      <p:cBhvr>
                                        <p:cTn id="36" dur="1" fill="hold">
                                          <p:stCondLst>
                                            <p:cond delay="0"/>
                                          </p:stCondLst>
                                        </p:cTn>
                                        <p:tgtEl>
                                          <p:spTgt spid="25"/>
                                        </p:tgtEl>
                                        <p:attrNameLst>
                                          <p:attrName>style.visibility</p:attrName>
                                        </p:attrNameLst>
                                      </p:cBhvr>
                                      <p:to>
                                        <p:strVal val="visible"/>
                                      </p:to>
                                    </p:set>
                                    <p:animEffect transition="in" filter="fade">
                                      <p:cBhvr>
                                        <p:cTn id="37" dur="400"/>
                                        <p:tgtEl>
                                          <p:spTgt spid="25"/>
                                        </p:tgtEl>
                                      </p:cBhvr>
                                    </p:animEffect>
                                  </p:childTnLst>
                                </p:cTn>
                              </p:par>
                              <p:par>
                                <p:cTn id="38" presetID="10" presetClass="entr" presetSubtype="0" fill="hold" nodeType="withEffect">
                                  <p:stCondLst>
                                    <p:cond delay="300"/>
                                  </p:stCondLst>
                                  <p:childTnLst>
                                    <p:set>
                                      <p:cBhvr>
                                        <p:cTn id="39" dur="1" fill="hold">
                                          <p:stCondLst>
                                            <p:cond delay="0"/>
                                          </p:stCondLst>
                                        </p:cTn>
                                        <p:tgtEl>
                                          <p:spTgt spid="26"/>
                                        </p:tgtEl>
                                        <p:attrNameLst>
                                          <p:attrName>style.visibility</p:attrName>
                                        </p:attrNameLst>
                                      </p:cBhvr>
                                      <p:to>
                                        <p:strVal val="visible"/>
                                      </p:to>
                                    </p:set>
                                    <p:animEffect transition="in" filter="fade">
                                      <p:cBhvr>
                                        <p:cTn id="40" dur="400"/>
                                        <p:tgtEl>
                                          <p:spTgt spid="26"/>
                                        </p:tgtEl>
                                      </p:cBhvr>
                                    </p:animEffect>
                                  </p:childTnLst>
                                </p:cTn>
                              </p:par>
                              <p:par>
                                <p:cTn id="41" presetID="10" presetClass="entr" presetSubtype="0" fill="hold" nodeType="withEffect">
                                  <p:stCondLst>
                                    <p:cond delay="300"/>
                                  </p:stCondLst>
                                  <p:childTnLst>
                                    <p:set>
                                      <p:cBhvr>
                                        <p:cTn id="42" dur="1" fill="hold">
                                          <p:stCondLst>
                                            <p:cond delay="0"/>
                                          </p:stCondLst>
                                        </p:cTn>
                                        <p:tgtEl>
                                          <p:spTgt spid="27"/>
                                        </p:tgtEl>
                                        <p:attrNameLst>
                                          <p:attrName>style.visibility</p:attrName>
                                        </p:attrNameLst>
                                      </p:cBhvr>
                                      <p:to>
                                        <p:strVal val="visible"/>
                                      </p:to>
                                    </p:set>
                                    <p:animEffect transition="in" filter="fade">
                                      <p:cBhvr>
                                        <p:cTn id="43" dur="400"/>
                                        <p:tgtEl>
                                          <p:spTgt spid="27"/>
                                        </p:tgtEl>
                                      </p:cBhvr>
                                    </p:animEffect>
                                  </p:childTnLst>
                                </p:cTn>
                              </p:par>
                              <p:par>
                                <p:cTn id="44" presetID="10" presetClass="entr" presetSubtype="0" fill="hold" nodeType="withEffect">
                                  <p:stCondLst>
                                    <p:cond delay="300"/>
                                  </p:stCondLst>
                                  <p:childTnLst>
                                    <p:set>
                                      <p:cBhvr>
                                        <p:cTn id="45" dur="1" fill="hold">
                                          <p:stCondLst>
                                            <p:cond delay="0"/>
                                          </p:stCondLst>
                                        </p:cTn>
                                        <p:tgtEl>
                                          <p:spTgt spid="28"/>
                                        </p:tgtEl>
                                        <p:attrNameLst>
                                          <p:attrName>style.visibility</p:attrName>
                                        </p:attrNameLst>
                                      </p:cBhvr>
                                      <p:to>
                                        <p:strVal val="visible"/>
                                      </p:to>
                                    </p:set>
                                    <p:animEffect transition="in" filter="fade">
                                      <p:cBhvr>
                                        <p:cTn id="46" dur="400"/>
                                        <p:tgtEl>
                                          <p:spTgt spid="28"/>
                                        </p:tgtEl>
                                      </p:cBhvr>
                                    </p:animEffect>
                                  </p:childTnLst>
                                </p:cTn>
                              </p:par>
                              <p:par>
                                <p:cTn id="47" presetID="10" presetClass="entr" presetSubtype="0" fill="hold" nodeType="withEffect">
                                  <p:stCondLst>
                                    <p:cond delay="300"/>
                                  </p:stCondLst>
                                  <p:childTnLst>
                                    <p:set>
                                      <p:cBhvr>
                                        <p:cTn id="48" dur="1" fill="hold">
                                          <p:stCondLst>
                                            <p:cond delay="0"/>
                                          </p:stCondLst>
                                        </p:cTn>
                                        <p:tgtEl>
                                          <p:spTgt spid="29"/>
                                        </p:tgtEl>
                                        <p:attrNameLst>
                                          <p:attrName>style.visibility</p:attrName>
                                        </p:attrNameLst>
                                      </p:cBhvr>
                                      <p:to>
                                        <p:strVal val="visible"/>
                                      </p:to>
                                    </p:set>
                                    <p:animEffect transition="in" filter="fade">
                                      <p:cBhvr>
                                        <p:cTn id="49" dur="400"/>
                                        <p:tgtEl>
                                          <p:spTgt spid="29"/>
                                        </p:tgtEl>
                                      </p:cBhvr>
                                    </p:animEffect>
                                  </p:childTnLst>
                                </p:cTn>
                              </p:par>
                              <p:par>
                                <p:cTn id="50" presetID="10" presetClass="entr" presetSubtype="0" fill="hold" nodeType="withEffect">
                                  <p:stCondLst>
                                    <p:cond delay="450"/>
                                  </p:stCondLst>
                                  <p:childTnLst>
                                    <p:set>
                                      <p:cBhvr>
                                        <p:cTn id="51" dur="1" fill="hold">
                                          <p:stCondLst>
                                            <p:cond delay="0"/>
                                          </p:stCondLst>
                                        </p:cTn>
                                        <p:tgtEl>
                                          <p:spTgt spid="6"/>
                                        </p:tgtEl>
                                        <p:attrNameLst>
                                          <p:attrName>style.visibility</p:attrName>
                                        </p:attrNameLst>
                                      </p:cBhvr>
                                      <p:to>
                                        <p:strVal val="visible"/>
                                      </p:to>
                                    </p:set>
                                    <p:animEffect transition="in" filter="fade">
                                      <p:cBhvr>
                                        <p:cTn id="52" dur="400"/>
                                        <p:tgtEl>
                                          <p:spTgt spid="6"/>
                                        </p:tgtEl>
                                      </p:cBhvr>
                                    </p:animEffect>
                                  </p:childTnLst>
                                </p:cTn>
                              </p:par>
                              <p:par>
                                <p:cTn id="53" presetID="10" presetClass="entr" presetSubtype="0" fill="hold" nodeType="withEffect">
                                  <p:stCondLst>
                                    <p:cond delay="600"/>
                                  </p:stCondLst>
                                  <p:childTnLst>
                                    <p:set>
                                      <p:cBhvr>
                                        <p:cTn id="54" dur="1" fill="hold">
                                          <p:stCondLst>
                                            <p:cond delay="0"/>
                                          </p:stCondLst>
                                        </p:cTn>
                                        <p:tgtEl>
                                          <p:spTgt spid="8"/>
                                        </p:tgtEl>
                                        <p:attrNameLst>
                                          <p:attrName>style.visibility</p:attrName>
                                        </p:attrNameLst>
                                      </p:cBhvr>
                                      <p:to>
                                        <p:strVal val="visible"/>
                                      </p:to>
                                    </p:set>
                                    <p:animEffect transition="in" filter="fade">
                                      <p:cBhvr>
                                        <p:cTn id="55" dur="400"/>
                                        <p:tgtEl>
                                          <p:spTgt spid="8"/>
                                        </p:tgtEl>
                                      </p:cBhvr>
                                    </p:animEffect>
                                  </p:childTnLst>
                                </p:cTn>
                              </p:par>
                              <p:par>
                                <p:cTn id="56" presetID="10" presetClass="entr" presetSubtype="0" fill="hold" nodeType="withEffect">
                                  <p:stCondLst>
                                    <p:cond delay="750"/>
                                  </p:stCondLst>
                                  <p:childTnLst>
                                    <p:set>
                                      <p:cBhvr>
                                        <p:cTn id="57" dur="1" fill="hold">
                                          <p:stCondLst>
                                            <p:cond delay="0"/>
                                          </p:stCondLst>
                                        </p:cTn>
                                        <p:tgtEl>
                                          <p:spTgt spid="5"/>
                                        </p:tgtEl>
                                        <p:attrNameLst>
                                          <p:attrName>style.visibility</p:attrName>
                                        </p:attrNameLst>
                                      </p:cBhvr>
                                      <p:to>
                                        <p:strVal val="visible"/>
                                      </p:to>
                                    </p:set>
                                    <p:animEffect transition="in" filter="fade">
                                      <p:cBhvr>
                                        <p:cTn id="58" dur="400"/>
                                        <p:tgtEl>
                                          <p:spTgt spid="5"/>
                                        </p:tgtEl>
                                      </p:cBhvr>
                                    </p:animEffect>
                                  </p:childTnLst>
                                </p:cTn>
                              </p:par>
                              <p:par>
                                <p:cTn id="59" presetID="10" presetClass="entr" presetSubtype="0" fill="hold" nodeType="withEffect">
                                  <p:stCondLst>
                                    <p:cond delay="900"/>
                                  </p:stCondLst>
                                  <p:childTnLst>
                                    <p:set>
                                      <p:cBhvr>
                                        <p:cTn id="60" dur="1" fill="hold">
                                          <p:stCondLst>
                                            <p:cond delay="0"/>
                                          </p:stCondLst>
                                        </p:cTn>
                                        <p:tgtEl>
                                          <p:spTgt spid="7"/>
                                        </p:tgtEl>
                                        <p:attrNameLst>
                                          <p:attrName>style.visibility</p:attrName>
                                        </p:attrNameLst>
                                      </p:cBhvr>
                                      <p:to>
                                        <p:strVal val="visible"/>
                                      </p:to>
                                    </p:set>
                                    <p:animEffect transition="in" filter="fade">
                                      <p:cBhvr>
                                        <p:cTn id="61" dur="400"/>
                                        <p:tgtEl>
                                          <p:spTgt spid="7"/>
                                        </p:tgtEl>
                                      </p:cBhvr>
                                    </p:animEffect>
                                  </p:childTnLst>
                                </p:cTn>
                              </p:par>
                            </p:childTnLst>
                          </p:cTn>
                        </p:par>
                      </p:childTnLst>
                    </p:cTn>
                  </p:par>
                  <p:par>
                    <p:cTn id="62" fill="hold">
                      <p:stCondLst>
                        <p:cond delay="10816"/>
                      </p:stCondLst>
                      <p:childTnLst>
                        <p:par>
                          <p:cTn id="63" fill="hold">
                            <p:stCondLst>
                              <p:cond delay="0"/>
                            </p:stCondLst>
                            <p:childTnLst>
                              <p:par>
                                <p:cTn id="64" presetID="10" presetClass="entr" presetSubtype="0" fill="hold" nodeType="afterEffect">
                                  <p:stCondLst>
                                    <p:cond delay="0"/>
                                  </p:stCondLst>
                                  <p:childTnLst>
                                    <p:set>
                                      <p:cBhvr>
                                        <p:cTn id="65" dur="1" fill="hold">
                                          <p:stCondLst>
                                            <p:cond delay="0"/>
                                          </p:stCondLst>
                                        </p:cTn>
                                        <p:tgtEl>
                                          <p:spTgt spid="30"/>
                                        </p:tgtEl>
                                        <p:attrNameLst>
                                          <p:attrName>style.visibility</p:attrName>
                                        </p:attrNameLst>
                                      </p:cBhvr>
                                      <p:to>
                                        <p:strVal val="visible"/>
                                      </p:to>
                                    </p:set>
                                    <p:animEffect transition="in" filter="fade">
                                      <p:cBhvr>
                                        <p:cTn id="66" dur="400"/>
                                        <p:tgtEl>
                                          <p:spTgt spid="30"/>
                                        </p:tgtEl>
                                      </p:cBhvr>
                                    </p:animEffect>
                                  </p:childTnLst>
                                </p:cTn>
                              </p:par>
                              <p:par>
                                <p:cTn id="67" presetID="10" presetClass="entr" presetSubtype="0" fill="hold" nodeType="withEffect">
                                  <p:stCondLst>
                                    <p:cond delay="0"/>
                                  </p:stCondLst>
                                  <p:childTnLst>
                                    <p:set>
                                      <p:cBhvr>
                                        <p:cTn id="68" dur="1" fill="hold">
                                          <p:stCondLst>
                                            <p:cond delay="0"/>
                                          </p:stCondLst>
                                        </p:cTn>
                                        <p:tgtEl>
                                          <p:spTgt spid="31"/>
                                        </p:tgtEl>
                                        <p:attrNameLst>
                                          <p:attrName>style.visibility</p:attrName>
                                        </p:attrNameLst>
                                      </p:cBhvr>
                                      <p:to>
                                        <p:strVal val="visible"/>
                                      </p:to>
                                    </p:set>
                                    <p:animEffect transition="in" filter="fade">
                                      <p:cBhvr>
                                        <p:cTn id="69" dur="400"/>
                                        <p:tgtEl>
                                          <p:spTgt spid="31"/>
                                        </p:tgtEl>
                                      </p:cBhvr>
                                    </p:animEffect>
                                  </p:childTnLst>
                                </p:cTn>
                              </p:par>
                              <p:par>
                                <p:cTn id="70" presetID="10" presetClass="entr" presetSubtype="0" fill="hold" nodeType="withEffect">
                                  <p:stCondLst>
                                    <p:cond delay="0"/>
                                  </p:stCondLst>
                                  <p:childTnLst>
                                    <p:set>
                                      <p:cBhvr>
                                        <p:cTn id="71" dur="1" fill="hold">
                                          <p:stCondLst>
                                            <p:cond delay="0"/>
                                          </p:stCondLst>
                                        </p:cTn>
                                        <p:tgtEl>
                                          <p:spTgt spid="32"/>
                                        </p:tgtEl>
                                        <p:attrNameLst>
                                          <p:attrName>style.visibility</p:attrName>
                                        </p:attrNameLst>
                                      </p:cBhvr>
                                      <p:to>
                                        <p:strVal val="visible"/>
                                      </p:to>
                                    </p:set>
                                    <p:animEffect transition="in" filter="fade">
                                      <p:cBhvr>
                                        <p:cTn id="72" dur="400"/>
                                        <p:tgtEl>
                                          <p:spTgt spid="32"/>
                                        </p:tgtEl>
                                      </p:cBhvr>
                                    </p:animEffect>
                                  </p:childTnLst>
                                </p:cTn>
                              </p:par>
                              <p:par>
                                <p:cTn id="73" presetID="10" presetClass="entr" presetSubtype="0" fill="hold" nodeType="withEffect">
                                  <p:stCondLst>
                                    <p:cond delay="0"/>
                                  </p:stCondLst>
                                  <p:childTnLst>
                                    <p:set>
                                      <p:cBhvr>
                                        <p:cTn id="74" dur="1" fill="hold">
                                          <p:stCondLst>
                                            <p:cond delay="0"/>
                                          </p:stCondLst>
                                        </p:cTn>
                                        <p:tgtEl>
                                          <p:spTgt spid="33"/>
                                        </p:tgtEl>
                                        <p:attrNameLst>
                                          <p:attrName>style.visibility</p:attrName>
                                        </p:attrNameLst>
                                      </p:cBhvr>
                                      <p:to>
                                        <p:strVal val="visible"/>
                                      </p:to>
                                    </p:set>
                                    <p:animEffect transition="in" filter="fade">
                                      <p:cBhvr>
                                        <p:cTn id="75" dur="400"/>
                                        <p:tgtEl>
                                          <p:spTgt spid="33"/>
                                        </p:tgtEl>
                                      </p:cBhvr>
                                    </p:animEffect>
                                  </p:childTnLst>
                                </p:cTn>
                              </p:par>
                              <p:par>
                                <p:cTn id="76" presetID="10" presetClass="entr" presetSubtype="0" fill="hold" nodeType="withEffect">
                                  <p:stCondLst>
                                    <p:cond delay="0"/>
                                  </p:stCondLst>
                                  <p:childTnLst>
                                    <p:set>
                                      <p:cBhvr>
                                        <p:cTn id="77" dur="1" fill="hold">
                                          <p:stCondLst>
                                            <p:cond delay="0"/>
                                          </p:stCondLst>
                                        </p:cTn>
                                        <p:tgtEl>
                                          <p:spTgt spid="34"/>
                                        </p:tgtEl>
                                        <p:attrNameLst>
                                          <p:attrName>style.visibility</p:attrName>
                                        </p:attrNameLst>
                                      </p:cBhvr>
                                      <p:to>
                                        <p:strVal val="visible"/>
                                      </p:to>
                                    </p:set>
                                    <p:animEffect transition="in" filter="fade">
                                      <p:cBhvr>
                                        <p:cTn id="78" dur="400"/>
                                        <p:tgtEl>
                                          <p:spTgt spid="34"/>
                                        </p:tgtEl>
                                      </p:cBhvr>
                                    </p:animEffect>
                                  </p:childTnLst>
                                </p:cTn>
                              </p:par>
                              <p:par>
                                <p:cTn id="79" presetID="10" presetClass="entr" presetSubtype="0" fill="hold" nodeType="withEffect">
                                  <p:stCondLst>
                                    <p:cond delay="150"/>
                                  </p:stCondLst>
                                  <p:childTnLst>
                                    <p:set>
                                      <p:cBhvr>
                                        <p:cTn id="80" dur="1" fill="hold">
                                          <p:stCondLst>
                                            <p:cond delay="0"/>
                                          </p:stCondLst>
                                        </p:cTn>
                                        <p:tgtEl>
                                          <p:spTgt spid="35"/>
                                        </p:tgtEl>
                                        <p:attrNameLst>
                                          <p:attrName>style.visibility</p:attrName>
                                        </p:attrNameLst>
                                      </p:cBhvr>
                                      <p:to>
                                        <p:strVal val="visible"/>
                                      </p:to>
                                    </p:set>
                                    <p:animEffect transition="in" filter="fade">
                                      <p:cBhvr>
                                        <p:cTn id="81" dur="400"/>
                                        <p:tgtEl>
                                          <p:spTgt spid="35"/>
                                        </p:tgtEl>
                                      </p:cBhvr>
                                    </p:animEffect>
                                  </p:childTnLst>
                                </p:cTn>
                              </p:par>
                              <p:par>
                                <p:cTn id="82" presetID="10" presetClass="entr" presetSubtype="0" fill="hold" nodeType="withEffect">
                                  <p:stCondLst>
                                    <p:cond delay="150"/>
                                  </p:stCondLst>
                                  <p:childTnLst>
                                    <p:set>
                                      <p:cBhvr>
                                        <p:cTn id="83" dur="1" fill="hold">
                                          <p:stCondLst>
                                            <p:cond delay="0"/>
                                          </p:stCondLst>
                                        </p:cTn>
                                        <p:tgtEl>
                                          <p:spTgt spid="36"/>
                                        </p:tgtEl>
                                        <p:attrNameLst>
                                          <p:attrName>style.visibility</p:attrName>
                                        </p:attrNameLst>
                                      </p:cBhvr>
                                      <p:to>
                                        <p:strVal val="visible"/>
                                      </p:to>
                                    </p:set>
                                    <p:animEffect transition="in" filter="fade">
                                      <p:cBhvr>
                                        <p:cTn id="84" dur="400"/>
                                        <p:tgtEl>
                                          <p:spTgt spid="36"/>
                                        </p:tgtEl>
                                      </p:cBhvr>
                                    </p:animEffect>
                                  </p:childTnLst>
                                </p:cTn>
                              </p:par>
                              <p:par>
                                <p:cTn id="85" presetID="10" presetClass="entr" presetSubtype="0" fill="hold" nodeType="withEffect">
                                  <p:stCondLst>
                                    <p:cond delay="150"/>
                                  </p:stCondLst>
                                  <p:childTnLst>
                                    <p:set>
                                      <p:cBhvr>
                                        <p:cTn id="86" dur="1" fill="hold">
                                          <p:stCondLst>
                                            <p:cond delay="0"/>
                                          </p:stCondLst>
                                        </p:cTn>
                                        <p:tgtEl>
                                          <p:spTgt spid="37"/>
                                        </p:tgtEl>
                                        <p:attrNameLst>
                                          <p:attrName>style.visibility</p:attrName>
                                        </p:attrNameLst>
                                      </p:cBhvr>
                                      <p:to>
                                        <p:strVal val="visible"/>
                                      </p:to>
                                    </p:set>
                                    <p:animEffect transition="in" filter="fade">
                                      <p:cBhvr>
                                        <p:cTn id="87" dur="400"/>
                                        <p:tgtEl>
                                          <p:spTgt spid="37"/>
                                        </p:tgtEl>
                                      </p:cBhvr>
                                    </p:animEffect>
                                  </p:childTnLst>
                                </p:cTn>
                              </p:par>
                              <p:par>
                                <p:cTn id="88" presetID="10" presetClass="entr" presetSubtype="0" fill="hold" nodeType="withEffect">
                                  <p:stCondLst>
                                    <p:cond delay="150"/>
                                  </p:stCondLst>
                                  <p:childTnLst>
                                    <p:set>
                                      <p:cBhvr>
                                        <p:cTn id="89" dur="1" fill="hold">
                                          <p:stCondLst>
                                            <p:cond delay="0"/>
                                          </p:stCondLst>
                                        </p:cTn>
                                        <p:tgtEl>
                                          <p:spTgt spid="38"/>
                                        </p:tgtEl>
                                        <p:attrNameLst>
                                          <p:attrName>style.visibility</p:attrName>
                                        </p:attrNameLst>
                                      </p:cBhvr>
                                      <p:to>
                                        <p:strVal val="visible"/>
                                      </p:to>
                                    </p:set>
                                    <p:animEffect transition="in" filter="fade">
                                      <p:cBhvr>
                                        <p:cTn id="90" dur="400"/>
                                        <p:tgtEl>
                                          <p:spTgt spid="38"/>
                                        </p:tgtEl>
                                      </p:cBhvr>
                                    </p:animEffect>
                                  </p:childTnLst>
                                </p:cTn>
                              </p:par>
                              <p:par>
                                <p:cTn id="91" presetID="10" presetClass="entr" presetSubtype="0" fill="hold" nodeType="withEffect">
                                  <p:stCondLst>
                                    <p:cond delay="150"/>
                                  </p:stCondLst>
                                  <p:childTnLst>
                                    <p:set>
                                      <p:cBhvr>
                                        <p:cTn id="92" dur="1" fill="hold">
                                          <p:stCondLst>
                                            <p:cond delay="0"/>
                                          </p:stCondLst>
                                        </p:cTn>
                                        <p:tgtEl>
                                          <p:spTgt spid="39"/>
                                        </p:tgtEl>
                                        <p:attrNameLst>
                                          <p:attrName>style.visibility</p:attrName>
                                        </p:attrNameLst>
                                      </p:cBhvr>
                                      <p:to>
                                        <p:strVal val="visible"/>
                                      </p:to>
                                    </p:set>
                                    <p:animEffect transition="in" filter="fade">
                                      <p:cBhvr>
                                        <p:cTn id="93" dur="400"/>
                                        <p:tgtEl>
                                          <p:spTgt spid="39"/>
                                        </p:tgtEl>
                                      </p:cBhvr>
                                    </p:animEffect>
                                  </p:childTnLst>
                                </p:cTn>
                              </p:par>
                              <p:par>
                                <p:cTn id="94" presetID="10" presetClass="entr" presetSubtype="0" fill="hold" nodeType="withEffect">
                                  <p:stCondLst>
                                    <p:cond delay="300"/>
                                  </p:stCondLst>
                                  <p:childTnLst>
                                    <p:set>
                                      <p:cBhvr>
                                        <p:cTn id="95" dur="1" fill="hold">
                                          <p:stCondLst>
                                            <p:cond delay="0"/>
                                          </p:stCondLst>
                                        </p:cTn>
                                        <p:tgtEl>
                                          <p:spTgt spid="40"/>
                                        </p:tgtEl>
                                        <p:attrNameLst>
                                          <p:attrName>style.visibility</p:attrName>
                                        </p:attrNameLst>
                                      </p:cBhvr>
                                      <p:to>
                                        <p:strVal val="visible"/>
                                      </p:to>
                                    </p:set>
                                    <p:animEffect transition="in" filter="fade">
                                      <p:cBhvr>
                                        <p:cTn id="96" dur="400"/>
                                        <p:tgtEl>
                                          <p:spTgt spid="40"/>
                                        </p:tgtEl>
                                      </p:cBhvr>
                                    </p:animEffect>
                                  </p:childTnLst>
                                </p:cTn>
                              </p:par>
                              <p:par>
                                <p:cTn id="97" presetID="10" presetClass="entr" presetSubtype="0" fill="hold" nodeType="withEffect">
                                  <p:stCondLst>
                                    <p:cond delay="300"/>
                                  </p:stCondLst>
                                  <p:childTnLst>
                                    <p:set>
                                      <p:cBhvr>
                                        <p:cTn id="98" dur="1" fill="hold">
                                          <p:stCondLst>
                                            <p:cond delay="0"/>
                                          </p:stCondLst>
                                        </p:cTn>
                                        <p:tgtEl>
                                          <p:spTgt spid="41"/>
                                        </p:tgtEl>
                                        <p:attrNameLst>
                                          <p:attrName>style.visibility</p:attrName>
                                        </p:attrNameLst>
                                      </p:cBhvr>
                                      <p:to>
                                        <p:strVal val="visible"/>
                                      </p:to>
                                    </p:set>
                                    <p:animEffect transition="in" filter="fade">
                                      <p:cBhvr>
                                        <p:cTn id="99" dur="400"/>
                                        <p:tgtEl>
                                          <p:spTgt spid="41"/>
                                        </p:tgtEl>
                                      </p:cBhvr>
                                    </p:animEffect>
                                  </p:childTnLst>
                                </p:cTn>
                              </p:par>
                              <p:par>
                                <p:cTn id="100" presetID="10" presetClass="entr" presetSubtype="0" fill="hold" nodeType="withEffect">
                                  <p:stCondLst>
                                    <p:cond delay="300"/>
                                  </p:stCondLst>
                                  <p:childTnLst>
                                    <p:set>
                                      <p:cBhvr>
                                        <p:cTn id="101" dur="1" fill="hold">
                                          <p:stCondLst>
                                            <p:cond delay="0"/>
                                          </p:stCondLst>
                                        </p:cTn>
                                        <p:tgtEl>
                                          <p:spTgt spid="42"/>
                                        </p:tgtEl>
                                        <p:attrNameLst>
                                          <p:attrName>style.visibility</p:attrName>
                                        </p:attrNameLst>
                                      </p:cBhvr>
                                      <p:to>
                                        <p:strVal val="visible"/>
                                      </p:to>
                                    </p:set>
                                    <p:animEffect transition="in" filter="fade">
                                      <p:cBhvr>
                                        <p:cTn id="102" dur="400"/>
                                        <p:tgtEl>
                                          <p:spTgt spid="42"/>
                                        </p:tgtEl>
                                      </p:cBhvr>
                                    </p:animEffect>
                                  </p:childTnLst>
                                </p:cTn>
                              </p:par>
                              <p:par>
                                <p:cTn id="103" presetID="10" presetClass="entr" presetSubtype="0" fill="hold" nodeType="withEffect">
                                  <p:stCondLst>
                                    <p:cond delay="300"/>
                                  </p:stCondLst>
                                  <p:childTnLst>
                                    <p:set>
                                      <p:cBhvr>
                                        <p:cTn id="104" dur="1" fill="hold">
                                          <p:stCondLst>
                                            <p:cond delay="0"/>
                                          </p:stCondLst>
                                        </p:cTn>
                                        <p:tgtEl>
                                          <p:spTgt spid="43"/>
                                        </p:tgtEl>
                                        <p:attrNameLst>
                                          <p:attrName>style.visibility</p:attrName>
                                        </p:attrNameLst>
                                      </p:cBhvr>
                                      <p:to>
                                        <p:strVal val="visible"/>
                                      </p:to>
                                    </p:set>
                                    <p:animEffect transition="in" filter="fade">
                                      <p:cBhvr>
                                        <p:cTn id="105" dur="400"/>
                                        <p:tgtEl>
                                          <p:spTgt spid="43"/>
                                        </p:tgtEl>
                                      </p:cBhvr>
                                    </p:animEffect>
                                  </p:childTnLst>
                                </p:cTn>
                              </p:par>
                              <p:par>
                                <p:cTn id="106" presetID="10" presetClass="entr" presetSubtype="0" fill="hold" nodeType="withEffect">
                                  <p:stCondLst>
                                    <p:cond delay="300"/>
                                  </p:stCondLst>
                                  <p:childTnLst>
                                    <p:set>
                                      <p:cBhvr>
                                        <p:cTn id="107" dur="1" fill="hold">
                                          <p:stCondLst>
                                            <p:cond delay="0"/>
                                          </p:stCondLst>
                                        </p:cTn>
                                        <p:tgtEl>
                                          <p:spTgt spid="44"/>
                                        </p:tgtEl>
                                        <p:attrNameLst>
                                          <p:attrName>style.visibility</p:attrName>
                                        </p:attrNameLst>
                                      </p:cBhvr>
                                      <p:to>
                                        <p:strVal val="visible"/>
                                      </p:to>
                                    </p:set>
                                    <p:animEffect transition="in" filter="fade">
                                      <p:cBhvr>
                                        <p:cTn id="108" dur="400"/>
                                        <p:tgtEl>
                                          <p:spTgt spid="44"/>
                                        </p:tgtEl>
                                      </p:cBhvr>
                                    </p:animEffect>
                                  </p:childTnLst>
                                </p:cTn>
                              </p:par>
                              <p:par>
                                <p:cTn id="109" presetID="10" presetClass="entr" presetSubtype="0" fill="hold" nodeType="withEffect">
                                  <p:stCondLst>
                                    <p:cond delay="450"/>
                                  </p:stCondLst>
                                  <p:childTnLst>
                                    <p:set>
                                      <p:cBhvr>
                                        <p:cTn id="110" dur="1" fill="hold">
                                          <p:stCondLst>
                                            <p:cond delay="0"/>
                                          </p:stCondLst>
                                        </p:cTn>
                                        <p:tgtEl>
                                          <p:spTgt spid="10"/>
                                        </p:tgtEl>
                                        <p:attrNameLst>
                                          <p:attrName>style.visibility</p:attrName>
                                        </p:attrNameLst>
                                      </p:cBhvr>
                                      <p:to>
                                        <p:strVal val="visible"/>
                                      </p:to>
                                    </p:set>
                                    <p:animEffect transition="in" filter="fade">
                                      <p:cBhvr>
                                        <p:cTn id="111" dur="400"/>
                                        <p:tgtEl>
                                          <p:spTgt spid="10"/>
                                        </p:tgtEl>
                                      </p:cBhvr>
                                    </p:animEffect>
                                  </p:childTnLst>
                                </p:cTn>
                              </p:par>
                              <p:par>
                                <p:cTn id="112" presetID="10" presetClass="entr" presetSubtype="0" fill="hold" nodeType="withEffect">
                                  <p:stCondLst>
                                    <p:cond delay="600"/>
                                  </p:stCondLst>
                                  <p:childTnLst>
                                    <p:set>
                                      <p:cBhvr>
                                        <p:cTn id="113" dur="1" fill="hold">
                                          <p:stCondLst>
                                            <p:cond delay="0"/>
                                          </p:stCondLst>
                                        </p:cTn>
                                        <p:tgtEl>
                                          <p:spTgt spid="12"/>
                                        </p:tgtEl>
                                        <p:attrNameLst>
                                          <p:attrName>style.visibility</p:attrName>
                                        </p:attrNameLst>
                                      </p:cBhvr>
                                      <p:to>
                                        <p:strVal val="visible"/>
                                      </p:to>
                                    </p:set>
                                    <p:animEffect transition="in" filter="fade">
                                      <p:cBhvr>
                                        <p:cTn id="114" dur="400"/>
                                        <p:tgtEl>
                                          <p:spTgt spid="12"/>
                                        </p:tgtEl>
                                      </p:cBhvr>
                                    </p:animEffect>
                                  </p:childTnLst>
                                </p:cTn>
                              </p:par>
                              <p:par>
                                <p:cTn id="115" presetID="10" presetClass="entr" presetSubtype="0" fill="hold" nodeType="withEffect">
                                  <p:stCondLst>
                                    <p:cond delay="750"/>
                                  </p:stCondLst>
                                  <p:childTnLst>
                                    <p:set>
                                      <p:cBhvr>
                                        <p:cTn id="116" dur="1" fill="hold">
                                          <p:stCondLst>
                                            <p:cond delay="0"/>
                                          </p:stCondLst>
                                        </p:cTn>
                                        <p:tgtEl>
                                          <p:spTgt spid="9"/>
                                        </p:tgtEl>
                                        <p:attrNameLst>
                                          <p:attrName>style.visibility</p:attrName>
                                        </p:attrNameLst>
                                      </p:cBhvr>
                                      <p:to>
                                        <p:strVal val="visible"/>
                                      </p:to>
                                    </p:set>
                                    <p:animEffect transition="in" filter="fade">
                                      <p:cBhvr>
                                        <p:cTn id="117" dur="400"/>
                                        <p:tgtEl>
                                          <p:spTgt spid="9"/>
                                        </p:tgtEl>
                                      </p:cBhvr>
                                    </p:animEffect>
                                  </p:childTnLst>
                                </p:cTn>
                              </p:par>
                              <p:par>
                                <p:cTn id="118" presetID="10" presetClass="entr" presetSubtype="0" fill="hold" nodeType="withEffect">
                                  <p:stCondLst>
                                    <p:cond delay="900"/>
                                  </p:stCondLst>
                                  <p:childTnLst>
                                    <p:set>
                                      <p:cBhvr>
                                        <p:cTn id="119" dur="1" fill="hold">
                                          <p:stCondLst>
                                            <p:cond delay="0"/>
                                          </p:stCondLst>
                                        </p:cTn>
                                        <p:tgtEl>
                                          <p:spTgt spid="11"/>
                                        </p:tgtEl>
                                        <p:attrNameLst>
                                          <p:attrName>style.visibility</p:attrName>
                                        </p:attrNameLst>
                                      </p:cBhvr>
                                      <p:to>
                                        <p:strVal val="visible"/>
                                      </p:to>
                                    </p:set>
                                    <p:animEffect transition="in" filter="fade">
                                      <p:cBhvr>
                                        <p:cTn id="120" dur="400"/>
                                        <p:tgtEl>
                                          <p:spTgt spid="11"/>
                                        </p:tgtEl>
                                      </p:cBhvr>
                                    </p:animEffect>
                                  </p:childTnLst>
                                </p:cTn>
                              </p:par>
                            </p:childTnLst>
                          </p:cTn>
                        </p:par>
                      </p:childTnLst>
                    </p:cTn>
                  </p:par>
                  <p:par>
                    <p:cTn id="121" fill="hold">
                      <p:stCondLst>
                        <p:cond delay="10816"/>
                      </p:stCondLst>
                      <p:childTnLst>
                        <p:par>
                          <p:cTn id="122" fill="hold">
                            <p:stCondLst>
                              <p:cond delay="0"/>
                            </p:stCondLst>
                            <p:childTnLst>
                              <p:par>
                                <p:cTn id="123" presetID="10" presetClass="entr" presetSubtype="0" fill="hold" nodeType="afterEffect">
                                  <p:stCondLst>
                                    <p:cond delay="0"/>
                                  </p:stCondLst>
                                  <p:childTnLst>
                                    <p:set>
                                      <p:cBhvr>
                                        <p:cTn id="124" dur="1" fill="hold">
                                          <p:stCondLst>
                                            <p:cond delay="0"/>
                                          </p:stCondLst>
                                        </p:cTn>
                                        <p:tgtEl>
                                          <p:spTgt spid="45"/>
                                        </p:tgtEl>
                                        <p:attrNameLst>
                                          <p:attrName>style.visibility</p:attrName>
                                        </p:attrNameLst>
                                      </p:cBhvr>
                                      <p:to>
                                        <p:strVal val="visible"/>
                                      </p:to>
                                    </p:set>
                                    <p:animEffect transition="in" filter="fade">
                                      <p:cBhvr>
                                        <p:cTn id="125" dur="400"/>
                                        <p:tgtEl>
                                          <p:spTgt spid="45"/>
                                        </p:tgtEl>
                                      </p:cBhvr>
                                    </p:animEffect>
                                  </p:childTnLst>
                                </p:cTn>
                              </p:par>
                              <p:par>
                                <p:cTn id="126" presetID="10" presetClass="entr" presetSubtype="0" fill="hold" nodeType="withEffect">
                                  <p:stCondLst>
                                    <p:cond delay="0"/>
                                  </p:stCondLst>
                                  <p:childTnLst>
                                    <p:set>
                                      <p:cBhvr>
                                        <p:cTn id="127" dur="1" fill="hold">
                                          <p:stCondLst>
                                            <p:cond delay="0"/>
                                          </p:stCondLst>
                                        </p:cTn>
                                        <p:tgtEl>
                                          <p:spTgt spid="46"/>
                                        </p:tgtEl>
                                        <p:attrNameLst>
                                          <p:attrName>style.visibility</p:attrName>
                                        </p:attrNameLst>
                                      </p:cBhvr>
                                      <p:to>
                                        <p:strVal val="visible"/>
                                      </p:to>
                                    </p:set>
                                    <p:animEffect transition="in" filter="fade">
                                      <p:cBhvr>
                                        <p:cTn id="128" dur="400"/>
                                        <p:tgtEl>
                                          <p:spTgt spid="46"/>
                                        </p:tgtEl>
                                      </p:cBhvr>
                                    </p:animEffect>
                                  </p:childTnLst>
                                </p:cTn>
                              </p:par>
                              <p:par>
                                <p:cTn id="129" presetID="10" presetClass="entr" presetSubtype="0" fill="hold" nodeType="withEffect">
                                  <p:stCondLst>
                                    <p:cond delay="0"/>
                                  </p:stCondLst>
                                  <p:childTnLst>
                                    <p:set>
                                      <p:cBhvr>
                                        <p:cTn id="130" dur="1" fill="hold">
                                          <p:stCondLst>
                                            <p:cond delay="0"/>
                                          </p:stCondLst>
                                        </p:cTn>
                                        <p:tgtEl>
                                          <p:spTgt spid="47"/>
                                        </p:tgtEl>
                                        <p:attrNameLst>
                                          <p:attrName>style.visibility</p:attrName>
                                        </p:attrNameLst>
                                      </p:cBhvr>
                                      <p:to>
                                        <p:strVal val="visible"/>
                                      </p:to>
                                    </p:set>
                                    <p:animEffect transition="in" filter="fade">
                                      <p:cBhvr>
                                        <p:cTn id="131" dur="400"/>
                                        <p:tgtEl>
                                          <p:spTgt spid="47"/>
                                        </p:tgtEl>
                                      </p:cBhvr>
                                    </p:animEffect>
                                  </p:childTnLst>
                                </p:cTn>
                              </p:par>
                              <p:par>
                                <p:cTn id="132" presetID="10" presetClass="entr" presetSubtype="0" fill="hold" nodeType="withEffect">
                                  <p:stCondLst>
                                    <p:cond delay="150"/>
                                  </p:stCondLst>
                                  <p:childTnLst>
                                    <p:set>
                                      <p:cBhvr>
                                        <p:cTn id="133" dur="1" fill="hold">
                                          <p:stCondLst>
                                            <p:cond delay="0"/>
                                          </p:stCondLst>
                                        </p:cTn>
                                        <p:tgtEl>
                                          <p:spTgt spid="14"/>
                                        </p:tgtEl>
                                        <p:attrNameLst>
                                          <p:attrName>style.visibility</p:attrName>
                                        </p:attrNameLst>
                                      </p:cBhvr>
                                      <p:to>
                                        <p:strVal val="visible"/>
                                      </p:to>
                                    </p:set>
                                    <p:animEffect transition="in" filter="fade">
                                      <p:cBhvr>
                                        <p:cTn id="134" dur="400"/>
                                        <p:tgtEl>
                                          <p:spTgt spid="14"/>
                                        </p:tgtEl>
                                      </p:cBhvr>
                                    </p:animEffect>
                                  </p:childTnLst>
                                </p:cTn>
                              </p:par>
                              <p:par>
                                <p:cTn id="135" presetID="10" presetClass="entr" presetSubtype="0" fill="hold" nodeType="withEffect">
                                  <p:stCondLst>
                                    <p:cond delay="300"/>
                                  </p:stCondLst>
                                  <p:childTnLst>
                                    <p:set>
                                      <p:cBhvr>
                                        <p:cTn id="136" dur="1" fill="hold">
                                          <p:stCondLst>
                                            <p:cond delay="0"/>
                                          </p:stCondLst>
                                        </p:cTn>
                                        <p:tgtEl>
                                          <p:spTgt spid="13"/>
                                        </p:tgtEl>
                                        <p:attrNameLst>
                                          <p:attrName>style.visibility</p:attrName>
                                        </p:attrNameLst>
                                      </p:cBhvr>
                                      <p:to>
                                        <p:strVal val="visible"/>
                                      </p:to>
                                    </p:set>
                                    <p:animEffect transition="in" filter="fade">
                                      <p:cBhvr>
                                        <p:cTn id="137"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628"/>
        </a:solidFill>
        <a:effectLst/>
      </p:bgPr>
    </p:bg>
    <p:spTree>
      <p:nvGrpSpPr>
        <p:cNvPr id="1" name=""/>
        <p:cNvGrpSpPr/>
        <p:nvPr/>
      </p:nvGrpSpPr>
      <p:grpSpPr>
        <a:xfrm>
          <a:off x="0" y="0"/>
          <a:ext cx="0" cy="0"/>
          <a:chOff x="0" y="0"/>
          <a:chExt cx="0" cy="0"/>
        </a:xfrm>
      </p:grpSpPr>
      <p:sp>
        <p:nvSpPr>
          <p:cNvPr id="3" name="Text 0"/>
          <p:cNvSpPr txBox="1"/>
          <p:nvPr/>
        </p:nvSpPr>
        <p:spPr>
          <a:xfrm>
            <a:off x="566928" y="384048"/>
            <a:ext cx="11057839" cy="274320"/>
          </a:xfrm>
          <a:prstGeom prst="rect">
            <a:avLst/>
          </a:prstGeom>
          <a:noFill/>
          <a:ln/>
        </p:spPr>
        <p:txBody>
          <a:bodyPr wrap="square" lIns="0" tIns="0" rIns="0" bIns="0" rtlCol="0" anchor="ctr"/>
          <a:lstStyle/>
          <a:p>
            <a:pPr marL="0" indent="0">
              <a:buNone/>
            </a:pPr>
            <a:r>
              <a:rPr lang="en-US" sz="1400" b="1" kern="0" spc="300" dirty="0">
                <a:solidFill>
                  <a:srgbClr val="4ED8E6"/>
                </a:solidFill>
                <a:latin typeface="Calibri" pitchFamily="34" charset="0"/>
                <a:ea typeface="Calibri" pitchFamily="34" charset="-122"/>
                <a:cs typeface="Calibri" pitchFamily="34" charset="-120"/>
              </a:rPr>
              <a:t>ACTIVITY 2</a:t>
            </a:r>
            <a:endParaRPr lang="en-US" sz="1400" dirty="0"/>
          </a:p>
        </p:txBody>
      </p:sp>
      <p:sp>
        <p:nvSpPr>
          <p:cNvPr id="4" name="Text 1"/>
          <p:cNvSpPr txBox="1"/>
          <p:nvPr/>
        </p:nvSpPr>
        <p:spPr>
          <a:xfrm>
            <a:off x="566928" y="676656"/>
            <a:ext cx="11057839" cy="658368"/>
          </a:xfrm>
          <a:prstGeom prst="rect">
            <a:avLst/>
          </a:prstGeom>
          <a:noFill/>
          <a:ln/>
        </p:spPr>
        <p:txBody>
          <a:bodyPr wrap="square" lIns="0" tIns="0" rIns="0" bIns="0" rtlCol="0" anchor="ctr"/>
          <a:lstStyle/>
          <a:p>
            <a:pPr marL="0" indent="0">
              <a:buNone/>
            </a:pPr>
            <a:r>
              <a:rPr lang="en-US" sz="3600" b="1" dirty="0">
                <a:solidFill>
                  <a:srgbClr val="EAF2F8"/>
                </a:solidFill>
                <a:latin typeface="Calibri" pitchFamily="34" charset="0"/>
                <a:ea typeface="Calibri" pitchFamily="34" charset="-122"/>
                <a:cs typeface="Calibri" pitchFamily="34" charset="-120"/>
              </a:rPr>
              <a:t>Watch it think</a:t>
            </a:r>
            <a:endParaRPr lang="en-US" sz="3600" dirty="0"/>
          </a:p>
        </p:txBody>
      </p:sp>
      <p:sp>
        <p:nvSpPr>
          <p:cNvPr id="5" name="a1_00b"/>
          <p:cNvSpPr/>
          <p:nvPr/>
        </p:nvSpPr>
        <p:spPr>
          <a:xfrm>
            <a:off x="566928" y="1627632"/>
            <a:ext cx="5577840" cy="3703320"/>
          </a:xfrm>
          <a:prstGeom prst="roundRect">
            <a:avLst>
              <a:gd name="adj" fmla="val 1975"/>
            </a:avLst>
          </a:prstGeom>
          <a:solidFill>
            <a:srgbClr val="152A45"/>
          </a:solidFill>
          <a:ln w="12700">
            <a:solidFill>
              <a:srgbClr val="27425F"/>
            </a:solidFill>
            <a:prstDash val="solid"/>
          </a:ln>
        </p:spPr>
        <p:txBody>
          <a:bodyPr/>
          <a:lstStyle/>
          <a:p>
            <a:endParaRPr lang="en-CA"/>
          </a:p>
        </p:txBody>
      </p:sp>
      <p:sp>
        <p:nvSpPr>
          <p:cNvPr id="6" name="a1_01"/>
          <p:cNvSpPr txBox="1"/>
          <p:nvPr/>
        </p:nvSpPr>
        <p:spPr>
          <a:xfrm>
            <a:off x="886968" y="1847088"/>
            <a:ext cx="3749040" cy="402336"/>
          </a:xfrm>
          <a:prstGeom prst="rect">
            <a:avLst/>
          </a:prstGeom>
          <a:noFill/>
          <a:ln/>
        </p:spPr>
        <p:txBody>
          <a:bodyPr wrap="square" lIns="0" tIns="0" rIns="0" bIns="0" rtlCol="0" anchor="ctr"/>
          <a:lstStyle/>
          <a:p>
            <a:pPr marL="0" indent="0">
              <a:buNone/>
            </a:pPr>
            <a:r>
              <a:rPr lang="en-US" sz="1600" dirty="0">
                <a:solidFill>
                  <a:srgbClr val="EAF2F8"/>
                </a:solidFill>
                <a:latin typeface="Calibri" pitchFamily="34" charset="0"/>
                <a:ea typeface="Calibri" pitchFamily="34" charset="-122"/>
                <a:cs typeface="Calibri" pitchFamily="34" charset="-120"/>
              </a:rPr>
              <a:t>Effort the task demands</a:t>
            </a:r>
            <a:endParaRPr lang="en-US" sz="1600" dirty="0"/>
          </a:p>
        </p:txBody>
      </p:sp>
      <p:sp>
        <p:nvSpPr>
          <p:cNvPr id="7" name="a1_11"/>
          <p:cNvSpPr txBox="1"/>
          <p:nvPr/>
        </p:nvSpPr>
        <p:spPr>
          <a:xfrm>
            <a:off x="4590288" y="1847088"/>
            <a:ext cx="1325880" cy="402336"/>
          </a:xfrm>
          <a:prstGeom prst="rect">
            <a:avLst/>
          </a:prstGeom>
          <a:noFill/>
          <a:ln/>
        </p:spPr>
        <p:txBody>
          <a:bodyPr wrap="square" lIns="0" tIns="0" rIns="0" bIns="0" rtlCol="0" anchor="ctr"/>
          <a:lstStyle/>
          <a:p>
            <a:pPr marL="0" indent="0" algn="r">
              <a:buNone/>
            </a:pPr>
            <a:r>
              <a:rPr lang="en-US" sz="1600" b="1" dirty="0">
                <a:solidFill>
                  <a:srgbClr val="EAF2F8"/>
                </a:solidFill>
                <a:latin typeface="Calibri" pitchFamily="34" charset="0"/>
                <a:ea typeface="Calibri" pitchFamily="34" charset="-122"/>
                <a:cs typeface="Calibri" pitchFamily="34" charset="-120"/>
              </a:rPr>
              <a:t>0.62</a:t>
            </a:r>
            <a:endParaRPr lang="en-US" sz="1600" dirty="0"/>
          </a:p>
        </p:txBody>
      </p:sp>
      <p:sp>
        <p:nvSpPr>
          <p:cNvPr id="8" name="a1_02"/>
          <p:cNvSpPr txBox="1"/>
          <p:nvPr/>
        </p:nvSpPr>
        <p:spPr>
          <a:xfrm>
            <a:off x="886968" y="2514600"/>
            <a:ext cx="3749040" cy="402336"/>
          </a:xfrm>
          <a:prstGeom prst="rect">
            <a:avLst/>
          </a:prstGeom>
          <a:noFill/>
          <a:ln/>
        </p:spPr>
        <p:txBody>
          <a:bodyPr wrap="square" lIns="0" tIns="0" rIns="0" bIns="0" rtlCol="0" anchor="ctr"/>
          <a:lstStyle/>
          <a:p>
            <a:pPr marL="0" indent="0">
              <a:buNone/>
            </a:pPr>
            <a:r>
              <a:rPr lang="en-US" sz="1600" dirty="0">
                <a:solidFill>
                  <a:srgbClr val="EAF2F8"/>
                </a:solidFill>
                <a:latin typeface="Calibri" pitchFamily="34" charset="0"/>
                <a:ea typeface="Calibri" pitchFamily="34" charset="-122"/>
                <a:cs typeface="Calibri" pitchFamily="34" charset="-120"/>
              </a:rPr>
              <a:t>Effort wasted on the display</a:t>
            </a:r>
            <a:endParaRPr lang="en-US" sz="1600" dirty="0"/>
          </a:p>
        </p:txBody>
      </p:sp>
      <p:sp>
        <p:nvSpPr>
          <p:cNvPr id="9" name="a1_12"/>
          <p:cNvSpPr txBox="1"/>
          <p:nvPr/>
        </p:nvSpPr>
        <p:spPr>
          <a:xfrm>
            <a:off x="4590288" y="2514600"/>
            <a:ext cx="1325880" cy="402336"/>
          </a:xfrm>
          <a:prstGeom prst="rect">
            <a:avLst/>
          </a:prstGeom>
          <a:noFill/>
          <a:ln/>
        </p:spPr>
        <p:txBody>
          <a:bodyPr wrap="square" lIns="0" tIns="0" rIns="0" bIns="0" rtlCol="0" anchor="ctr"/>
          <a:lstStyle/>
          <a:p>
            <a:pPr marL="0" indent="0" algn="r">
              <a:buNone/>
            </a:pPr>
            <a:r>
              <a:rPr lang="en-US" sz="1600" b="1" dirty="0">
                <a:solidFill>
                  <a:srgbClr val="FF8A5B"/>
                </a:solidFill>
                <a:latin typeface="Calibri" pitchFamily="34" charset="0"/>
                <a:ea typeface="Calibri" pitchFamily="34" charset="-122"/>
                <a:cs typeface="Calibri" pitchFamily="34" charset="-120"/>
              </a:rPr>
              <a:t>0.88</a:t>
            </a:r>
            <a:endParaRPr lang="en-US" sz="1600" dirty="0"/>
          </a:p>
        </p:txBody>
      </p:sp>
      <p:sp>
        <p:nvSpPr>
          <p:cNvPr id="10" name="a1_03"/>
          <p:cNvSpPr txBox="1"/>
          <p:nvPr/>
        </p:nvSpPr>
        <p:spPr>
          <a:xfrm>
            <a:off x="886968" y="3182112"/>
            <a:ext cx="3749040" cy="402336"/>
          </a:xfrm>
          <a:prstGeom prst="rect">
            <a:avLst/>
          </a:prstGeom>
          <a:noFill/>
          <a:ln/>
        </p:spPr>
        <p:txBody>
          <a:bodyPr wrap="square" lIns="0" tIns="0" rIns="0" bIns="0" rtlCol="0" anchor="ctr"/>
          <a:lstStyle/>
          <a:p>
            <a:pPr marL="0" indent="0">
              <a:buNone/>
            </a:pPr>
            <a:r>
              <a:rPr lang="en-US" sz="1600" dirty="0">
                <a:solidFill>
                  <a:srgbClr val="EAF2F8"/>
                </a:solidFill>
                <a:latin typeface="Calibri" pitchFamily="34" charset="0"/>
                <a:ea typeface="Calibri" pitchFamily="34" charset="-122"/>
                <a:cs typeface="Calibri" pitchFamily="34" charset="-120"/>
              </a:rPr>
              <a:t>Effort left for learning</a:t>
            </a:r>
            <a:endParaRPr lang="en-US" sz="1600" dirty="0"/>
          </a:p>
        </p:txBody>
      </p:sp>
      <p:sp>
        <p:nvSpPr>
          <p:cNvPr id="11" name="a1_13"/>
          <p:cNvSpPr txBox="1"/>
          <p:nvPr/>
        </p:nvSpPr>
        <p:spPr>
          <a:xfrm>
            <a:off x="4590288" y="3182112"/>
            <a:ext cx="1325880" cy="402336"/>
          </a:xfrm>
          <a:prstGeom prst="rect">
            <a:avLst/>
          </a:prstGeom>
          <a:noFill/>
          <a:ln/>
        </p:spPr>
        <p:txBody>
          <a:bodyPr wrap="square" lIns="0" tIns="0" rIns="0" bIns="0" rtlCol="0" anchor="ctr"/>
          <a:lstStyle/>
          <a:p>
            <a:pPr marL="0" indent="0" algn="r">
              <a:buNone/>
            </a:pPr>
            <a:r>
              <a:rPr lang="en-US" sz="1600" b="1" dirty="0">
                <a:solidFill>
                  <a:srgbClr val="EAF2F8"/>
                </a:solidFill>
                <a:latin typeface="Calibri" pitchFamily="34" charset="0"/>
                <a:ea typeface="Calibri" pitchFamily="34" charset="-122"/>
                <a:cs typeface="Calibri" pitchFamily="34" charset="-120"/>
              </a:rPr>
              <a:t>0.31</a:t>
            </a:r>
            <a:endParaRPr lang="en-US" sz="1600" dirty="0"/>
          </a:p>
        </p:txBody>
      </p:sp>
      <p:sp>
        <p:nvSpPr>
          <p:cNvPr id="12" name="a1_04"/>
          <p:cNvSpPr txBox="1"/>
          <p:nvPr/>
        </p:nvSpPr>
        <p:spPr>
          <a:xfrm>
            <a:off x="886968" y="3849624"/>
            <a:ext cx="3749040" cy="402336"/>
          </a:xfrm>
          <a:prstGeom prst="rect">
            <a:avLst/>
          </a:prstGeom>
          <a:noFill/>
          <a:ln/>
        </p:spPr>
        <p:txBody>
          <a:bodyPr wrap="square" lIns="0" tIns="0" rIns="0" bIns="0" rtlCol="0" anchor="ctr"/>
          <a:lstStyle/>
          <a:p>
            <a:pPr marL="0" indent="0">
              <a:buNone/>
            </a:pPr>
            <a:r>
              <a:rPr lang="en-US" sz="1600" dirty="0">
                <a:solidFill>
                  <a:srgbClr val="EAF2F8"/>
                </a:solidFill>
                <a:latin typeface="Calibri" pitchFamily="34" charset="0"/>
                <a:ea typeface="Calibri" pitchFamily="34" charset="-122"/>
                <a:cs typeface="Calibri" pitchFamily="34" charset="-120"/>
              </a:rPr>
              <a:t>Locked on one instrument</a:t>
            </a:r>
            <a:endParaRPr lang="en-US" sz="1600" dirty="0"/>
          </a:p>
        </p:txBody>
      </p:sp>
      <p:sp>
        <p:nvSpPr>
          <p:cNvPr id="13" name="a1_14"/>
          <p:cNvSpPr txBox="1"/>
          <p:nvPr/>
        </p:nvSpPr>
        <p:spPr>
          <a:xfrm>
            <a:off x="4590288" y="3849624"/>
            <a:ext cx="1325880" cy="402336"/>
          </a:xfrm>
          <a:prstGeom prst="rect">
            <a:avLst/>
          </a:prstGeom>
          <a:noFill/>
          <a:ln/>
        </p:spPr>
        <p:txBody>
          <a:bodyPr wrap="square" lIns="0" tIns="0" rIns="0" bIns="0" rtlCol="0" anchor="ctr"/>
          <a:lstStyle/>
          <a:p>
            <a:pPr marL="0" indent="0" algn="r">
              <a:buNone/>
            </a:pPr>
            <a:r>
              <a:rPr lang="en-US" sz="1600" b="1" dirty="0">
                <a:solidFill>
                  <a:srgbClr val="FF8A5B"/>
                </a:solidFill>
                <a:latin typeface="Calibri" pitchFamily="34" charset="0"/>
                <a:ea typeface="Calibri" pitchFamily="34" charset="-122"/>
                <a:cs typeface="Calibri" pitchFamily="34" charset="-120"/>
              </a:rPr>
              <a:t>0.91 sure</a:t>
            </a:r>
            <a:endParaRPr lang="en-US" sz="1600" dirty="0"/>
          </a:p>
        </p:txBody>
      </p:sp>
      <p:sp>
        <p:nvSpPr>
          <p:cNvPr id="14" name="a1_05"/>
          <p:cNvSpPr txBox="1"/>
          <p:nvPr/>
        </p:nvSpPr>
        <p:spPr>
          <a:xfrm>
            <a:off x="886968" y="4517136"/>
            <a:ext cx="3749040" cy="402336"/>
          </a:xfrm>
          <a:prstGeom prst="rect">
            <a:avLst/>
          </a:prstGeom>
          <a:noFill/>
          <a:ln/>
        </p:spPr>
        <p:txBody>
          <a:bodyPr wrap="square" lIns="0" tIns="0" rIns="0" bIns="0" rtlCol="0" anchor="ctr"/>
          <a:lstStyle/>
          <a:p>
            <a:pPr marL="0" indent="0">
              <a:buNone/>
            </a:pPr>
            <a:r>
              <a:rPr lang="en-US" sz="1600" dirty="0">
                <a:solidFill>
                  <a:srgbClr val="EAF2F8"/>
                </a:solidFill>
                <a:latin typeface="Calibri" pitchFamily="34" charset="0"/>
                <a:ea typeface="Calibri" pitchFamily="34" charset="-122"/>
                <a:cs typeface="Calibri" pitchFamily="34" charset="-120"/>
              </a:rPr>
              <a:t>Mastery so far</a:t>
            </a:r>
            <a:endParaRPr lang="en-US" sz="1600" dirty="0"/>
          </a:p>
        </p:txBody>
      </p:sp>
      <p:sp>
        <p:nvSpPr>
          <p:cNvPr id="15" name="a1_15"/>
          <p:cNvSpPr txBox="1"/>
          <p:nvPr/>
        </p:nvSpPr>
        <p:spPr>
          <a:xfrm>
            <a:off x="4590288" y="4517136"/>
            <a:ext cx="1325880" cy="402336"/>
          </a:xfrm>
          <a:prstGeom prst="rect">
            <a:avLst/>
          </a:prstGeom>
          <a:noFill/>
          <a:ln/>
        </p:spPr>
        <p:txBody>
          <a:bodyPr wrap="square" lIns="0" tIns="0" rIns="0" bIns="0" rtlCol="0" anchor="ctr"/>
          <a:lstStyle/>
          <a:p>
            <a:pPr marL="0" indent="0" algn="r">
              <a:buNone/>
            </a:pPr>
            <a:r>
              <a:rPr lang="en-US" sz="1600" b="1" dirty="0">
                <a:solidFill>
                  <a:srgbClr val="EAF2F8"/>
                </a:solidFill>
                <a:latin typeface="Calibri" pitchFamily="34" charset="0"/>
                <a:ea typeface="Calibri" pitchFamily="34" charset="-122"/>
                <a:cs typeface="Calibri" pitchFamily="34" charset="-120"/>
              </a:rPr>
              <a:t>0.47</a:t>
            </a:r>
            <a:endParaRPr lang="en-US" sz="1600" dirty="0"/>
          </a:p>
        </p:txBody>
      </p:sp>
      <p:sp>
        <p:nvSpPr>
          <p:cNvPr id="16" name="a2_01b"/>
          <p:cNvSpPr/>
          <p:nvPr/>
        </p:nvSpPr>
        <p:spPr>
          <a:xfrm>
            <a:off x="6510528" y="1627632"/>
            <a:ext cx="5120640" cy="1691640"/>
          </a:xfrm>
          <a:prstGeom prst="roundRect">
            <a:avLst>
              <a:gd name="adj" fmla="val 4324"/>
            </a:avLst>
          </a:prstGeom>
          <a:solidFill>
            <a:srgbClr val="152A45"/>
          </a:solidFill>
          <a:ln w="12700">
            <a:solidFill>
              <a:srgbClr val="27425F"/>
            </a:solidFill>
            <a:prstDash val="solid"/>
          </a:ln>
        </p:spPr>
        <p:txBody>
          <a:bodyPr/>
          <a:lstStyle/>
          <a:p>
            <a:endParaRPr lang="en-CA"/>
          </a:p>
        </p:txBody>
      </p:sp>
      <p:sp>
        <p:nvSpPr>
          <p:cNvPr id="17" name="a2_01e"/>
          <p:cNvSpPr txBox="1"/>
          <p:nvPr/>
        </p:nvSpPr>
        <p:spPr>
          <a:xfrm>
            <a:off x="6784848" y="1810512"/>
            <a:ext cx="4572000" cy="457200"/>
          </a:xfrm>
          <a:prstGeom prst="rect">
            <a:avLst/>
          </a:prstGeom>
          <a:noFill/>
          <a:ln/>
        </p:spPr>
        <p:txBody>
          <a:bodyPr wrap="square" lIns="0" tIns="0" rIns="0" bIns="0" rtlCol="0" anchor="ctr"/>
          <a:lstStyle/>
          <a:p>
            <a:pPr marL="0" indent="0">
              <a:buNone/>
            </a:pPr>
            <a:r>
              <a:rPr lang="en-US" sz="1900" b="1" dirty="0">
                <a:solidFill>
                  <a:srgbClr val="4ED8E6"/>
                </a:solidFill>
                <a:latin typeface="Calibri" pitchFamily="34" charset="0"/>
                <a:ea typeface="Calibri" pitchFamily="34" charset="-122"/>
                <a:cs typeface="Calibri" pitchFamily="34" charset="-120"/>
              </a:rPr>
              <a:t>What it did</a:t>
            </a:r>
            <a:endParaRPr lang="en-US" sz="1900" dirty="0"/>
          </a:p>
        </p:txBody>
      </p:sp>
      <p:sp>
        <p:nvSpPr>
          <p:cNvPr id="18" name="a2_01f"/>
          <p:cNvSpPr txBox="1"/>
          <p:nvPr/>
        </p:nvSpPr>
        <p:spPr>
          <a:xfrm>
            <a:off x="6784848" y="2414016"/>
            <a:ext cx="4572000" cy="777240"/>
          </a:xfrm>
          <a:prstGeom prst="rect">
            <a:avLst/>
          </a:prstGeom>
          <a:noFill/>
          <a:ln/>
        </p:spPr>
        <p:txBody>
          <a:bodyPr wrap="square" lIns="0" tIns="0" rIns="0" bIns="0" rtlCol="0" anchor="ctr"/>
          <a:lstStyle/>
          <a:p>
            <a:pPr marL="0" indent="0">
              <a:lnSpc>
                <a:spcPct val="115000"/>
              </a:lnSpc>
              <a:buNone/>
            </a:pPr>
            <a:r>
              <a:rPr lang="en-US" sz="1500" dirty="0">
                <a:solidFill>
                  <a:srgbClr val="EAF2F8"/>
                </a:solidFill>
                <a:latin typeface="Calibri" pitchFamily="34" charset="0"/>
                <a:ea typeface="Calibri" pitchFamily="34" charset="-122"/>
                <a:cs typeface="Calibri" pitchFamily="34" charset="-120"/>
              </a:rPr>
              <a:t>Dimmed the display, and spoke in role rather than pausing.</a:t>
            </a:r>
            <a:endParaRPr lang="en-US" sz="1500" dirty="0"/>
          </a:p>
        </p:txBody>
      </p:sp>
      <p:sp>
        <p:nvSpPr>
          <p:cNvPr id="19" name="a2_02b"/>
          <p:cNvSpPr/>
          <p:nvPr/>
        </p:nvSpPr>
        <p:spPr>
          <a:xfrm>
            <a:off x="6510528" y="3639312"/>
            <a:ext cx="5120640" cy="1691640"/>
          </a:xfrm>
          <a:prstGeom prst="roundRect">
            <a:avLst>
              <a:gd name="adj" fmla="val 4324"/>
            </a:avLst>
          </a:prstGeom>
          <a:solidFill>
            <a:srgbClr val="152A45"/>
          </a:solidFill>
          <a:ln w="12700">
            <a:solidFill>
              <a:srgbClr val="27425F"/>
            </a:solidFill>
            <a:prstDash val="solid"/>
          </a:ln>
        </p:spPr>
        <p:txBody>
          <a:bodyPr/>
          <a:lstStyle/>
          <a:p>
            <a:endParaRPr lang="en-CA"/>
          </a:p>
        </p:txBody>
      </p:sp>
      <p:sp>
        <p:nvSpPr>
          <p:cNvPr id="20" name="a2_02e"/>
          <p:cNvSpPr txBox="1"/>
          <p:nvPr/>
        </p:nvSpPr>
        <p:spPr>
          <a:xfrm>
            <a:off x="6784848" y="3822192"/>
            <a:ext cx="4572000" cy="457200"/>
          </a:xfrm>
          <a:prstGeom prst="rect">
            <a:avLst/>
          </a:prstGeom>
          <a:noFill/>
          <a:ln/>
        </p:spPr>
        <p:txBody>
          <a:bodyPr wrap="square" lIns="0" tIns="0" rIns="0" bIns="0" rtlCol="0" anchor="ctr"/>
          <a:lstStyle/>
          <a:p>
            <a:pPr marL="0" indent="0">
              <a:buNone/>
            </a:pPr>
            <a:r>
              <a:rPr lang="en-US" sz="1900" b="1" dirty="0">
                <a:solidFill>
                  <a:srgbClr val="7FB3FF"/>
                </a:solidFill>
                <a:latin typeface="Calibri" pitchFamily="34" charset="0"/>
                <a:ea typeface="Calibri" pitchFamily="34" charset="-122"/>
                <a:cs typeface="Calibri" pitchFamily="34" charset="-120"/>
              </a:rPr>
              <a:t>Why</a:t>
            </a:r>
            <a:endParaRPr lang="en-US" sz="1900" dirty="0"/>
          </a:p>
        </p:txBody>
      </p:sp>
      <p:sp>
        <p:nvSpPr>
          <p:cNvPr id="21" name="a2_02f"/>
          <p:cNvSpPr txBox="1"/>
          <p:nvPr/>
        </p:nvSpPr>
        <p:spPr>
          <a:xfrm>
            <a:off x="6784848" y="4425696"/>
            <a:ext cx="4572000" cy="777240"/>
          </a:xfrm>
          <a:prstGeom prst="rect">
            <a:avLst/>
          </a:prstGeom>
          <a:noFill/>
          <a:ln/>
        </p:spPr>
        <p:txBody>
          <a:bodyPr wrap="square" lIns="0" tIns="0" rIns="0" bIns="0" rtlCol="0" anchor="ctr"/>
          <a:lstStyle/>
          <a:p>
            <a:pPr marL="0" indent="0">
              <a:lnSpc>
                <a:spcPct val="115000"/>
              </a:lnSpc>
              <a:buNone/>
            </a:pPr>
            <a:r>
              <a:rPr lang="en-US" sz="1500" dirty="0">
                <a:solidFill>
                  <a:srgbClr val="EAF2F8"/>
                </a:solidFill>
                <a:latin typeface="Calibri" pitchFamily="34" charset="0"/>
                <a:ea typeface="Calibri" pitchFamily="34" charset="-122"/>
                <a:cs typeface="Calibri" pitchFamily="34" charset="-120"/>
              </a:rPr>
              <a:t>Wasted effort stayed above 0.85 for 400 ms while the eyes never checked airspeed.</a:t>
            </a:r>
            <a:endParaRPr lang="en-US" sz="1500" dirty="0"/>
          </a:p>
        </p:txBody>
      </p:sp>
      <p:sp>
        <p:nvSpPr>
          <p:cNvPr id="22" name="a2_03"/>
          <p:cNvSpPr txBox="1"/>
          <p:nvPr/>
        </p:nvSpPr>
        <p:spPr>
          <a:xfrm>
            <a:off x="566928" y="6199632"/>
            <a:ext cx="11057839" cy="365760"/>
          </a:xfrm>
          <a:prstGeom prst="rect">
            <a:avLst/>
          </a:prstGeom>
          <a:noFill/>
          <a:ln/>
        </p:spPr>
        <p:txBody>
          <a:bodyPr wrap="square" lIns="0" tIns="0" rIns="0" bIns="0" rtlCol="0" anchor="ctr"/>
          <a:lstStyle/>
          <a:p>
            <a:pPr marL="0" indent="0">
              <a:buNone/>
            </a:pPr>
            <a:r>
              <a:rPr lang="en-US" sz="1400" i="1" dirty="0">
                <a:solidFill>
                  <a:srgbClr val="9BB0C4"/>
                </a:solidFill>
                <a:latin typeface="Calibri" pitchFamily="34" charset="0"/>
                <a:ea typeface="Calibri" pitchFamily="34" charset="-122"/>
                <a:cs typeface="Calibri" pitchFamily="34" charset="-120"/>
              </a:rPr>
              <a:t>Every change is stored next to the reading that caused it.</a:t>
            </a:r>
            <a:endParaRPr lang="en-US" sz="1400" dirty="0"/>
          </a:p>
        </p:txBody>
      </p:sp>
    </p:spTree>
  </p:cSld>
  <p:clrMapOvr>
    <a:masterClrMapping/>
  </p:clrMapOvr>
  <p:transition spd="slow" advClick="0" advTm="20000">
    <p:fade/>
  </p:transition>
  <p:timing>
    <p:tnLst>
      <p:par>
        <p:cTn id="1" dur="indefinite" restart="never" nodeType="tmRoot">
          <p:childTnLst>
            <p:seq concurrent="1" nextAc="seek">
              <p:cTn id="2" dur="indefinite" nodeType="mainSeq">
                <p:childTnLst>
                  <p:par>
                    <p:cTn id="3" fill="hold">
                      <p:stCondLst>
                        <p:cond delay="1200"/>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nodeType="withEffect">
                                  <p:stCondLst>
                                    <p:cond delay="15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nodeType="withEffect">
                                  <p:stCondLst>
                                    <p:cond delay="30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400"/>
                                        <p:tgtEl>
                                          <p:spTgt spid="8"/>
                                        </p:tgtEl>
                                      </p:cBhvr>
                                    </p:animEffect>
                                  </p:childTnLst>
                                </p:cTn>
                              </p:par>
                              <p:par>
                                <p:cTn id="14" presetID="10" presetClass="entr" presetSubtype="0" fill="hold" nodeType="withEffect">
                                  <p:stCondLst>
                                    <p:cond delay="45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400"/>
                                        <p:tgtEl>
                                          <p:spTgt spid="10"/>
                                        </p:tgtEl>
                                      </p:cBhvr>
                                    </p:animEffect>
                                  </p:childTnLst>
                                </p:cTn>
                              </p:par>
                              <p:par>
                                <p:cTn id="17" presetID="10" presetClass="entr" presetSubtype="0" fill="hold" nodeType="withEffect">
                                  <p:stCondLst>
                                    <p:cond delay="60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400"/>
                                        <p:tgtEl>
                                          <p:spTgt spid="12"/>
                                        </p:tgtEl>
                                      </p:cBhvr>
                                    </p:animEffect>
                                  </p:childTnLst>
                                </p:cTn>
                              </p:par>
                              <p:par>
                                <p:cTn id="20" presetID="10" presetClass="entr" presetSubtype="0" fill="hold" nodeType="withEffect">
                                  <p:stCondLst>
                                    <p:cond delay="75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400"/>
                                        <p:tgtEl>
                                          <p:spTgt spid="14"/>
                                        </p:tgtEl>
                                      </p:cBhvr>
                                    </p:animEffect>
                                  </p:childTnLst>
                                </p:cTn>
                              </p:par>
                              <p:par>
                                <p:cTn id="23" presetID="10" presetClass="entr" presetSubtype="0" fill="hold" nodeType="withEffect">
                                  <p:stCondLst>
                                    <p:cond delay="90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400"/>
                                        <p:tgtEl>
                                          <p:spTgt spid="7"/>
                                        </p:tgtEl>
                                      </p:cBhvr>
                                    </p:animEffect>
                                  </p:childTnLst>
                                </p:cTn>
                              </p:par>
                              <p:par>
                                <p:cTn id="26" presetID="10" presetClass="entr" presetSubtype="0" fill="hold" nodeType="withEffect">
                                  <p:stCondLst>
                                    <p:cond delay="105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400"/>
                                        <p:tgtEl>
                                          <p:spTgt spid="9"/>
                                        </p:tgtEl>
                                      </p:cBhvr>
                                    </p:animEffect>
                                  </p:childTnLst>
                                </p:cTn>
                              </p:par>
                              <p:par>
                                <p:cTn id="29" presetID="10" presetClass="entr" presetSubtype="0" fill="hold" nodeType="withEffect">
                                  <p:stCondLst>
                                    <p:cond delay="120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400"/>
                                        <p:tgtEl>
                                          <p:spTgt spid="11"/>
                                        </p:tgtEl>
                                      </p:cBhvr>
                                    </p:animEffect>
                                  </p:childTnLst>
                                </p:cTn>
                              </p:par>
                              <p:par>
                                <p:cTn id="32" presetID="10" presetClass="entr" presetSubtype="0" fill="hold" nodeType="withEffect">
                                  <p:stCondLst>
                                    <p:cond delay="135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00"/>
                                        <p:tgtEl>
                                          <p:spTgt spid="13"/>
                                        </p:tgtEl>
                                      </p:cBhvr>
                                    </p:animEffect>
                                  </p:childTnLst>
                                </p:cTn>
                              </p:par>
                              <p:par>
                                <p:cTn id="35" presetID="10" presetClass="entr" presetSubtype="0" fill="hold" nodeType="withEffect">
                                  <p:stCondLst>
                                    <p:cond delay="150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400"/>
                                        <p:tgtEl>
                                          <p:spTgt spid="15"/>
                                        </p:tgtEl>
                                      </p:cBhvr>
                                    </p:animEffect>
                                  </p:childTnLst>
                                </p:cTn>
                              </p:par>
                            </p:childTnLst>
                          </p:cTn>
                        </p:par>
                      </p:childTnLst>
                    </p:cTn>
                  </p:par>
                  <p:par>
                    <p:cTn id="38" fill="hold">
                      <p:stCondLst>
                        <p:cond delay="9150"/>
                      </p:stCondLst>
                      <p:childTnLst>
                        <p:par>
                          <p:cTn id="39" fill="hold">
                            <p:stCondLst>
                              <p:cond delay="0"/>
                            </p:stCondLst>
                            <p:childTnLst>
                              <p:par>
                                <p:cTn id="40" presetID="10" presetClass="entr" presetSubtype="0" fill="hold" nodeType="after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400"/>
                                        <p:tgtEl>
                                          <p:spTgt spid="16"/>
                                        </p:tgtEl>
                                      </p:cBhvr>
                                    </p:animEffect>
                                  </p:childTnLst>
                                </p:cTn>
                              </p:par>
                              <p:par>
                                <p:cTn id="43" presetID="10" presetClass="entr" presetSubtype="0" fill="hold" nodeType="with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400"/>
                                        <p:tgtEl>
                                          <p:spTgt spid="17"/>
                                        </p:tgtEl>
                                      </p:cBhvr>
                                    </p:animEffect>
                                  </p:childTnLst>
                                </p:cTn>
                              </p:par>
                              <p:par>
                                <p:cTn id="46" presetID="10" presetClass="entr" presetSubtype="0" fill="hold" nodeType="withEffect">
                                  <p:stCondLst>
                                    <p:cond delay="0"/>
                                  </p:stCondLst>
                                  <p:childTnLst>
                                    <p:set>
                                      <p:cBhvr>
                                        <p:cTn id="47" dur="1" fill="hold">
                                          <p:stCondLst>
                                            <p:cond delay="0"/>
                                          </p:stCondLst>
                                        </p:cTn>
                                        <p:tgtEl>
                                          <p:spTgt spid="18"/>
                                        </p:tgtEl>
                                        <p:attrNameLst>
                                          <p:attrName>style.visibility</p:attrName>
                                        </p:attrNameLst>
                                      </p:cBhvr>
                                      <p:to>
                                        <p:strVal val="visible"/>
                                      </p:to>
                                    </p:set>
                                    <p:animEffect transition="in" filter="fade">
                                      <p:cBhvr>
                                        <p:cTn id="48" dur="400"/>
                                        <p:tgtEl>
                                          <p:spTgt spid="18"/>
                                        </p:tgtEl>
                                      </p:cBhvr>
                                    </p:animEffect>
                                  </p:childTnLst>
                                </p:cTn>
                              </p:par>
                              <p:par>
                                <p:cTn id="49" presetID="10" presetClass="entr" presetSubtype="0" fill="hold" nodeType="withEffect">
                                  <p:stCondLst>
                                    <p:cond delay="15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400"/>
                                        <p:tgtEl>
                                          <p:spTgt spid="19"/>
                                        </p:tgtEl>
                                      </p:cBhvr>
                                    </p:animEffect>
                                  </p:childTnLst>
                                </p:cTn>
                              </p:par>
                              <p:par>
                                <p:cTn id="52" presetID="10" presetClass="entr" presetSubtype="0" fill="hold" nodeType="withEffect">
                                  <p:stCondLst>
                                    <p:cond delay="15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400"/>
                                        <p:tgtEl>
                                          <p:spTgt spid="20"/>
                                        </p:tgtEl>
                                      </p:cBhvr>
                                    </p:animEffect>
                                  </p:childTnLst>
                                </p:cTn>
                              </p:par>
                              <p:par>
                                <p:cTn id="55" presetID="10" presetClass="entr" presetSubtype="0" fill="hold" nodeType="withEffect">
                                  <p:stCondLst>
                                    <p:cond delay="150"/>
                                  </p:stCondLst>
                                  <p:childTnLst>
                                    <p:set>
                                      <p:cBhvr>
                                        <p:cTn id="56" dur="1" fill="hold">
                                          <p:stCondLst>
                                            <p:cond delay="0"/>
                                          </p:stCondLst>
                                        </p:cTn>
                                        <p:tgtEl>
                                          <p:spTgt spid="21"/>
                                        </p:tgtEl>
                                        <p:attrNameLst>
                                          <p:attrName>style.visibility</p:attrName>
                                        </p:attrNameLst>
                                      </p:cBhvr>
                                      <p:to>
                                        <p:strVal val="visible"/>
                                      </p:to>
                                    </p:set>
                                    <p:animEffect transition="in" filter="fade">
                                      <p:cBhvr>
                                        <p:cTn id="57" dur="400"/>
                                        <p:tgtEl>
                                          <p:spTgt spid="21"/>
                                        </p:tgtEl>
                                      </p:cBhvr>
                                    </p:animEffect>
                                  </p:childTnLst>
                                </p:cTn>
                              </p:par>
                              <p:par>
                                <p:cTn id="58" presetID="10" presetClass="entr" presetSubtype="0" fill="hold" nodeType="withEffect">
                                  <p:stCondLst>
                                    <p:cond delay="300"/>
                                  </p:stCondLst>
                                  <p:childTnLst>
                                    <p:set>
                                      <p:cBhvr>
                                        <p:cTn id="59" dur="1" fill="hold">
                                          <p:stCondLst>
                                            <p:cond delay="0"/>
                                          </p:stCondLst>
                                        </p:cTn>
                                        <p:tgtEl>
                                          <p:spTgt spid="22"/>
                                        </p:tgtEl>
                                        <p:attrNameLst>
                                          <p:attrName>style.visibility</p:attrName>
                                        </p:attrNameLst>
                                      </p:cBhvr>
                                      <p:to>
                                        <p:strVal val="visible"/>
                                      </p:to>
                                    </p:set>
                                    <p:animEffect transition="in" filter="fade">
                                      <p:cBhvr>
                                        <p:cTn id="60"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628"/>
        </a:solidFill>
        <a:effectLst/>
      </p:bgPr>
    </p:bg>
    <p:spTree>
      <p:nvGrpSpPr>
        <p:cNvPr id="1" name=""/>
        <p:cNvGrpSpPr/>
        <p:nvPr/>
      </p:nvGrpSpPr>
      <p:grpSpPr>
        <a:xfrm>
          <a:off x="0" y="0"/>
          <a:ext cx="0" cy="0"/>
          <a:chOff x="0" y="0"/>
          <a:chExt cx="0" cy="0"/>
        </a:xfrm>
      </p:grpSpPr>
      <p:sp>
        <p:nvSpPr>
          <p:cNvPr id="3" name="Text 0"/>
          <p:cNvSpPr txBox="1"/>
          <p:nvPr/>
        </p:nvSpPr>
        <p:spPr>
          <a:xfrm>
            <a:off x="566928" y="384048"/>
            <a:ext cx="11057839" cy="274320"/>
          </a:xfrm>
          <a:prstGeom prst="rect">
            <a:avLst/>
          </a:prstGeom>
          <a:noFill/>
          <a:ln/>
        </p:spPr>
        <p:txBody>
          <a:bodyPr wrap="square" lIns="0" tIns="0" rIns="0" bIns="0" rtlCol="0" anchor="ctr"/>
          <a:lstStyle/>
          <a:p>
            <a:pPr marL="0" indent="0">
              <a:buNone/>
            </a:pPr>
            <a:r>
              <a:rPr lang="en-US" sz="1400" b="1" kern="0" spc="300" dirty="0">
                <a:solidFill>
                  <a:srgbClr val="4ED8E6"/>
                </a:solidFill>
                <a:latin typeface="Calibri" pitchFamily="34" charset="0"/>
                <a:ea typeface="Calibri" pitchFamily="34" charset="-122"/>
                <a:cs typeface="Calibri" pitchFamily="34" charset="-120"/>
              </a:rPr>
              <a:t>ACTIVITY 3</a:t>
            </a:r>
            <a:endParaRPr lang="en-US" sz="1400" dirty="0"/>
          </a:p>
        </p:txBody>
      </p:sp>
      <p:sp>
        <p:nvSpPr>
          <p:cNvPr id="4" name="Text 1"/>
          <p:cNvSpPr txBox="1"/>
          <p:nvPr/>
        </p:nvSpPr>
        <p:spPr>
          <a:xfrm>
            <a:off x="566928" y="676656"/>
            <a:ext cx="11057839" cy="658368"/>
          </a:xfrm>
          <a:prstGeom prst="rect">
            <a:avLst/>
          </a:prstGeom>
          <a:noFill/>
          <a:ln/>
        </p:spPr>
        <p:txBody>
          <a:bodyPr wrap="square" lIns="0" tIns="0" rIns="0" bIns="0" rtlCol="0" anchor="ctr"/>
          <a:lstStyle/>
          <a:p>
            <a:pPr marL="0" indent="0">
              <a:buNone/>
            </a:pPr>
            <a:r>
              <a:rPr lang="en-US" sz="3600" b="1" dirty="0">
                <a:solidFill>
                  <a:srgbClr val="EAF2F8"/>
                </a:solidFill>
                <a:latin typeface="Calibri" pitchFamily="34" charset="0"/>
                <a:ea typeface="Calibri" pitchFamily="34" charset="-122"/>
                <a:cs typeface="Calibri" pitchFamily="34" charset="-120"/>
              </a:rPr>
              <a:t>Nothing from the body leaves the room</a:t>
            </a:r>
            <a:endParaRPr lang="en-US" sz="3600" dirty="0"/>
          </a:p>
        </p:txBody>
      </p:sp>
      <p:sp>
        <p:nvSpPr>
          <p:cNvPr id="5" name="a1_01b"/>
          <p:cNvSpPr/>
          <p:nvPr/>
        </p:nvSpPr>
        <p:spPr>
          <a:xfrm>
            <a:off x="475488" y="1481328"/>
            <a:ext cx="7772400" cy="4382414"/>
          </a:xfrm>
          <a:prstGeom prst="roundRect">
            <a:avLst>
              <a:gd name="adj" fmla="val 1043"/>
            </a:avLst>
          </a:prstGeom>
          <a:solidFill>
            <a:srgbClr val="FFFFFF"/>
          </a:solidFill>
          <a:ln w="12700">
            <a:solidFill>
              <a:srgbClr val="FFFFFF"/>
            </a:solidFill>
            <a:prstDash val="solid"/>
          </a:ln>
          <a:effectLst>
            <a:outerShdw blurRad="228600" dist="50800" dir="5400000" algn="bl" rotWithShape="0">
              <a:srgbClr val="000000">
                <a:alpha val="45000"/>
              </a:srgbClr>
            </a:outerShdw>
          </a:effectLst>
        </p:spPr>
        <p:txBody>
          <a:bodyPr/>
          <a:lstStyle/>
          <a:p>
            <a:endParaRPr lang="en-CA"/>
          </a:p>
        </p:txBody>
      </p:sp>
      <p:pic>
        <p:nvPicPr>
          <p:cNvPr id="6" name="a1_01i" descr="/home/claude/repo/cognisim/figures/fig7_fldp.png"/>
          <p:cNvPicPr>
            <a:picLocks noChangeAspect="1"/>
          </p:cNvPicPr>
          <p:nvPr/>
        </p:nvPicPr>
        <p:blipFill>
          <a:blip r:embed="rId3"/>
          <a:stretch>
            <a:fillRect/>
          </a:stretch>
        </p:blipFill>
        <p:spPr>
          <a:xfrm>
            <a:off x="566928" y="1572768"/>
            <a:ext cx="7589520" cy="4199534"/>
          </a:xfrm>
          <a:prstGeom prst="rect">
            <a:avLst/>
          </a:prstGeom>
        </p:spPr>
      </p:pic>
      <p:sp>
        <p:nvSpPr>
          <p:cNvPr id="7" name="a2_01b"/>
          <p:cNvSpPr/>
          <p:nvPr/>
        </p:nvSpPr>
        <p:spPr>
          <a:xfrm>
            <a:off x="8613648" y="1920240"/>
            <a:ext cx="3566160" cy="402336"/>
          </a:xfrm>
          <a:prstGeom prst="roundRect">
            <a:avLst>
              <a:gd name="adj" fmla="val 50000"/>
            </a:avLst>
          </a:prstGeom>
          <a:solidFill>
            <a:srgbClr val="12314A"/>
          </a:solidFill>
          <a:ln w="12700">
            <a:solidFill>
              <a:srgbClr val="2F6577"/>
            </a:solidFill>
            <a:prstDash val="solid"/>
          </a:ln>
        </p:spPr>
        <p:txBody>
          <a:bodyPr/>
          <a:lstStyle/>
          <a:p>
            <a:endParaRPr lang="en-CA"/>
          </a:p>
        </p:txBody>
      </p:sp>
      <p:sp>
        <p:nvSpPr>
          <p:cNvPr id="8" name="a2_01t"/>
          <p:cNvSpPr txBox="1"/>
          <p:nvPr/>
        </p:nvSpPr>
        <p:spPr>
          <a:xfrm>
            <a:off x="8613648" y="1920240"/>
            <a:ext cx="3566160" cy="402336"/>
          </a:xfrm>
          <a:prstGeom prst="rect">
            <a:avLst/>
          </a:prstGeom>
          <a:noFill/>
          <a:ln/>
        </p:spPr>
        <p:txBody>
          <a:bodyPr wrap="square" lIns="0" tIns="0" rIns="0" bIns="0" rtlCol="0" anchor="ctr"/>
          <a:lstStyle/>
          <a:p>
            <a:pPr marL="0" indent="0" algn="ctr">
              <a:buNone/>
            </a:pPr>
            <a:r>
              <a:rPr lang="en-US" sz="1400" dirty="0">
                <a:solidFill>
                  <a:srgbClr val="D6F3F8"/>
                </a:solidFill>
                <a:latin typeface="Calibri" pitchFamily="34" charset="0"/>
                <a:ea typeface="Calibri" pitchFamily="34" charset="-122"/>
                <a:cs typeface="Calibri" pitchFamily="34" charset="-120"/>
              </a:rPr>
              <a:t>Device blurs at 2</a:t>
            </a:r>
            <a:endParaRPr lang="en-US" sz="1400" dirty="0"/>
          </a:p>
        </p:txBody>
      </p:sp>
      <p:sp>
        <p:nvSpPr>
          <p:cNvPr id="9" name="a2_02b"/>
          <p:cNvSpPr/>
          <p:nvPr/>
        </p:nvSpPr>
        <p:spPr>
          <a:xfrm>
            <a:off x="8613648" y="2578608"/>
            <a:ext cx="3566160" cy="402336"/>
          </a:xfrm>
          <a:prstGeom prst="roundRect">
            <a:avLst>
              <a:gd name="adj" fmla="val 50000"/>
            </a:avLst>
          </a:prstGeom>
          <a:solidFill>
            <a:srgbClr val="12314A"/>
          </a:solidFill>
          <a:ln w="12700">
            <a:solidFill>
              <a:srgbClr val="2F6577"/>
            </a:solidFill>
            <a:prstDash val="solid"/>
          </a:ln>
        </p:spPr>
        <p:txBody>
          <a:bodyPr/>
          <a:lstStyle/>
          <a:p>
            <a:endParaRPr lang="en-CA"/>
          </a:p>
        </p:txBody>
      </p:sp>
      <p:sp>
        <p:nvSpPr>
          <p:cNvPr id="10" name="a2_02t"/>
          <p:cNvSpPr txBox="1"/>
          <p:nvPr/>
        </p:nvSpPr>
        <p:spPr>
          <a:xfrm>
            <a:off x="8613648" y="2578608"/>
            <a:ext cx="3566160" cy="402336"/>
          </a:xfrm>
          <a:prstGeom prst="rect">
            <a:avLst/>
          </a:prstGeom>
          <a:noFill/>
          <a:ln/>
        </p:spPr>
        <p:txBody>
          <a:bodyPr wrap="square" lIns="0" tIns="0" rIns="0" bIns="0" rtlCol="0" anchor="ctr"/>
          <a:lstStyle/>
          <a:p>
            <a:pPr marL="0" indent="0" algn="ctr">
              <a:buNone/>
            </a:pPr>
            <a:r>
              <a:rPr lang="en-US" sz="1400" dirty="0">
                <a:solidFill>
                  <a:srgbClr val="D6F3F8"/>
                </a:solidFill>
                <a:latin typeface="Calibri" pitchFamily="34" charset="0"/>
                <a:ea typeface="Calibri" pitchFamily="34" charset="-122"/>
                <a:cs typeface="Calibri" pitchFamily="34" charset="-120"/>
              </a:rPr>
              <a:t>Server blurs at 1</a:t>
            </a:r>
            <a:endParaRPr lang="en-US" sz="1400" dirty="0"/>
          </a:p>
        </p:txBody>
      </p:sp>
      <p:sp>
        <p:nvSpPr>
          <p:cNvPr id="11" name="a2_03b"/>
          <p:cNvSpPr/>
          <p:nvPr/>
        </p:nvSpPr>
        <p:spPr>
          <a:xfrm>
            <a:off x="8613648" y="3236976"/>
            <a:ext cx="3566160" cy="402336"/>
          </a:xfrm>
          <a:prstGeom prst="roundRect">
            <a:avLst>
              <a:gd name="adj" fmla="val 50000"/>
            </a:avLst>
          </a:prstGeom>
          <a:solidFill>
            <a:srgbClr val="12314A"/>
          </a:solidFill>
          <a:ln w="12700">
            <a:solidFill>
              <a:srgbClr val="2F6577"/>
            </a:solidFill>
            <a:prstDash val="solid"/>
          </a:ln>
        </p:spPr>
        <p:txBody>
          <a:bodyPr/>
          <a:lstStyle/>
          <a:p>
            <a:endParaRPr lang="en-CA"/>
          </a:p>
        </p:txBody>
      </p:sp>
      <p:sp>
        <p:nvSpPr>
          <p:cNvPr id="12" name="a2_03t"/>
          <p:cNvSpPr txBox="1"/>
          <p:nvPr/>
        </p:nvSpPr>
        <p:spPr>
          <a:xfrm>
            <a:off x="8613648" y="3236976"/>
            <a:ext cx="3566160" cy="402336"/>
          </a:xfrm>
          <a:prstGeom prst="rect">
            <a:avLst/>
          </a:prstGeom>
          <a:noFill/>
          <a:ln/>
        </p:spPr>
        <p:txBody>
          <a:bodyPr wrap="square" lIns="0" tIns="0" rIns="0" bIns="0" rtlCol="0" anchor="ctr"/>
          <a:lstStyle/>
          <a:p>
            <a:pPr marL="0" indent="0" algn="ctr">
              <a:buNone/>
            </a:pPr>
            <a:r>
              <a:rPr lang="en-US" sz="1400" dirty="0">
                <a:solidFill>
                  <a:srgbClr val="D6F3F8"/>
                </a:solidFill>
                <a:latin typeface="Calibri" pitchFamily="34" charset="0"/>
                <a:ea typeface="Calibri" pitchFamily="34" charset="-122"/>
                <a:cs typeface="Calibri" pitchFamily="34" charset="-120"/>
              </a:rPr>
              <a:t>Summary trimmed to a fixed size</a:t>
            </a:r>
            <a:endParaRPr lang="en-US" sz="1400" dirty="0"/>
          </a:p>
        </p:txBody>
      </p:sp>
      <p:sp>
        <p:nvSpPr>
          <p:cNvPr id="13" name="a2_04b"/>
          <p:cNvSpPr/>
          <p:nvPr/>
        </p:nvSpPr>
        <p:spPr>
          <a:xfrm>
            <a:off x="8613648" y="3895344"/>
            <a:ext cx="3566160" cy="402336"/>
          </a:xfrm>
          <a:prstGeom prst="roundRect">
            <a:avLst>
              <a:gd name="adj" fmla="val 50000"/>
            </a:avLst>
          </a:prstGeom>
          <a:solidFill>
            <a:srgbClr val="12314A"/>
          </a:solidFill>
          <a:ln w="12700">
            <a:solidFill>
              <a:srgbClr val="2F6577"/>
            </a:solidFill>
            <a:prstDash val="solid"/>
          </a:ln>
        </p:spPr>
        <p:txBody>
          <a:bodyPr/>
          <a:lstStyle/>
          <a:p>
            <a:endParaRPr lang="en-CA"/>
          </a:p>
        </p:txBody>
      </p:sp>
      <p:sp>
        <p:nvSpPr>
          <p:cNvPr id="14" name="a2_04t"/>
          <p:cNvSpPr txBox="1"/>
          <p:nvPr/>
        </p:nvSpPr>
        <p:spPr>
          <a:xfrm>
            <a:off x="8613648" y="3895344"/>
            <a:ext cx="3566160" cy="402336"/>
          </a:xfrm>
          <a:prstGeom prst="rect">
            <a:avLst/>
          </a:prstGeom>
          <a:noFill/>
          <a:ln/>
        </p:spPr>
        <p:txBody>
          <a:bodyPr wrap="square" lIns="0" tIns="0" rIns="0" bIns="0" rtlCol="0" anchor="ctr"/>
          <a:lstStyle/>
          <a:p>
            <a:pPr marL="0" indent="0" algn="ctr">
              <a:buNone/>
            </a:pPr>
            <a:r>
              <a:rPr lang="en-US" sz="1400" dirty="0">
                <a:solidFill>
                  <a:srgbClr val="D6F3F8"/>
                </a:solidFill>
                <a:latin typeface="Calibri" pitchFamily="34" charset="0"/>
                <a:ea typeface="Calibri" pitchFamily="34" charset="-122"/>
                <a:cs typeface="Calibri" pitchFamily="34" charset="-120"/>
              </a:rPr>
              <a:t>Reduced to 95% of the variation first</a:t>
            </a:r>
            <a:endParaRPr lang="en-US" sz="1400" dirty="0"/>
          </a:p>
        </p:txBody>
      </p:sp>
    </p:spTree>
  </p:cSld>
  <p:clrMapOvr>
    <a:masterClrMapping/>
  </p:clrMapOvr>
  <p:transition spd="slow" advClick="0" advTm="20000">
    <p:fade/>
  </p:transition>
  <p:timing>
    <p:tnLst>
      <p:par>
        <p:cTn id="1" dur="indefinite" restart="never" nodeType="tmRoot">
          <p:childTnLst>
            <p:seq concurrent="1" nextAc="seek">
              <p:cTn id="2" dur="indefinite" nodeType="mainSeq">
                <p:childTnLst>
                  <p:par>
                    <p:cTn id="3" fill="hold">
                      <p:stCondLst>
                        <p:cond delay="1200"/>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childTnLst>
                          </p:cTn>
                        </p:par>
                      </p:childTnLst>
                    </p:cTn>
                  </p:par>
                  <p:par>
                    <p:cTn id="11" fill="hold">
                      <p:stCondLst>
                        <p:cond delay="9150"/>
                      </p:stCondLst>
                      <p:childTnLst>
                        <p:par>
                          <p:cTn id="12" fill="hold">
                            <p:stCondLst>
                              <p:cond delay="0"/>
                            </p:stCondLst>
                            <p:childTnLst>
                              <p:par>
                                <p:cTn id="13" presetID="10" presetClass="entr" presetSubtype="0" fill="hold"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400"/>
                                        <p:tgtEl>
                                          <p:spTgt spid="7"/>
                                        </p:tgtEl>
                                      </p:cBhvr>
                                    </p:animEffect>
                                  </p:childTnLst>
                                </p:cTn>
                              </p:par>
                              <p:par>
                                <p:cTn id="16" presetID="10" presetClass="entr" presetSubtype="0" fill="hold"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400"/>
                                        <p:tgtEl>
                                          <p:spTgt spid="8"/>
                                        </p:tgtEl>
                                      </p:cBhvr>
                                    </p:animEffect>
                                  </p:childTnLst>
                                </p:cTn>
                              </p:par>
                              <p:par>
                                <p:cTn id="19" presetID="10" presetClass="entr" presetSubtype="0" fill="hold" nodeType="withEffect">
                                  <p:stCondLst>
                                    <p:cond delay="15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nodeType="withEffect">
                                  <p:stCondLst>
                                    <p:cond delay="15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nodeType="withEffect">
                                  <p:stCondLst>
                                    <p:cond delay="30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nodeType="withEffect">
                                  <p:stCondLst>
                                    <p:cond delay="30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nodeType="withEffect">
                                  <p:stCondLst>
                                    <p:cond delay="45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nodeType="withEffect">
                                  <p:stCondLst>
                                    <p:cond delay="45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628"/>
        </a:solidFill>
        <a:effectLst/>
      </p:bgPr>
    </p:bg>
    <p:spTree>
      <p:nvGrpSpPr>
        <p:cNvPr id="1" name=""/>
        <p:cNvGrpSpPr/>
        <p:nvPr/>
      </p:nvGrpSpPr>
      <p:grpSpPr>
        <a:xfrm>
          <a:off x="0" y="0"/>
          <a:ext cx="0" cy="0"/>
          <a:chOff x="0" y="0"/>
          <a:chExt cx="0" cy="0"/>
        </a:xfrm>
      </p:grpSpPr>
      <p:sp>
        <p:nvSpPr>
          <p:cNvPr id="3" name="Text 0"/>
          <p:cNvSpPr txBox="1"/>
          <p:nvPr/>
        </p:nvSpPr>
        <p:spPr>
          <a:xfrm>
            <a:off x="566928" y="384048"/>
            <a:ext cx="11057839" cy="274320"/>
          </a:xfrm>
          <a:prstGeom prst="rect">
            <a:avLst/>
          </a:prstGeom>
          <a:noFill/>
          <a:ln/>
        </p:spPr>
        <p:txBody>
          <a:bodyPr wrap="square" lIns="0" tIns="0" rIns="0" bIns="0" rtlCol="0" anchor="ctr"/>
          <a:lstStyle/>
          <a:p>
            <a:pPr marL="0" indent="0">
              <a:buNone/>
            </a:pPr>
            <a:r>
              <a:rPr lang="en-US" sz="1400" b="1" kern="0" spc="300" dirty="0">
                <a:solidFill>
                  <a:srgbClr val="4ED8E6"/>
                </a:solidFill>
                <a:latin typeface="Calibri" pitchFamily="34" charset="0"/>
                <a:ea typeface="Calibri" pitchFamily="34" charset="-122"/>
                <a:cs typeface="Calibri" pitchFamily="34" charset="-120"/>
              </a:rPr>
              <a:t>ACTIVITY 3 · THE ATTACK</a:t>
            </a:r>
            <a:endParaRPr lang="en-US" sz="1400" dirty="0"/>
          </a:p>
        </p:txBody>
      </p:sp>
      <p:sp>
        <p:nvSpPr>
          <p:cNvPr id="4" name="Text 1"/>
          <p:cNvSpPr txBox="1"/>
          <p:nvPr/>
        </p:nvSpPr>
        <p:spPr>
          <a:xfrm>
            <a:off x="566928" y="676656"/>
            <a:ext cx="11057839" cy="658368"/>
          </a:xfrm>
          <a:prstGeom prst="rect">
            <a:avLst/>
          </a:prstGeom>
          <a:noFill/>
          <a:ln/>
        </p:spPr>
        <p:txBody>
          <a:bodyPr wrap="square" lIns="0" tIns="0" rIns="0" bIns="0" rtlCol="0" anchor="ctr"/>
          <a:lstStyle/>
          <a:p>
            <a:pPr marL="0" indent="0">
              <a:buNone/>
            </a:pPr>
            <a:r>
              <a:rPr lang="en-US" sz="3600" b="1" dirty="0">
                <a:solidFill>
                  <a:srgbClr val="EAF2F8"/>
                </a:solidFill>
                <a:latin typeface="Calibri" pitchFamily="34" charset="0"/>
                <a:ea typeface="Calibri" pitchFamily="34" charset="-122"/>
                <a:cs typeface="Calibri" pitchFamily="34" charset="-120"/>
              </a:rPr>
              <a:t>Try to break it</a:t>
            </a:r>
            <a:endParaRPr lang="en-US" sz="3600" dirty="0"/>
          </a:p>
        </p:txBody>
      </p:sp>
      <p:sp>
        <p:nvSpPr>
          <p:cNvPr id="5" name="a1_01b"/>
          <p:cNvSpPr/>
          <p:nvPr/>
        </p:nvSpPr>
        <p:spPr>
          <a:xfrm>
            <a:off x="566928" y="1572768"/>
            <a:ext cx="5486400" cy="2880360"/>
          </a:xfrm>
          <a:prstGeom prst="roundRect">
            <a:avLst>
              <a:gd name="adj" fmla="val 2540"/>
            </a:avLst>
          </a:prstGeom>
          <a:solidFill>
            <a:srgbClr val="3A2018"/>
          </a:solidFill>
          <a:ln w="12700">
            <a:solidFill>
              <a:srgbClr val="27425F"/>
            </a:solidFill>
            <a:prstDash val="solid"/>
          </a:ln>
        </p:spPr>
        <p:txBody>
          <a:bodyPr/>
          <a:lstStyle/>
          <a:p>
            <a:endParaRPr lang="en-CA"/>
          </a:p>
        </p:txBody>
      </p:sp>
      <p:sp>
        <p:nvSpPr>
          <p:cNvPr id="6" name="a1_01e"/>
          <p:cNvSpPr txBox="1"/>
          <p:nvPr/>
        </p:nvSpPr>
        <p:spPr>
          <a:xfrm>
            <a:off x="859536" y="1783080"/>
            <a:ext cx="4937760" cy="365760"/>
          </a:xfrm>
          <a:prstGeom prst="rect">
            <a:avLst/>
          </a:prstGeom>
          <a:noFill/>
          <a:ln/>
        </p:spPr>
        <p:txBody>
          <a:bodyPr wrap="square" lIns="0" tIns="0" rIns="0" bIns="0" rtlCol="0" anchor="ctr"/>
          <a:lstStyle/>
          <a:p>
            <a:pPr marL="0" indent="0">
              <a:buNone/>
            </a:pPr>
            <a:r>
              <a:rPr lang="en-US" sz="1900" b="1" dirty="0">
                <a:solidFill>
                  <a:srgbClr val="FF8A5B"/>
                </a:solidFill>
                <a:latin typeface="Calibri" pitchFamily="34" charset="0"/>
                <a:ea typeface="Calibri" pitchFamily="34" charset="-122"/>
                <a:cs typeface="Calibri" pitchFamily="34" charset="-120"/>
              </a:rPr>
              <a:t>Protection off</a:t>
            </a:r>
            <a:endParaRPr lang="en-US" sz="1900" dirty="0"/>
          </a:p>
        </p:txBody>
      </p:sp>
      <p:sp>
        <p:nvSpPr>
          <p:cNvPr id="7" name="a1_02"/>
          <p:cNvSpPr txBox="1"/>
          <p:nvPr/>
        </p:nvSpPr>
        <p:spPr>
          <a:xfrm>
            <a:off x="859536" y="2286000"/>
            <a:ext cx="4937760" cy="868680"/>
          </a:xfrm>
          <a:prstGeom prst="rect">
            <a:avLst/>
          </a:prstGeom>
          <a:noFill/>
          <a:ln/>
        </p:spPr>
        <p:txBody>
          <a:bodyPr wrap="square" lIns="0" tIns="0" rIns="0" bIns="0" rtlCol="0" anchor="ctr"/>
          <a:lstStyle/>
          <a:p>
            <a:pPr marL="0" indent="0">
              <a:buNone/>
            </a:pPr>
            <a:r>
              <a:rPr lang="en-US" sz="4800" b="1" dirty="0">
                <a:solidFill>
                  <a:srgbClr val="FF8A5B"/>
                </a:solidFill>
                <a:latin typeface="Calibri" pitchFamily="34" charset="0"/>
                <a:ea typeface="Calibri" pitchFamily="34" charset="-122"/>
                <a:cs typeface="Calibri" pitchFamily="34" charset="-120"/>
              </a:rPr>
              <a:t>1.000</a:t>
            </a:r>
            <a:endParaRPr lang="en-US" sz="4800" dirty="0"/>
          </a:p>
        </p:txBody>
      </p:sp>
      <p:sp>
        <p:nvSpPr>
          <p:cNvPr id="8" name="a1_03"/>
          <p:cNvSpPr txBox="1"/>
          <p:nvPr/>
        </p:nvSpPr>
        <p:spPr>
          <a:xfrm>
            <a:off x="859536" y="3310128"/>
            <a:ext cx="4937760" cy="914400"/>
          </a:xfrm>
          <a:prstGeom prst="rect">
            <a:avLst/>
          </a:prstGeom>
          <a:noFill/>
          <a:ln/>
        </p:spPr>
        <p:txBody>
          <a:bodyPr wrap="square" lIns="0" tIns="0" rIns="0" bIns="0" rtlCol="0" anchor="ctr"/>
          <a:lstStyle/>
          <a:p>
            <a:pPr marL="0" indent="0">
              <a:lnSpc>
                <a:spcPct val="115000"/>
              </a:lnSpc>
              <a:buNone/>
            </a:pPr>
            <a:r>
              <a:rPr lang="en-US" sz="1500" dirty="0">
                <a:solidFill>
                  <a:srgbClr val="EAF2F8"/>
                </a:solidFill>
                <a:latin typeface="Calibri" pitchFamily="34" charset="0"/>
                <a:ea typeface="Calibri" pitchFamily="34" charset="-122"/>
                <a:cs typeface="Calibri" pitchFamily="34" charset="-120"/>
              </a:rPr>
              <a:t>The attack rebuilds the pilot's eye and heart traces almost exactly as they were.</a:t>
            </a:r>
            <a:endParaRPr lang="en-US" sz="1500" dirty="0"/>
          </a:p>
        </p:txBody>
      </p:sp>
      <p:sp>
        <p:nvSpPr>
          <p:cNvPr id="9" name="a2_01b"/>
          <p:cNvSpPr/>
          <p:nvPr/>
        </p:nvSpPr>
        <p:spPr>
          <a:xfrm>
            <a:off x="6510528" y="1572768"/>
            <a:ext cx="5486400" cy="2880360"/>
          </a:xfrm>
          <a:prstGeom prst="roundRect">
            <a:avLst>
              <a:gd name="adj" fmla="val 2540"/>
            </a:avLst>
          </a:prstGeom>
          <a:solidFill>
            <a:srgbClr val="10322A"/>
          </a:solidFill>
          <a:ln w="12700">
            <a:solidFill>
              <a:srgbClr val="27425F"/>
            </a:solidFill>
            <a:prstDash val="solid"/>
          </a:ln>
        </p:spPr>
        <p:txBody>
          <a:bodyPr/>
          <a:lstStyle/>
          <a:p>
            <a:endParaRPr lang="en-CA"/>
          </a:p>
        </p:txBody>
      </p:sp>
      <p:sp>
        <p:nvSpPr>
          <p:cNvPr id="10" name="a2_01e"/>
          <p:cNvSpPr txBox="1"/>
          <p:nvPr/>
        </p:nvSpPr>
        <p:spPr>
          <a:xfrm>
            <a:off x="6803136" y="1783080"/>
            <a:ext cx="4937760" cy="365760"/>
          </a:xfrm>
          <a:prstGeom prst="rect">
            <a:avLst/>
          </a:prstGeom>
          <a:noFill/>
          <a:ln/>
        </p:spPr>
        <p:txBody>
          <a:bodyPr wrap="square" lIns="0" tIns="0" rIns="0" bIns="0" rtlCol="0" anchor="ctr"/>
          <a:lstStyle/>
          <a:p>
            <a:pPr marL="0" indent="0">
              <a:buNone/>
            </a:pPr>
            <a:r>
              <a:rPr lang="en-US" sz="1900" b="1" dirty="0">
                <a:solidFill>
                  <a:srgbClr val="5BE39A"/>
                </a:solidFill>
                <a:latin typeface="Calibri" pitchFamily="34" charset="0"/>
                <a:ea typeface="Calibri" pitchFamily="34" charset="-122"/>
                <a:cs typeface="Calibri" pitchFamily="34" charset="-120"/>
              </a:rPr>
              <a:t>Protection on, budget of 3</a:t>
            </a:r>
            <a:endParaRPr lang="en-US" sz="1900" dirty="0"/>
          </a:p>
        </p:txBody>
      </p:sp>
      <p:sp>
        <p:nvSpPr>
          <p:cNvPr id="11" name="a2_02"/>
          <p:cNvSpPr txBox="1"/>
          <p:nvPr/>
        </p:nvSpPr>
        <p:spPr>
          <a:xfrm>
            <a:off x="6803136" y="2286000"/>
            <a:ext cx="4937760" cy="868680"/>
          </a:xfrm>
          <a:prstGeom prst="rect">
            <a:avLst/>
          </a:prstGeom>
          <a:noFill/>
          <a:ln/>
        </p:spPr>
        <p:txBody>
          <a:bodyPr wrap="square" lIns="0" tIns="0" rIns="0" bIns="0" rtlCol="0" anchor="ctr"/>
          <a:lstStyle/>
          <a:p>
            <a:pPr marL="0" indent="0">
              <a:buNone/>
            </a:pPr>
            <a:r>
              <a:rPr lang="en-US" sz="4800" b="1" dirty="0">
                <a:solidFill>
                  <a:srgbClr val="5BE39A"/>
                </a:solidFill>
                <a:latin typeface="Calibri" pitchFamily="34" charset="0"/>
                <a:ea typeface="Calibri" pitchFamily="34" charset="-122"/>
                <a:cs typeface="Calibri" pitchFamily="34" charset="-120"/>
              </a:rPr>
              <a:t>0.338</a:t>
            </a:r>
            <a:endParaRPr lang="en-US" sz="4800" dirty="0"/>
          </a:p>
        </p:txBody>
      </p:sp>
      <p:sp>
        <p:nvSpPr>
          <p:cNvPr id="12" name="a2_03"/>
          <p:cNvSpPr txBox="1"/>
          <p:nvPr/>
        </p:nvSpPr>
        <p:spPr>
          <a:xfrm>
            <a:off x="6803136" y="3310128"/>
            <a:ext cx="4937760" cy="914400"/>
          </a:xfrm>
          <a:prstGeom prst="rect">
            <a:avLst/>
          </a:prstGeom>
          <a:noFill/>
          <a:ln/>
        </p:spPr>
        <p:txBody>
          <a:bodyPr wrap="square" lIns="0" tIns="0" rIns="0" bIns="0" rtlCol="0" anchor="ctr"/>
          <a:lstStyle/>
          <a:p>
            <a:pPr marL="0" indent="0">
              <a:lnSpc>
                <a:spcPct val="115000"/>
              </a:lnSpc>
              <a:buNone/>
            </a:pPr>
            <a:r>
              <a:rPr lang="en-US" sz="1500" dirty="0">
                <a:solidFill>
                  <a:srgbClr val="EAF2F8"/>
                </a:solidFill>
                <a:latin typeface="Calibri" pitchFamily="34" charset="0"/>
                <a:ea typeface="Calibri" pitchFamily="34" charset="-122"/>
                <a:cs typeface="Calibri" pitchFamily="34" charset="-120"/>
              </a:rPr>
              <a:t>The attack returns noise. The shared model still works.</a:t>
            </a:r>
            <a:endParaRPr lang="en-US" sz="1500" dirty="0"/>
          </a:p>
        </p:txBody>
      </p:sp>
      <p:sp>
        <p:nvSpPr>
          <p:cNvPr id="13" name="a2_04"/>
          <p:cNvSpPr txBox="1"/>
          <p:nvPr/>
        </p:nvSpPr>
        <p:spPr>
          <a:xfrm>
            <a:off x="566928" y="4572000"/>
            <a:ext cx="11057839" cy="320040"/>
          </a:xfrm>
          <a:prstGeom prst="rect">
            <a:avLst/>
          </a:prstGeom>
          <a:noFill/>
          <a:ln/>
        </p:spPr>
        <p:txBody>
          <a:bodyPr wrap="square" lIns="0" tIns="0" rIns="0" bIns="0" rtlCol="0" anchor="ctr"/>
          <a:lstStyle/>
          <a:p>
            <a:pPr marL="0" indent="0" algn="ctr">
              <a:buNone/>
            </a:pPr>
            <a:r>
              <a:rPr lang="en-US" sz="1400" i="1" dirty="0">
                <a:solidFill>
                  <a:srgbClr val="9BB0C4"/>
                </a:solidFill>
                <a:latin typeface="Calibri" pitchFamily="34" charset="0"/>
                <a:ea typeface="Calibri" pitchFamily="34" charset="-122"/>
                <a:cs typeface="Calibri" pitchFamily="34" charset="-120"/>
              </a:rPr>
              <a:t>attack success: how closely the rebuilt signal matches the real one</a:t>
            </a:r>
            <a:endParaRPr lang="en-US" sz="1400" dirty="0"/>
          </a:p>
        </p:txBody>
      </p:sp>
      <p:sp>
        <p:nvSpPr>
          <p:cNvPr id="14" name="a3_01b"/>
          <p:cNvSpPr/>
          <p:nvPr/>
        </p:nvSpPr>
        <p:spPr>
          <a:xfrm>
            <a:off x="566928" y="4983480"/>
            <a:ext cx="11057839" cy="1325880"/>
          </a:xfrm>
          <a:prstGeom prst="roundRect">
            <a:avLst>
              <a:gd name="adj" fmla="val 5517"/>
            </a:avLst>
          </a:prstGeom>
          <a:solidFill>
            <a:srgbClr val="152A45"/>
          </a:solidFill>
          <a:ln w="12700">
            <a:solidFill>
              <a:srgbClr val="27425F"/>
            </a:solidFill>
            <a:prstDash val="solid"/>
          </a:ln>
        </p:spPr>
        <p:txBody>
          <a:bodyPr/>
          <a:lstStyle/>
          <a:p>
            <a:endParaRPr lang="en-CA"/>
          </a:p>
        </p:txBody>
      </p:sp>
      <p:sp>
        <p:nvSpPr>
          <p:cNvPr id="15" name="a3_01e"/>
          <p:cNvSpPr txBox="1"/>
          <p:nvPr/>
        </p:nvSpPr>
        <p:spPr>
          <a:xfrm>
            <a:off x="841248" y="5166360"/>
            <a:ext cx="10509199" cy="457200"/>
          </a:xfrm>
          <a:prstGeom prst="rect">
            <a:avLst/>
          </a:prstGeom>
          <a:noFill/>
          <a:ln/>
        </p:spPr>
        <p:txBody>
          <a:bodyPr wrap="square" lIns="0" tIns="0" rIns="0" bIns="0" rtlCol="0" anchor="ctr"/>
          <a:lstStyle/>
          <a:p>
            <a:pPr marL="0" indent="0">
              <a:buNone/>
            </a:pPr>
            <a:r>
              <a:rPr lang="en-US" sz="1900" b="1" dirty="0">
                <a:solidFill>
                  <a:srgbClr val="4ED8E6"/>
                </a:solidFill>
                <a:latin typeface="Calibri" pitchFamily="34" charset="0"/>
                <a:ea typeface="Calibri" pitchFamily="34" charset="-122"/>
                <a:cs typeface="Calibri" pitchFamily="34" charset="-120"/>
              </a:rPr>
              <a:t>The cost of that protection: about two points of accuracy</a:t>
            </a:r>
            <a:endParaRPr lang="en-US" sz="1900" dirty="0"/>
          </a:p>
        </p:txBody>
      </p:sp>
      <p:sp>
        <p:nvSpPr>
          <p:cNvPr id="16" name="a3_01f"/>
          <p:cNvSpPr txBox="1"/>
          <p:nvPr/>
        </p:nvSpPr>
        <p:spPr>
          <a:xfrm>
            <a:off x="841248" y="5769864"/>
            <a:ext cx="10509199" cy="411480"/>
          </a:xfrm>
          <a:prstGeom prst="rect">
            <a:avLst/>
          </a:prstGeom>
          <a:noFill/>
          <a:ln/>
        </p:spPr>
        <p:txBody>
          <a:bodyPr wrap="square" lIns="0" tIns="0" rIns="0" bIns="0" rtlCol="0" anchor="ctr"/>
          <a:lstStyle/>
          <a:p>
            <a:pPr marL="0" indent="0">
              <a:lnSpc>
                <a:spcPct val="115000"/>
              </a:lnSpc>
              <a:buNone/>
            </a:pPr>
            <a:r>
              <a:rPr lang="en-US" sz="1500" dirty="0">
                <a:solidFill>
                  <a:srgbClr val="EAF2F8"/>
                </a:solidFill>
                <a:latin typeface="Calibri" pitchFamily="34" charset="0"/>
                <a:ea typeface="Calibri" pitchFamily="34" charset="-122"/>
                <a:cs typeface="Calibri" pitchFamily="34" charset="-120"/>
              </a:rPr>
              <a:t>0.861 without it, 0.840 with it. Open source code reproduces both numbers in four seconds.</a:t>
            </a:r>
            <a:endParaRPr lang="en-US" sz="1500" dirty="0"/>
          </a:p>
        </p:txBody>
      </p:sp>
    </p:spTree>
  </p:cSld>
  <p:clrMapOvr>
    <a:masterClrMapping/>
  </p:clrMapOvr>
  <p:transition spd="slow" advClick="0" advTm="25000">
    <p:fade/>
  </p:transition>
  <p:timing>
    <p:tnLst>
      <p:par>
        <p:cTn id="1" dur="indefinite" restart="never" nodeType="tmRoot">
          <p:childTnLst>
            <p:seq concurrent="1" nextAc="seek">
              <p:cTn id="2" dur="indefinite" nodeType="mainSeq">
                <p:childTnLst>
                  <p:par>
                    <p:cTn id="3" fill="hold">
                      <p:stCondLst>
                        <p:cond delay="1200"/>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nodeType="withEffect">
                                  <p:stCondLst>
                                    <p:cond delay="15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nodeType="withEffect">
                                  <p:stCondLst>
                                    <p:cond delay="30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7483"/>
                      </p:stCondLst>
                      <p:childTnLst>
                        <p:par>
                          <p:cTn id="18" fill="hold">
                            <p:stCondLst>
                              <p:cond delay="0"/>
                            </p:stCondLst>
                            <p:childTnLst>
                              <p:par>
                                <p:cTn id="19" presetID="10" presetClass="entr" presetSubtype="0" fill="hold" nodeType="after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nodeType="withEffect">
                                  <p:stCondLst>
                                    <p:cond delay="15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nodeType="withEffect">
                                  <p:stCondLst>
                                    <p:cond delay="30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nodeType="withEffect">
                                  <p:stCondLst>
                                    <p:cond delay="45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childTnLst>
                          </p:cTn>
                        </p:par>
                      </p:childTnLst>
                    </p:cTn>
                  </p:par>
                  <p:par>
                    <p:cTn id="34" fill="hold">
                      <p:stCondLst>
                        <p:cond delay="7483"/>
                      </p:stCondLst>
                      <p:childTnLst>
                        <p:par>
                          <p:cTn id="35" fill="hold">
                            <p:stCondLst>
                              <p:cond delay="0"/>
                            </p:stCondLst>
                            <p:childTnLst>
                              <p:par>
                                <p:cTn id="36" presetID="10" presetClass="entr" presetSubtype="0" fill="hold" nodeType="after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628"/>
        </a:solidFill>
        <a:effectLst/>
      </p:bgPr>
    </p:bg>
    <p:spTree>
      <p:nvGrpSpPr>
        <p:cNvPr id="1" name=""/>
        <p:cNvGrpSpPr/>
        <p:nvPr/>
      </p:nvGrpSpPr>
      <p:grpSpPr>
        <a:xfrm>
          <a:off x="0" y="0"/>
          <a:ext cx="0" cy="0"/>
          <a:chOff x="0" y="0"/>
          <a:chExt cx="0" cy="0"/>
        </a:xfrm>
      </p:grpSpPr>
      <p:sp>
        <p:nvSpPr>
          <p:cNvPr id="3" name="Text 0"/>
          <p:cNvSpPr txBox="1"/>
          <p:nvPr/>
        </p:nvSpPr>
        <p:spPr>
          <a:xfrm>
            <a:off x="566928" y="384048"/>
            <a:ext cx="11057839" cy="274320"/>
          </a:xfrm>
          <a:prstGeom prst="rect">
            <a:avLst/>
          </a:prstGeom>
          <a:noFill/>
          <a:ln/>
        </p:spPr>
        <p:txBody>
          <a:bodyPr wrap="square" lIns="0" tIns="0" rIns="0" bIns="0" rtlCol="0" anchor="ctr"/>
          <a:lstStyle/>
          <a:p>
            <a:pPr marL="0" indent="0">
              <a:buNone/>
            </a:pPr>
            <a:r>
              <a:rPr lang="en-US" sz="1400" b="1" kern="0" spc="300" dirty="0">
                <a:solidFill>
                  <a:srgbClr val="4ED8E6"/>
                </a:solidFill>
                <a:latin typeface="Calibri" pitchFamily="34" charset="0"/>
                <a:ea typeface="Calibri" pitchFamily="34" charset="-122"/>
                <a:cs typeface="Calibri" pitchFamily="34" charset="-120"/>
              </a:rPr>
              <a:t>AT AAAI 2027</a:t>
            </a:r>
            <a:endParaRPr lang="en-US" sz="1400" dirty="0"/>
          </a:p>
        </p:txBody>
      </p:sp>
      <p:sp>
        <p:nvSpPr>
          <p:cNvPr id="4" name="Text 1"/>
          <p:cNvSpPr txBox="1"/>
          <p:nvPr/>
        </p:nvSpPr>
        <p:spPr>
          <a:xfrm>
            <a:off x="566928" y="676656"/>
            <a:ext cx="11057839" cy="658368"/>
          </a:xfrm>
          <a:prstGeom prst="rect">
            <a:avLst/>
          </a:prstGeom>
          <a:noFill/>
          <a:ln/>
        </p:spPr>
        <p:txBody>
          <a:bodyPr wrap="square" lIns="0" tIns="0" rIns="0" bIns="0" rtlCol="0" anchor="ctr"/>
          <a:lstStyle/>
          <a:p>
            <a:pPr marL="0" indent="0">
              <a:buNone/>
            </a:pPr>
            <a:r>
              <a:rPr lang="en-US" sz="3600" b="1" dirty="0">
                <a:solidFill>
                  <a:srgbClr val="EAF2F8"/>
                </a:solidFill>
                <a:latin typeface="Calibri" pitchFamily="34" charset="0"/>
                <a:ea typeface="Calibri" pitchFamily="34" charset="-122"/>
                <a:cs typeface="Calibri" pitchFamily="34" charset="-120"/>
              </a:rPr>
              <a:t>Come and fly it</a:t>
            </a:r>
            <a:endParaRPr lang="en-US" sz="3600" dirty="0"/>
          </a:p>
        </p:txBody>
      </p:sp>
      <p:sp>
        <p:nvSpPr>
          <p:cNvPr id="5" name="a1_01b"/>
          <p:cNvSpPr/>
          <p:nvPr/>
        </p:nvSpPr>
        <p:spPr>
          <a:xfrm>
            <a:off x="566928" y="1691640"/>
            <a:ext cx="5486400" cy="1828800"/>
          </a:xfrm>
          <a:prstGeom prst="roundRect">
            <a:avLst>
              <a:gd name="adj" fmla="val 4000"/>
            </a:avLst>
          </a:prstGeom>
          <a:solidFill>
            <a:srgbClr val="152A45"/>
          </a:solidFill>
          <a:ln w="12700">
            <a:solidFill>
              <a:srgbClr val="27425F"/>
            </a:solidFill>
            <a:prstDash val="solid"/>
          </a:ln>
        </p:spPr>
        <p:txBody>
          <a:bodyPr/>
          <a:lstStyle/>
          <a:p>
            <a:endParaRPr lang="en-CA"/>
          </a:p>
        </p:txBody>
      </p:sp>
      <p:sp>
        <p:nvSpPr>
          <p:cNvPr id="6" name="a1_01c"/>
          <p:cNvSpPr/>
          <p:nvPr/>
        </p:nvSpPr>
        <p:spPr>
          <a:xfrm>
            <a:off x="804672" y="1911096"/>
            <a:ext cx="402336" cy="402336"/>
          </a:xfrm>
          <a:prstGeom prst="ellipse">
            <a:avLst/>
          </a:prstGeom>
          <a:solidFill>
            <a:srgbClr val="4ED8E6"/>
          </a:solidFill>
          <a:ln/>
        </p:spPr>
        <p:txBody>
          <a:bodyPr/>
          <a:lstStyle/>
          <a:p>
            <a:endParaRPr lang="en-CA"/>
          </a:p>
        </p:txBody>
      </p:sp>
      <p:sp>
        <p:nvSpPr>
          <p:cNvPr id="7" name="a1_01d"/>
          <p:cNvSpPr txBox="1"/>
          <p:nvPr/>
        </p:nvSpPr>
        <p:spPr>
          <a:xfrm>
            <a:off x="804672" y="1911096"/>
            <a:ext cx="402336" cy="402336"/>
          </a:xfrm>
          <a:prstGeom prst="rect">
            <a:avLst/>
          </a:prstGeom>
          <a:noFill/>
          <a:ln/>
        </p:spPr>
        <p:txBody>
          <a:bodyPr wrap="square" lIns="0" tIns="0" rIns="0" bIns="0" rtlCol="0" anchor="ctr"/>
          <a:lstStyle/>
          <a:p>
            <a:pPr marL="0" indent="0" algn="ctr">
              <a:buNone/>
            </a:pPr>
            <a:r>
              <a:rPr lang="en-US" sz="1700" b="1" dirty="0">
                <a:solidFill>
                  <a:srgbClr val="0A1628"/>
                </a:solidFill>
                <a:latin typeface="Calibri" pitchFamily="34" charset="0"/>
                <a:ea typeface="Calibri" pitchFamily="34" charset="-122"/>
                <a:cs typeface="Calibri" pitchFamily="34" charset="-120"/>
              </a:rPr>
              <a:t>1</a:t>
            </a:r>
            <a:endParaRPr lang="en-US" sz="1700" dirty="0"/>
          </a:p>
        </p:txBody>
      </p:sp>
      <p:sp>
        <p:nvSpPr>
          <p:cNvPr id="8" name="a1_01e"/>
          <p:cNvSpPr txBox="1"/>
          <p:nvPr/>
        </p:nvSpPr>
        <p:spPr>
          <a:xfrm>
            <a:off x="1353312" y="1874520"/>
            <a:ext cx="4425696" cy="457200"/>
          </a:xfrm>
          <a:prstGeom prst="rect">
            <a:avLst/>
          </a:prstGeom>
          <a:noFill/>
          <a:ln/>
        </p:spPr>
        <p:txBody>
          <a:bodyPr wrap="square" lIns="0" tIns="0" rIns="0" bIns="0" rtlCol="0" anchor="ctr"/>
          <a:lstStyle/>
          <a:p>
            <a:pPr marL="0" indent="0">
              <a:buNone/>
            </a:pPr>
            <a:r>
              <a:rPr lang="en-US" sz="1900" b="1" dirty="0">
                <a:solidFill>
                  <a:srgbClr val="4ED8E6"/>
                </a:solidFill>
                <a:latin typeface="Calibri" pitchFamily="34" charset="0"/>
                <a:ea typeface="Calibri" pitchFamily="34" charset="-122"/>
                <a:cs typeface="Calibri" pitchFamily="34" charset="-120"/>
              </a:rPr>
              <a:t>What we need</a:t>
            </a:r>
            <a:endParaRPr lang="en-US" sz="1900" dirty="0"/>
          </a:p>
        </p:txBody>
      </p:sp>
      <p:sp>
        <p:nvSpPr>
          <p:cNvPr id="9" name="a1_01f"/>
          <p:cNvSpPr txBox="1"/>
          <p:nvPr/>
        </p:nvSpPr>
        <p:spPr>
          <a:xfrm>
            <a:off x="841248" y="2478024"/>
            <a:ext cx="4937760" cy="914400"/>
          </a:xfrm>
          <a:prstGeom prst="rect">
            <a:avLst/>
          </a:prstGeom>
          <a:noFill/>
          <a:ln/>
        </p:spPr>
        <p:txBody>
          <a:bodyPr wrap="square" lIns="0" tIns="0" rIns="0" bIns="0" rtlCol="0" anchor="ctr"/>
          <a:lstStyle/>
          <a:p>
            <a:pPr marL="0" indent="0">
              <a:lnSpc>
                <a:spcPct val="115000"/>
              </a:lnSpc>
              <a:buNone/>
            </a:pPr>
            <a:r>
              <a:rPr lang="en-US" sz="1500" dirty="0">
                <a:solidFill>
                  <a:srgbClr val="EAF2F8"/>
                </a:solidFill>
                <a:latin typeface="Calibri" pitchFamily="34" charset="0"/>
                <a:ea typeface="Calibri" pitchFamily="34" charset="-122"/>
                <a:cs typeface="Calibri" pitchFamily="34" charset="-120"/>
              </a:rPr>
              <a:t>A desk, power and a monitor. We bring the simulator, the eye tracker, the wrist band and the headset.</a:t>
            </a:r>
            <a:endParaRPr lang="en-US" sz="1500" dirty="0"/>
          </a:p>
        </p:txBody>
      </p:sp>
      <p:sp>
        <p:nvSpPr>
          <p:cNvPr id="10" name="a1_02b"/>
          <p:cNvSpPr/>
          <p:nvPr/>
        </p:nvSpPr>
        <p:spPr>
          <a:xfrm>
            <a:off x="6510528" y="1691640"/>
            <a:ext cx="5486400" cy="1828800"/>
          </a:xfrm>
          <a:prstGeom prst="roundRect">
            <a:avLst>
              <a:gd name="adj" fmla="val 4000"/>
            </a:avLst>
          </a:prstGeom>
          <a:solidFill>
            <a:srgbClr val="152A45"/>
          </a:solidFill>
          <a:ln w="12700">
            <a:solidFill>
              <a:srgbClr val="27425F"/>
            </a:solidFill>
            <a:prstDash val="solid"/>
          </a:ln>
        </p:spPr>
        <p:txBody>
          <a:bodyPr/>
          <a:lstStyle/>
          <a:p>
            <a:endParaRPr lang="en-CA"/>
          </a:p>
        </p:txBody>
      </p:sp>
      <p:sp>
        <p:nvSpPr>
          <p:cNvPr id="11" name="a1_02c"/>
          <p:cNvSpPr/>
          <p:nvPr/>
        </p:nvSpPr>
        <p:spPr>
          <a:xfrm>
            <a:off x="6748272" y="1911096"/>
            <a:ext cx="402336" cy="402336"/>
          </a:xfrm>
          <a:prstGeom prst="ellipse">
            <a:avLst/>
          </a:prstGeom>
          <a:solidFill>
            <a:srgbClr val="7FB3FF"/>
          </a:solidFill>
          <a:ln/>
        </p:spPr>
        <p:txBody>
          <a:bodyPr/>
          <a:lstStyle/>
          <a:p>
            <a:endParaRPr lang="en-CA"/>
          </a:p>
        </p:txBody>
      </p:sp>
      <p:sp>
        <p:nvSpPr>
          <p:cNvPr id="12" name="a1_02d"/>
          <p:cNvSpPr txBox="1"/>
          <p:nvPr/>
        </p:nvSpPr>
        <p:spPr>
          <a:xfrm>
            <a:off x="6748272" y="1911096"/>
            <a:ext cx="402336" cy="402336"/>
          </a:xfrm>
          <a:prstGeom prst="rect">
            <a:avLst/>
          </a:prstGeom>
          <a:noFill/>
          <a:ln/>
        </p:spPr>
        <p:txBody>
          <a:bodyPr wrap="square" lIns="0" tIns="0" rIns="0" bIns="0" rtlCol="0" anchor="ctr"/>
          <a:lstStyle/>
          <a:p>
            <a:pPr marL="0" indent="0" algn="ctr">
              <a:buNone/>
            </a:pPr>
            <a:r>
              <a:rPr lang="en-US" sz="1700" b="1" dirty="0">
                <a:solidFill>
                  <a:srgbClr val="0A1628"/>
                </a:solidFill>
                <a:latin typeface="Calibri" pitchFamily="34" charset="0"/>
                <a:ea typeface="Calibri" pitchFamily="34" charset="-122"/>
                <a:cs typeface="Calibri" pitchFamily="34" charset="-120"/>
              </a:rPr>
              <a:t>2</a:t>
            </a:r>
            <a:endParaRPr lang="en-US" sz="1700" dirty="0"/>
          </a:p>
        </p:txBody>
      </p:sp>
      <p:sp>
        <p:nvSpPr>
          <p:cNvPr id="13" name="a1_02e"/>
          <p:cNvSpPr txBox="1"/>
          <p:nvPr/>
        </p:nvSpPr>
        <p:spPr>
          <a:xfrm>
            <a:off x="7296912" y="1874520"/>
            <a:ext cx="4425696" cy="457200"/>
          </a:xfrm>
          <a:prstGeom prst="rect">
            <a:avLst/>
          </a:prstGeom>
          <a:noFill/>
          <a:ln/>
        </p:spPr>
        <p:txBody>
          <a:bodyPr wrap="square" lIns="0" tIns="0" rIns="0" bIns="0" rtlCol="0" anchor="ctr"/>
          <a:lstStyle/>
          <a:p>
            <a:pPr marL="0" indent="0">
              <a:buNone/>
            </a:pPr>
            <a:r>
              <a:rPr lang="en-US" sz="1900" b="1" dirty="0">
                <a:solidFill>
                  <a:srgbClr val="7FB3FF"/>
                </a:solidFill>
                <a:latin typeface="Calibri" pitchFamily="34" charset="0"/>
                <a:ea typeface="Calibri" pitchFamily="34" charset="-122"/>
                <a:cs typeface="Calibri" pitchFamily="34" charset="-120"/>
              </a:rPr>
              <a:t>Rather not wear sensors?</a:t>
            </a:r>
            <a:endParaRPr lang="en-US" sz="1900" dirty="0"/>
          </a:p>
        </p:txBody>
      </p:sp>
      <p:sp>
        <p:nvSpPr>
          <p:cNvPr id="14" name="a1_02f"/>
          <p:cNvSpPr txBox="1"/>
          <p:nvPr/>
        </p:nvSpPr>
        <p:spPr>
          <a:xfrm>
            <a:off x="6784848" y="2478024"/>
            <a:ext cx="4937760" cy="914400"/>
          </a:xfrm>
          <a:prstGeom prst="rect">
            <a:avLst/>
          </a:prstGeom>
          <a:noFill/>
          <a:ln/>
        </p:spPr>
        <p:txBody>
          <a:bodyPr wrap="square" lIns="0" tIns="0" rIns="0" bIns="0" rtlCol="0" anchor="ctr"/>
          <a:lstStyle/>
          <a:p>
            <a:pPr marL="0" indent="0">
              <a:lnSpc>
                <a:spcPct val="115000"/>
              </a:lnSpc>
              <a:buNone/>
            </a:pPr>
            <a:r>
              <a:rPr lang="en-US" sz="1500" dirty="0">
                <a:solidFill>
                  <a:srgbClr val="EAF2F8"/>
                </a:solidFill>
                <a:latin typeface="Calibri" pitchFamily="34" charset="0"/>
                <a:ea typeface="Calibri" pitchFamily="34" charset="-122"/>
                <a:cs typeface="Calibri" pitchFamily="34" charset="-120"/>
              </a:rPr>
              <a:t>Then run the same system from the recordings we bring with us.</a:t>
            </a:r>
            <a:endParaRPr lang="en-US" sz="1500" dirty="0"/>
          </a:p>
        </p:txBody>
      </p:sp>
      <p:sp>
        <p:nvSpPr>
          <p:cNvPr id="15" name="a2_01b"/>
          <p:cNvSpPr/>
          <p:nvPr/>
        </p:nvSpPr>
        <p:spPr>
          <a:xfrm>
            <a:off x="566928" y="3794760"/>
            <a:ext cx="11057839" cy="1691640"/>
          </a:xfrm>
          <a:prstGeom prst="roundRect">
            <a:avLst>
              <a:gd name="adj" fmla="val 4324"/>
            </a:avLst>
          </a:prstGeom>
          <a:solidFill>
            <a:srgbClr val="152A45"/>
          </a:solidFill>
          <a:ln w="12700">
            <a:solidFill>
              <a:srgbClr val="27425F"/>
            </a:solidFill>
            <a:prstDash val="solid"/>
          </a:ln>
        </p:spPr>
        <p:txBody>
          <a:bodyPr/>
          <a:lstStyle/>
          <a:p>
            <a:endParaRPr lang="en-CA"/>
          </a:p>
        </p:txBody>
      </p:sp>
      <p:sp>
        <p:nvSpPr>
          <p:cNvPr id="16" name="a2_01"/>
          <p:cNvSpPr txBox="1"/>
          <p:nvPr/>
        </p:nvSpPr>
        <p:spPr>
          <a:xfrm>
            <a:off x="886968" y="4023360"/>
            <a:ext cx="1097280" cy="365760"/>
          </a:xfrm>
          <a:prstGeom prst="rect">
            <a:avLst/>
          </a:prstGeom>
          <a:noFill/>
          <a:ln/>
        </p:spPr>
        <p:txBody>
          <a:bodyPr wrap="square" lIns="0" tIns="0" rIns="0" bIns="0" rtlCol="0" anchor="ctr"/>
          <a:lstStyle/>
          <a:p>
            <a:pPr marL="0" indent="0">
              <a:buNone/>
            </a:pPr>
            <a:r>
              <a:rPr lang="en-US" sz="1600" b="1" dirty="0">
                <a:solidFill>
                  <a:srgbClr val="4ED8E6"/>
                </a:solidFill>
                <a:latin typeface="Calibri" pitchFamily="34" charset="0"/>
                <a:ea typeface="Calibri" pitchFamily="34" charset="-122"/>
                <a:cs typeface="Calibri" pitchFamily="34" charset="-120"/>
              </a:rPr>
              <a:t>Paper</a:t>
            </a:r>
            <a:endParaRPr lang="en-US" sz="1600" dirty="0"/>
          </a:p>
        </p:txBody>
      </p:sp>
      <p:sp>
        <p:nvSpPr>
          <p:cNvPr id="17" name="a2_11"/>
          <p:cNvSpPr txBox="1"/>
          <p:nvPr/>
        </p:nvSpPr>
        <p:spPr>
          <a:xfrm>
            <a:off x="2029968" y="4023360"/>
            <a:ext cx="9418320" cy="365760"/>
          </a:xfrm>
          <a:prstGeom prst="rect">
            <a:avLst/>
          </a:prstGeom>
          <a:noFill/>
          <a:ln/>
        </p:spPr>
        <p:txBody>
          <a:bodyPr wrap="square" lIns="0" tIns="0" rIns="0" bIns="0" rtlCol="0" anchor="ctr"/>
          <a:lstStyle/>
          <a:p>
            <a:pPr marL="0" indent="0">
              <a:buNone/>
            </a:pPr>
            <a:r>
              <a:rPr lang="en-US" sz="1600" dirty="0">
                <a:solidFill>
                  <a:srgbClr val="EAF2F8"/>
                </a:solidFill>
                <a:latin typeface="Calibri" pitchFamily="34" charset="0"/>
                <a:ea typeface="Calibri" pitchFamily="34" charset="-122"/>
                <a:cs typeface="Calibri" pitchFamily="34" charset="-120"/>
              </a:rPr>
              <a:t>CogniSim: A Simulator Trainer That Reads Cognitive Load and Keeps It Private</a:t>
            </a:r>
            <a:endParaRPr lang="en-US" sz="1600" dirty="0"/>
          </a:p>
        </p:txBody>
      </p:sp>
      <p:sp>
        <p:nvSpPr>
          <p:cNvPr id="18" name="a2_02"/>
          <p:cNvSpPr txBox="1"/>
          <p:nvPr/>
        </p:nvSpPr>
        <p:spPr>
          <a:xfrm>
            <a:off x="886968" y="4480560"/>
            <a:ext cx="1097280" cy="365760"/>
          </a:xfrm>
          <a:prstGeom prst="rect">
            <a:avLst/>
          </a:prstGeom>
          <a:noFill/>
          <a:ln/>
        </p:spPr>
        <p:txBody>
          <a:bodyPr wrap="square" lIns="0" tIns="0" rIns="0" bIns="0" rtlCol="0" anchor="ctr"/>
          <a:lstStyle/>
          <a:p>
            <a:pPr marL="0" indent="0">
              <a:buNone/>
            </a:pPr>
            <a:r>
              <a:rPr lang="en-US" sz="1600" b="1" dirty="0">
                <a:solidFill>
                  <a:srgbClr val="4ED8E6"/>
                </a:solidFill>
                <a:latin typeface="Calibri" pitchFamily="34" charset="0"/>
                <a:ea typeface="Calibri" pitchFamily="34" charset="-122"/>
                <a:cs typeface="Calibri" pitchFamily="34" charset="-120"/>
              </a:rPr>
              <a:t>Code</a:t>
            </a:r>
            <a:endParaRPr lang="en-US" sz="1600" dirty="0"/>
          </a:p>
        </p:txBody>
      </p:sp>
      <p:sp>
        <p:nvSpPr>
          <p:cNvPr id="19" name="a2_12"/>
          <p:cNvSpPr txBox="1"/>
          <p:nvPr/>
        </p:nvSpPr>
        <p:spPr>
          <a:xfrm>
            <a:off x="2029968" y="4480560"/>
            <a:ext cx="9418320" cy="365760"/>
          </a:xfrm>
          <a:prstGeom prst="rect">
            <a:avLst/>
          </a:prstGeom>
          <a:noFill/>
          <a:ln/>
        </p:spPr>
        <p:txBody>
          <a:bodyPr wrap="square" lIns="0" tIns="0" rIns="0" bIns="0" rtlCol="0" anchor="ctr"/>
          <a:lstStyle/>
          <a:p>
            <a:pPr marL="0" indent="0">
              <a:buNone/>
            </a:pPr>
            <a:r>
              <a:rPr lang="en-US" sz="1600" dirty="0">
                <a:solidFill>
                  <a:srgbClr val="EAF2F8"/>
                </a:solidFill>
                <a:latin typeface="Calibri" pitchFamily="34" charset="0"/>
                <a:ea typeface="Calibri" pitchFamily="34" charset="-122"/>
                <a:cs typeface="Calibri" pitchFamily="34" charset="-120"/>
              </a:rPr>
              <a:t>github.com/example/cognisim</a:t>
            </a:r>
            <a:endParaRPr lang="en-US" sz="1600" dirty="0"/>
          </a:p>
        </p:txBody>
      </p:sp>
      <p:sp>
        <p:nvSpPr>
          <p:cNvPr id="20" name="a2_03"/>
          <p:cNvSpPr txBox="1"/>
          <p:nvPr/>
        </p:nvSpPr>
        <p:spPr>
          <a:xfrm>
            <a:off x="886968" y="4937760"/>
            <a:ext cx="1097280" cy="365760"/>
          </a:xfrm>
          <a:prstGeom prst="rect">
            <a:avLst/>
          </a:prstGeom>
          <a:noFill/>
          <a:ln/>
        </p:spPr>
        <p:txBody>
          <a:bodyPr wrap="square" lIns="0" tIns="0" rIns="0" bIns="0" rtlCol="0" anchor="ctr"/>
          <a:lstStyle/>
          <a:p>
            <a:pPr marL="0" indent="0">
              <a:buNone/>
            </a:pPr>
            <a:r>
              <a:rPr lang="en-US" sz="1600" b="1" dirty="0">
                <a:solidFill>
                  <a:srgbClr val="4ED8E6"/>
                </a:solidFill>
                <a:latin typeface="Calibri" pitchFamily="34" charset="0"/>
                <a:ea typeface="Calibri" pitchFamily="34" charset="-122"/>
                <a:cs typeface="Calibri" pitchFamily="34" charset="-120"/>
              </a:rPr>
              <a:t>Contact</a:t>
            </a:r>
            <a:endParaRPr lang="en-US" sz="1600" dirty="0"/>
          </a:p>
        </p:txBody>
      </p:sp>
      <p:sp>
        <p:nvSpPr>
          <p:cNvPr id="21" name="a2_13"/>
          <p:cNvSpPr txBox="1"/>
          <p:nvPr/>
        </p:nvSpPr>
        <p:spPr>
          <a:xfrm>
            <a:off x="2029968" y="4937760"/>
            <a:ext cx="9418320" cy="365760"/>
          </a:xfrm>
          <a:prstGeom prst="rect">
            <a:avLst/>
          </a:prstGeom>
          <a:noFill/>
          <a:ln/>
        </p:spPr>
        <p:txBody>
          <a:bodyPr wrap="square" lIns="0" tIns="0" rIns="0" bIns="0" rtlCol="0" anchor="ctr"/>
          <a:lstStyle/>
          <a:p>
            <a:pPr marL="0" indent="0">
              <a:buNone/>
            </a:pPr>
            <a:r>
              <a:rPr lang="en-US" sz="1600" dirty="0">
                <a:solidFill>
                  <a:srgbClr val="EAF2F8"/>
                </a:solidFill>
                <a:latin typeface="Calibri" pitchFamily="34" charset="0"/>
                <a:ea typeface="Calibri" pitchFamily="34" charset="-122"/>
                <a:cs typeface="Calibri" pitchFamily="34" charset="-120"/>
              </a:rPr>
              <a:t>atik.mahabub@inrs.ca  ·  shervin.vakili@inrs.ca</a:t>
            </a:r>
            <a:endParaRPr lang="en-US" sz="1600" dirty="0"/>
          </a:p>
        </p:txBody>
      </p:sp>
      <p:sp>
        <p:nvSpPr>
          <p:cNvPr id="22" name="a3_01"/>
          <p:cNvSpPr txBox="1"/>
          <p:nvPr/>
        </p:nvSpPr>
        <p:spPr>
          <a:xfrm>
            <a:off x="566928" y="6199632"/>
            <a:ext cx="11057839" cy="365760"/>
          </a:xfrm>
          <a:prstGeom prst="rect">
            <a:avLst/>
          </a:prstGeom>
          <a:noFill/>
          <a:ln/>
        </p:spPr>
        <p:txBody>
          <a:bodyPr wrap="square" lIns="0" tIns="0" rIns="0" bIns="0" rtlCol="0" anchor="ctr"/>
          <a:lstStyle/>
          <a:p>
            <a:pPr marL="0" indent="0">
              <a:buNone/>
            </a:pPr>
            <a:r>
              <a:rPr lang="en-US" sz="1400" i="1" dirty="0">
                <a:solidFill>
                  <a:srgbClr val="9BB0C4"/>
                </a:solidFill>
                <a:latin typeface="Calibri" pitchFamily="34" charset="0"/>
                <a:ea typeface="Calibri" pitchFamily="34" charset="-122"/>
                <a:cs typeface="Calibri" pitchFamily="34" charset="-120"/>
              </a:rPr>
              <a:t>Thank you.</a:t>
            </a:r>
            <a:endParaRPr lang="en-US" sz="1400" dirty="0"/>
          </a:p>
        </p:txBody>
      </p:sp>
    </p:spTree>
  </p:cSld>
  <p:clrMapOvr>
    <a:masterClrMapping/>
  </p:clrMapOvr>
  <p:transition spd="slow" advClick="0" advTm="20000">
    <p:fade/>
  </p:transition>
  <p:timing>
    <p:tnLst>
      <p:par>
        <p:cTn id="1" dur="indefinite" restart="never" nodeType="tmRoot">
          <p:childTnLst>
            <p:seq concurrent="1" nextAc="seek">
              <p:cTn id="2" dur="indefinite" nodeType="mainSeq">
                <p:childTnLst>
                  <p:par>
                    <p:cTn id="3" fill="hold">
                      <p:stCondLst>
                        <p:cond delay="1200"/>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par>
                                <p:cTn id="20" presetID="10" presetClass="entr" presetSubtype="0" fill="hold" nodeType="withEffect">
                                  <p:stCondLst>
                                    <p:cond delay="15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400"/>
                                        <p:tgtEl>
                                          <p:spTgt spid="10"/>
                                        </p:tgtEl>
                                      </p:cBhvr>
                                    </p:animEffect>
                                  </p:childTnLst>
                                </p:cTn>
                              </p:par>
                              <p:par>
                                <p:cTn id="23" presetID="10" presetClass="entr" presetSubtype="0" fill="hold" nodeType="withEffect">
                                  <p:stCondLst>
                                    <p:cond delay="15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400"/>
                                        <p:tgtEl>
                                          <p:spTgt spid="11"/>
                                        </p:tgtEl>
                                      </p:cBhvr>
                                    </p:animEffect>
                                  </p:childTnLst>
                                </p:cTn>
                              </p:par>
                              <p:par>
                                <p:cTn id="26" presetID="10" presetClass="entr" presetSubtype="0" fill="hold" nodeType="withEffect">
                                  <p:stCondLst>
                                    <p:cond delay="15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400"/>
                                        <p:tgtEl>
                                          <p:spTgt spid="12"/>
                                        </p:tgtEl>
                                      </p:cBhvr>
                                    </p:animEffect>
                                  </p:childTnLst>
                                </p:cTn>
                              </p:par>
                              <p:par>
                                <p:cTn id="29" presetID="10" presetClass="entr" presetSubtype="0" fill="hold" nodeType="withEffect">
                                  <p:stCondLst>
                                    <p:cond delay="15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400"/>
                                        <p:tgtEl>
                                          <p:spTgt spid="13"/>
                                        </p:tgtEl>
                                      </p:cBhvr>
                                    </p:animEffect>
                                  </p:childTnLst>
                                </p:cTn>
                              </p:par>
                              <p:par>
                                <p:cTn id="32" presetID="10" presetClass="entr" presetSubtype="0" fill="hold" nodeType="withEffect">
                                  <p:stCondLst>
                                    <p:cond delay="15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35" fill="hold">
                      <p:stCondLst>
                        <p:cond delay="5816"/>
                      </p:stCondLst>
                      <p:childTnLst>
                        <p:par>
                          <p:cTn id="36" fill="hold">
                            <p:stCondLst>
                              <p:cond delay="0"/>
                            </p:stCondLst>
                            <p:childTnLst>
                              <p:par>
                                <p:cTn id="37" presetID="10" presetClass="entr" presetSubtype="0" fill="hold" nodeType="after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400"/>
                                        <p:tgtEl>
                                          <p:spTgt spid="15"/>
                                        </p:tgtEl>
                                      </p:cBhvr>
                                    </p:animEffect>
                                  </p:childTnLst>
                                </p:cTn>
                              </p:par>
                              <p:par>
                                <p:cTn id="40" presetID="10" presetClass="entr" presetSubtype="0" fill="hold" nodeType="with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400"/>
                                        <p:tgtEl>
                                          <p:spTgt spid="16"/>
                                        </p:tgtEl>
                                      </p:cBhvr>
                                    </p:animEffect>
                                  </p:childTnLst>
                                </p:cTn>
                              </p:par>
                              <p:par>
                                <p:cTn id="43" presetID="10" presetClass="entr" presetSubtype="0" fill="hold" nodeType="withEffect">
                                  <p:stCondLst>
                                    <p:cond delay="15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400"/>
                                        <p:tgtEl>
                                          <p:spTgt spid="18"/>
                                        </p:tgtEl>
                                      </p:cBhvr>
                                    </p:animEffect>
                                  </p:childTnLst>
                                </p:cTn>
                              </p:par>
                              <p:par>
                                <p:cTn id="46" presetID="10" presetClass="entr" presetSubtype="0" fill="hold" nodeType="withEffect">
                                  <p:stCondLst>
                                    <p:cond delay="300"/>
                                  </p:stCondLst>
                                  <p:childTnLst>
                                    <p:set>
                                      <p:cBhvr>
                                        <p:cTn id="47" dur="1" fill="hold">
                                          <p:stCondLst>
                                            <p:cond delay="0"/>
                                          </p:stCondLst>
                                        </p:cTn>
                                        <p:tgtEl>
                                          <p:spTgt spid="20"/>
                                        </p:tgtEl>
                                        <p:attrNameLst>
                                          <p:attrName>style.visibility</p:attrName>
                                        </p:attrNameLst>
                                      </p:cBhvr>
                                      <p:to>
                                        <p:strVal val="visible"/>
                                      </p:to>
                                    </p:set>
                                    <p:animEffect transition="in" filter="fade">
                                      <p:cBhvr>
                                        <p:cTn id="48" dur="400"/>
                                        <p:tgtEl>
                                          <p:spTgt spid="20"/>
                                        </p:tgtEl>
                                      </p:cBhvr>
                                    </p:animEffect>
                                  </p:childTnLst>
                                </p:cTn>
                              </p:par>
                              <p:par>
                                <p:cTn id="49" presetID="10" presetClass="entr" presetSubtype="0" fill="hold" nodeType="withEffect">
                                  <p:stCondLst>
                                    <p:cond delay="450"/>
                                  </p:stCondLst>
                                  <p:childTnLst>
                                    <p:set>
                                      <p:cBhvr>
                                        <p:cTn id="50" dur="1" fill="hold">
                                          <p:stCondLst>
                                            <p:cond delay="0"/>
                                          </p:stCondLst>
                                        </p:cTn>
                                        <p:tgtEl>
                                          <p:spTgt spid="17"/>
                                        </p:tgtEl>
                                        <p:attrNameLst>
                                          <p:attrName>style.visibility</p:attrName>
                                        </p:attrNameLst>
                                      </p:cBhvr>
                                      <p:to>
                                        <p:strVal val="visible"/>
                                      </p:to>
                                    </p:set>
                                    <p:animEffect transition="in" filter="fade">
                                      <p:cBhvr>
                                        <p:cTn id="51" dur="400"/>
                                        <p:tgtEl>
                                          <p:spTgt spid="17"/>
                                        </p:tgtEl>
                                      </p:cBhvr>
                                    </p:animEffect>
                                  </p:childTnLst>
                                </p:cTn>
                              </p:par>
                              <p:par>
                                <p:cTn id="52" presetID="10" presetClass="entr" presetSubtype="0" fill="hold" nodeType="withEffect">
                                  <p:stCondLst>
                                    <p:cond delay="60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400"/>
                                        <p:tgtEl>
                                          <p:spTgt spid="19"/>
                                        </p:tgtEl>
                                      </p:cBhvr>
                                    </p:animEffect>
                                  </p:childTnLst>
                                </p:cTn>
                              </p:par>
                              <p:par>
                                <p:cTn id="55" presetID="10" presetClass="entr" presetSubtype="0" fill="hold" nodeType="withEffect">
                                  <p:stCondLst>
                                    <p:cond delay="750"/>
                                  </p:stCondLst>
                                  <p:childTnLst>
                                    <p:set>
                                      <p:cBhvr>
                                        <p:cTn id="56" dur="1" fill="hold">
                                          <p:stCondLst>
                                            <p:cond delay="0"/>
                                          </p:stCondLst>
                                        </p:cTn>
                                        <p:tgtEl>
                                          <p:spTgt spid="21"/>
                                        </p:tgtEl>
                                        <p:attrNameLst>
                                          <p:attrName>style.visibility</p:attrName>
                                        </p:attrNameLst>
                                      </p:cBhvr>
                                      <p:to>
                                        <p:strVal val="visible"/>
                                      </p:to>
                                    </p:set>
                                    <p:animEffect transition="in" filter="fade">
                                      <p:cBhvr>
                                        <p:cTn id="57" dur="400"/>
                                        <p:tgtEl>
                                          <p:spTgt spid="21"/>
                                        </p:tgtEl>
                                      </p:cBhvr>
                                    </p:animEffect>
                                  </p:childTnLst>
                                </p:cTn>
                              </p:par>
                            </p:childTnLst>
                          </p:cTn>
                        </p:par>
                      </p:childTnLst>
                    </p:cTn>
                  </p:par>
                  <p:par>
                    <p:cTn id="58" fill="hold">
                      <p:stCondLst>
                        <p:cond delay="5816"/>
                      </p:stCondLst>
                      <p:childTnLst>
                        <p:par>
                          <p:cTn id="59" fill="hold">
                            <p:stCondLst>
                              <p:cond delay="0"/>
                            </p:stCondLst>
                            <p:childTnLst>
                              <p:par>
                                <p:cTn id="60" presetID="10" presetClass="entr" presetSubtype="0" fill="hold" nodeType="afterEffect">
                                  <p:stCondLst>
                                    <p:cond delay="0"/>
                                  </p:stCondLst>
                                  <p:childTnLst>
                                    <p:set>
                                      <p:cBhvr>
                                        <p:cTn id="61" dur="1" fill="hold">
                                          <p:stCondLst>
                                            <p:cond delay="0"/>
                                          </p:stCondLst>
                                        </p:cTn>
                                        <p:tgtEl>
                                          <p:spTgt spid="22"/>
                                        </p:tgtEl>
                                        <p:attrNameLst>
                                          <p:attrName>style.visibility</p:attrName>
                                        </p:attrNameLst>
                                      </p:cBhvr>
                                      <p:to>
                                        <p:strVal val="visible"/>
                                      </p:to>
                                    </p:set>
                                    <p:animEffect transition="in" filter="fade">
                                      <p:cBhvr>
                                        <p:cTn id="62"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2225</Words>
  <Application>Microsoft Office PowerPoint</Application>
  <PresentationFormat>Widescreen</PresentationFormat>
  <Paragraphs>176</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CogniSim</dc:title>
  <dc:subject>PptxGenJS Presentation</dc:subject>
  <dc:creator>Atik Mahabub, Shervin Vakili</dc:creator>
  <cp:lastModifiedBy>Mahabub, Atik</cp:lastModifiedBy>
  <cp:revision>2</cp:revision>
  <dcterms:created xsi:type="dcterms:W3CDTF">2026-09-18T15:44:35Z</dcterms:created>
  <dcterms:modified xsi:type="dcterms:W3CDTF">2026-09-18T15:50:47Z</dcterms:modified>
</cp:coreProperties>
</file>